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56" r:id="rId2"/>
    <p:sldId id="271" r:id="rId3"/>
    <p:sldId id="273" r:id="rId4"/>
    <p:sldId id="272" r:id="rId5"/>
    <p:sldId id="274" r:id="rId6"/>
    <p:sldId id="275" r:id="rId7"/>
    <p:sldId id="276" r:id="rId8"/>
    <p:sldId id="278" r:id="rId9"/>
    <p:sldId id="298" r:id="rId10"/>
    <p:sldId id="320" r:id="rId11"/>
    <p:sldId id="313" r:id="rId12"/>
    <p:sldId id="322" r:id="rId13"/>
    <p:sldId id="323" r:id="rId14"/>
    <p:sldId id="324" r:id="rId15"/>
    <p:sldId id="280" r:id="rId16"/>
    <p:sldId id="316" r:id="rId17"/>
    <p:sldId id="317" r:id="rId18"/>
    <p:sldId id="318" r:id="rId19"/>
    <p:sldId id="319" r:id="rId20"/>
    <p:sldId id="331" r:id="rId21"/>
    <p:sldId id="332" r:id="rId22"/>
    <p:sldId id="333" r:id="rId23"/>
    <p:sldId id="281" r:id="rId24"/>
    <p:sldId id="282" r:id="rId25"/>
    <p:sldId id="283" r:id="rId26"/>
    <p:sldId id="284" r:id="rId27"/>
    <p:sldId id="285" r:id="rId28"/>
    <p:sldId id="286" r:id="rId29"/>
    <p:sldId id="292" r:id="rId30"/>
    <p:sldId id="293" r:id="rId31"/>
    <p:sldId id="299" r:id="rId32"/>
    <p:sldId id="311" r:id="rId33"/>
    <p:sldId id="287" r:id="rId34"/>
    <p:sldId id="279" r:id="rId35"/>
    <p:sldId id="288" r:id="rId36"/>
    <p:sldId id="327" r:id="rId37"/>
    <p:sldId id="328" r:id="rId38"/>
    <p:sldId id="329" r:id="rId39"/>
    <p:sldId id="310" r:id="rId40"/>
    <p:sldId id="334" r:id="rId41"/>
    <p:sldId id="335" r:id="rId42"/>
    <p:sldId id="289" r:id="rId43"/>
    <p:sldId id="306" r:id="rId44"/>
    <p:sldId id="307" r:id="rId45"/>
    <p:sldId id="308" r:id="rId4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1pPr>
    <a:lvl2pPr marL="0" marR="0" indent="4572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2pPr>
    <a:lvl3pPr marL="0" marR="0" indent="9144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3pPr>
    <a:lvl4pPr marL="0" marR="0" indent="13716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4pPr>
    <a:lvl5pPr marL="0" marR="0" indent="18288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5pPr>
    <a:lvl6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6pPr>
    <a:lvl7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7pPr>
    <a:lvl8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8pPr>
    <a:lvl9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9pPr>
  </p:defaultTextStyle>
  <p:extLst>
    <p:ext uri="{EFAFB233-063F-42B5-8137-9DF3F51BA10A}">
      <p15:sldGuideLst xmlns:p15="http://schemas.microsoft.com/office/powerpoint/2012/main">
        <p15:guide id="1" orient="horz" pos="374" userDrawn="1">
          <p15:clr>
            <a:srgbClr val="A4A3A4"/>
          </p15:clr>
        </p15:guide>
        <p15:guide id="2" pos="513" userDrawn="1">
          <p15:clr>
            <a:srgbClr val="A4A3A4"/>
          </p15:clr>
        </p15:guide>
        <p15:guide id="3" orient="horz" pos="1077" userDrawn="1">
          <p15:clr>
            <a:srgbClr val="A4A3A4"/>
          </p15:clr>
        </p15:guide>
        <p15:guide id="4" orient="horz" pos="7699" userDrawn="1">
          <p15:clr>
            <a:srgbClr val="A4A3A4"/>
          </p15:clr>
        </p15:guide>
        <p15:guide id="5" pos="7499" userDrawn="1">
          <p15:clr>
            <a:srgbClr val="A4A3A4"/>
          </p15:clr>
        </p15:guide>
        <p15:guide id="6" pos="7793" userDrawn="1">
          <p15:clr>
            <a:srgbClr val="A4A3A4"/>
          </p15:clr>
        </p15:guide>
        <p15:guide id="7" pos="1480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Ref idx="min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D4D4D4"/>
          </a:solidFill>
        </a:fill>
      </a:tcStyle>
    </a:wholeTbl>
    <a:band2H>
      <a:tcTxStyle/>
      <a:tcStyle>
        <a:tcBdr/>
        <a:fill>
          <a:solidFill>
            <a:srgbClr val="EBEBEB"/>
          </a:solidFill>
        </a:fill>
      </a:tcStyle>
    </a:band2H>
    <a:firstCol>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firstCol>
    <a:lastRow>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lastRow>
    <a:firstRow>
      <a:tcTxStyle b="off"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firstRow>
  </a:tblStyle>
  <a:tblStyle styleId="{C7B018BB-80A7-4F77-B60F-C8B233D01FF8}" styleName="">
    <a:tblBg/>
    <a:wholeTbl>
      <a:tcTxStyle b="on" i="on">
        <a:fontRef idx="min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wholeTbl>
    <a:band2H>
      <a:tcTxStyle/>
      <a:tcStyle>
        <a:tcBdr/>
        <a:fill>
          <a:solidFill>
            <a:schemeClr val="accent3">
              <a:lumOff val="44000"/>
            </a:schemeClr>
          </a:solidFill>
        </a:fill>
      </a:tcStyle>
    </a:band2H>
    <a:firstCol>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Col>
    <a:lastRow>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lastRow>
    <a:firstRow>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Row>
  </a:tblStyle>
  <a:tblStyle styleId="{EEE7283C-3CF3-47DC-8721-378D4A62B228}" styleName="">
    <a:tblBg/>
    <a:wholeTbl>
      <a:tcTxStyle b="on" i="on">
        <a:fontRef idx="min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CAD2D8"/>
          </a:solidFill>
        </a:fill>
      </a:tcStyle>
    </a:wholeTbl>
    <a:band2H>
      <a:tcTxStyle/>
      <a:tcStyle>
        <a:tcBdr/>
        <a:fill>
          <a:solidFill>
            <a:srgbClr val="E7EAEC"/>
          </a:solidFill>
        </a:fill>
      </a:tcStyle>
    </a:band2H>
    <a:firstCol>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firstCol>
    <a:lastRow>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lastRow>
    <a:firstRow>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firstRow>
  </a:tblStyle>
  <a:tblStyle styleId="{CF821DB8-F4EB-4A41-A1BA-3FCAFE7338EE}" styleName="">
    <a:tblBg/>
    <a:wholeTbl>
      <a:tcTxStyle b="on" i="on">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3">
              <a:lumOff val="44000"/>
            </a:schemeClr>
          </a:solidFill>
        </a:fill>
      </a:tcStyle>
    </a:band2H>
    <a:firstCol>
      <a:tcTxStyle b="on" i="on">
        <a:fontRef idx="minor">
          <a:schemeClr val="accent3">
            <a:lumOff val="44000"/>
          </a:schemeClr>
        </a:fontRef>
        <a:schemeClr val="accent3">
          <a:lumOff val="44000"/>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n">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lumOff val="44000"/>
            </a:schemeClr>
          </a:solidFill>
        </a:fill>
      </a:tcStyle>
    </a:lastRow>
    <a:firstRow>
      <a:tcTxStyle b="on" i="on">
        <a:fontRef idx="minor">
          <a:schemeClr val="accent3">
            <a:lumOff val="44000"/>
          </a:schemeClr>
        </a:fontRef>
        <a:schemeClr val="accent3">
          <a:lumOff val="44000"/>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n" i="on">
        <a:fontRef idx="min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CACACA"/>
          </a:solidFill>
        </a:fill>
      </a:tcStyle>
    </a:wholeTbl>
    <a:band2H>
      <a:tcTxStyle/>
      <a:tcStyle>
        <a:tcBdr/>
        <a:fill>
          <a:solidFill>
            <a:srgbClr val="E6E6E6"/>
          </a:solidFill>
        </a:fill>
      </a:tcStyle>
    </a:band2H>
    <a:firstCol>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firstCol>
    <a:lastRow>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lastRow>
    <a:firstRow>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firstRow>
  </a:tblStyle>
  <a:tblStyle styleId="{2708684C-4D16-4618-839F-0558EEFCDFE6}" styleName="">
    <a:tblBg/>
    <a:wholeTbl>
      <a:tcTxStyle b="on" i="on">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chemeClr val="accent3">
              <a:lumOff val="44000"/>
            </a:schemeClr>
          </a:solidFill>
        </a:fill>
      </a:tcStyle>
    </a:band2H>
    <a:firstCol>
      <a:tcTxStyle b="on" i="on">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n">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n">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43"/>
    <p:restoredTop sz="81250" autoAdjust="0"/>
  </p:normalViewPr>
  <p:slideViewPr>
    <p:cSldViewPr snapToGrid="0" snapToObjects="1" showGuides="1">
      <p:cViewPr>
        <p:scale>
          <a:sx n="58" d="100"/>
          <a:sy n="58" d="100"/>
        </p:scale>
        <p:origin x="2144" y="400"/>
      </p:cViewPr>
      <p:guideLst>
        <p:guide orient="horz" pos="374"/>
        <p:guide pos="513"/>
        <p:guide orient="horz" pos="1077"/>
        <p:guide orient="horz" pos="7699"/>
        <p:guide pos="7499"/>
        <p:guide pos="7793"/>
        <p:guide pos="1480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0" name="Shape 50"/>
          <p:cNvSpPr>
            <a:spLocks noGrp="1" noRot="1" noChangeAspect="1"/>
          </p:cNvSpPr>
          <p:nvPr>
            <p:ph type="sldImg"/>
          </p:nvPr>
        </p:nvSpPr>
        <p:spPr>
          <a:xfrm>
            <a:off x="1143000" y="685800"/>
            <a:ext cx="4572000" cy="3429000"/>
          </a:xfrm>
          <a:prstGeom prst="rect">
            <a:avLst/>
          </a:prstGeom>
        </p:spPr>
        <p:txBody>
          <a:bodyPr/>
          <a:lstStyle/>
          <a:p>
            <a:endParaRPr/>
          </a:p>
        </p:txBody>
      </p:sp>
      <p:sp>
        <p:nvSpPr>
          <p:cNvPr id="51" name="Shape 5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4600">
        <a:latin typeface="Avenir"/>
        <a:ea typeface="Avenir"/>
        <a:cs typeface="Avenir"/>
        <a:sym typeface="Avenir Roman"/>
      </a:defRPr>
    </a:lvl1pPr>
    <a:lvl2pPr indent="228600" defTabSz="457200" latinLnBrk="0">
      <a:lnSpc>
        <a:spcPct val="125000"/>
      </a:lnSpc>
      <a:defRPr sz="4600">
        <a:latin typeface="Avenir"/>
        <a:ea typeface="Avenir"/>
        <a:cs typeface="Avenir"/>
        <a:sym typeface="Avenir Roman"/>
      </a:defRPr>
    </a:lvl2pPr>
    <a:lvl3pPr indent="457200" defTabSz="457200" latinLnBrk="0">
      <a:lnSpc>
        <a:spcPct val="125000"/>
      </a:lnSpc>
      <a:defRPr sz="4600">
        <a:latin typeface="Avenir"/>
        <a:ea typeface="Avenir"/>
        <a:cs typeface="Avenir"/>
        <a:sym typeface="Avenir Roman"/>
      </a:defRPr>
    </a:lvl3pPr>
    <a:lvl4pPr indent="685800" defTabSz="457200" latinLnBrk="0">
      <a:lnSpc>
        <a:spcPct val="125000"/>
      </a:lnSpc>
      <a:defRPr sz="4600">
        <a:latin typeface="Avenir"/>
        <a:ea typeface="Avenir"/>
        <a:cs typeface="Avenir"/>
        <a:sym typeface="Avenir Roman"/>
      </a:defRPr>
    </a:lvl4pPr>
    <a:lvl5pPr indent="914400" defTabSz="457200" latinLnBrk="0">
      <a:lnSpc>
        <a:spcPct val="125000"/>
      </a:lnSpc>
      <a:defRPr sz="4600">
        <a:latin typeface="Avenir"/>
        <a:ea typeface="Avenir"/>
        <a:cs typeface="Avenir"/>
        <a:sym typeface="Avenir Roman"/>
      </a:defRPr>
    </a:lvl5pPr>
    <a:lvl6pPr indent="1143000" defTabSz="457200" latinLnBrk="0">
      <a:lnSpc>
        <a:spcPct val="125000"/>
      </a:lnSpc>
      <a:defRPr sz="4600">
        <a:latin typeface="Avenir"/>
        <a:ea typeface="Avenir"/>
        <a:cs typeface="Avenir"/>
        <a:sym typeface="Avenir Roman"/>
      </a:defRPr>
    </a:lvl6pPr>
    <a:lvl7pPr indent="1371600" defTabSz="457200" latinLnBrk="0">
      <a:lnSpc>
        <a:spcPct val="125000"/>
      </a:lnSpc>
      <a:defRPr sz="4600">
        <a:latin typeface="Avenir"/>
        <a:ea typeface="Avenir"/>
        <a:cs typeface="Avenir"/>
        <a:sym typeface="Avenir Roman"/>
      </a:defRPr>
    </a:lvl7pPr>
    <a:lvl8pPr indent="1600200" defTabSz="457200" latinLnBrk="0">
      <a:lnSpc>
        <a:spcPct val="125000"/>
      </a:lnSpc>
      <a:defRPr sz="4600">
        <a:latin typeface="Avenir"/>
        <a:ea typeface="Avenir"/>
        <a:cs typeface="Avenir"/>
        <a:sym typeface="Avenir Roman"/>
      </a:defRPr>
    </a:lvl8pPr>
    <a:lvl9pPr indent="1828800" defTabSz="457200" latinLnBrk="0">
      <a:lnSpc>
        <a:spcPct val="125000"/>
      </a:lnSpc>
      <a:defRPr sz="46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Shape 59"/>
          <p:cNvSpPr>
            <a:spLocks noGrp="1" noRot="1" noChangeAspect="1"/>
          </p:cNvSpPr>
          <p:nvPr>
            <p:ph type="sldImg"/>
          </p:nvPr>
        </p:nvSpPr>
        <p:spPr>
          <a:xfrm>
            <a:off x="381000" y="685800"/>
            <a:ext cx="6096000" cy="3429000"/>
          </a:xfrm>
          <a:prstGeom prst="rect">
            <a:avLst/>
          </a:prstGeom>
        </p:spPr>
        <p:txBody>
          <a:bodyPr/>
          <a:lstStyle/>
          <a:p>
            <a:endParaRPr/>
          </a:p>
        </p:txBody>
      </p:sp>
      <p:sp>
        <p:nvSpPr>
          <p:cNvPr id="60" name="Shape 60"/>
          <p:cNvSpPr>
            <a:spLocks noGrp="1"/>
          </p:cNvSpPr>
          <p:nvPr>
            <p:ph type="body" sz="quarter" idx="1"/>
          </p:nvPr>
        </p:nvSpPr>
        <p:spPr>
          <a:prstGeom prst="rect">
            <a:avLst/>
          </a:prstGeom>
        </p:spPr>
        <p:txBody>
          <a:bodyPr/>
          <a:lstStyle/>
          <a:p>
            <a:pPr>
              <a:defRPr sz="2000"/>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4E2A0-076D-1BEB-12E3-E7E94CDA8E11}"/>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700F5FEA-429A-E247-9278-87FB04C56ECD}"/>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C5C519FB-97D4-507B-ECDD-E30B373ABEBA}"/>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3745796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99F73-262D-EB96-2B14-AF5FC0D1BA15}"/>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F4B45833-CBED-BFF7-33D9-D89687792D30}"/>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E73A7E3C-299C-9131-C12A-1289982BAFA1}"/>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3899260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310B4-5FE1-A057-99F3-4AC30C916AD9}"/>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F26AE7B9-DAF1-F1BA-5FF9-43CF3A165824}"/>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3D07E7EC-34F0-5587-8F1A-8BF3A3CDFE22}"/>
              </a:ext>
            </a:extLst>
          </p:cNvPr>
          <p:cNvSpPr>
            <a:spLocks noGrp="1"/>
          </p:cNvSpPr>
          <p:nvPr>
            <p:ph type="body" sz="quarter" idx="1"/>
          </p:nvPr>
        </p:nvSpPr>
        <p:spPr>
          <a:prstGeom prst="rect">
            <a:avLst/>
          </a:prstGeom>
        </p:spPr>
        <p:txBody>
          <a:bodyPr/>
          <a:lstStyle/>
          <a:p>
            <a:pPr>
              <a:defRPr sz="2000"/>
            </a:pPr>
            <a:r>
              <a:rPr lang="en-US" dirty="0"/>
              <a:t>The first study by Damasio and Tranel in 1993 involved three brain injured patients, who had trouble naming objects or actions in pictures. They observed that subjects suffering from injuries in the anterior and middle temporal area had little trouble naming actions but failed to successfully name the objects shown. The opposite was true for the subject with lesions in the premotor cortex.</a:t>
            </a:r>
          </a:p>
          <a:p>
            <a:pPr>
              <a:defRPr sz="2000"/>
            </a:pPr>
            <a:endParaRPr lang="en-US" dirty="0"/>
          </a:p>
          <a:p>
            <a:pPr>
              <a:defRPr sz="2000"/>
            </a:pPr>
            <a:r>
              <a:rPr lang="en-US" dirty="0"/>
              <a:t>This laid the foundation for the Fronto-Temporal Dichotomy, which posits that nouns are represented in temporal areas while verbs are represented in frontal areas</a:t>
            </a:r>
            <a:endParaRPr dirty="0"/>
          </a:p>
        </p:txBody>
      </p:sp>
    </p:spTree>
    <p:extLst>
      <p:ext uri="{BB962C8B-B14F-4D97-AF65-F5344CB8AC3E}">
        <p14:creationId xmlns:p14="http://schemas.microsoft.com/office/powerpoint/2010/main" val="2328885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86347-5CDF-86FE-B8FE-58FF1A4E47FF}"/>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DB3FE2AF-8AA1-B7F4-1BE2-84AC88B10203}"/>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D251591F-A637-A53B-DD60-5018C092C881}"/>
              </a:ext>
            </a:extLst>
          </p:cNvPr>
          <p:cNvSpPr>
            <a:spLocks noGrp="1"/>
          </p:cNvSpPr>
          <p:nvPr>
            <p:ph type="body" sz="quarter" idx="1"/>
          </p:nvPr>
        </p:nvSpPr>
        <p:spPr>
          <a:prstGeom prst="rect">
            <a:avLst/>
          </a:prstGeom>
        </p:spPr>
        <p:txBody>
          <a:bodyPr/>
          <a:lstStyle/>
          <a:p>
            <a:pPr>
              <a:defRPr sz="2000"/>
            </a:pPr>
            <a:r>
              <a:rPr lang="en-US" dirty="0"/>
              <a:t>The main question then was, what is actually driving this distinction? </a:t>
            </a:r>
          </a:p>
          <a:p>
            <a:pPr>
              <a:defRPr sz="2000"/>
            </a:pPr>
            <a:r>
              <a:rPr lang="en-US" dirty="0"/>
              <a:t>There are many hypotheses which can be broken down into two main views</a:t>
            </a:r>
            <a:endParaRPr dirty="0"/>
          </a:p>
        </p:txBody>
      </p:sp>
    </p:spTree>
    <p:extLst>
      <p:ext uri="{BB962C8B-B14F-4D97-AF65-F5344CB8AC3E}">
        <p14:creationId xmlns:p14="http://schemas.microsoft.com/office/powerpoint/2010/main" val="3893094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E444B-DE50-EC8A-6030-46192CFC20A9}"/>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FDED3818-0A64-FB0F-2A8D-1DF192D55F33}"/>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2E45461F-B532-B2C1-D965-01CA5F7276F0}"/>
              </a:ext>
            </a:extLst>
          </p:cNvPr>
          <p:cNvSpPr>
            <a:spLocks noGrp="1"/>
          </p:cNvSpPr>
          <p:nvPr>
            <p:ph type="body" sz="quarter" idx="1"/>
          </p:nvPr>
        </p:nvSpPr>
        <p:spPr>
          <a:prstGeom prst="rect">
            <a:avLst/>
          </a:prstGeom>
        </p:spPr>
        <p:txBody>
          <a:bodyPr/>
          <a:lstStyle/>
          <a:p>
            <a:pPr>
              <a:defRPr sz="2000"/>
            </a:pPr>
            <a:r>
              <a:rPr lang="en-US" dirty="0"/>
              <a:t>The first, is the emergentist view which posits that the brain does not distinguish the grammar class on a lexical level, rather, the distinction is an property emerging from constraints like semantics (nouns tend to refer to objects and verbs to action) or properties like imageability (nouns are more imageable than verbs). </a:t>
            </a:r>
            <a:endParaRPr dirty="0"/>
          </a:p>
        </p:txBody>
      </p:sp>
    </p:spTree>
    <p:extLst>
      <p:ext uri="{BB962C8B-B14F-4D97-AF65-F5344CB8AC3E}">
        <p14:creationId xmlns:p14="http://schemas.microsoft.com/office/powerpoint/2010/main" val="75634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38C38-7C70-8EAF-00D4-914E79016D9A}"/>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B27D23B2-B8B7-4B9C-D28A-FC72CBACD836}"/>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DAFCD4B1-85EA-0DED-C85E-9C3EA252BFBE}"/>
              </a:ext>
            </a:extLst>
          </p:cNvPr>
          <p:cNvSpPr>
            <a:spLocks noGrp="1"/>
          </p:cNvSpPr>
          <p:nvPr>
            <p:ph type="body" sz="quarter" idx="1"/>
          </p:nvPr>
        </p:nvSpPr>
        <p:spPr>
          <a:prstGeom prst="rect">
            <a:avLst/>
          </a:prstGeom>
        </p:spPr>
        <p:txBody>
          <a:bodyPr/>
          <a:lstStyle/>
          <a:p>
            <a:pPr>
              <a:defRPr sz="2000"/>
            </a:pPr>
            <a:r>
              <a:rPr lang="en-US" dirty="0"/>
              <a:t>The second view, often referred to as the combinatorial view, posits that the noun and verb distinction can be explained as computational process: A noun can be declined while a verb can be conjugated. This was tested by Shapiro and Caramazza utilizing Pseudowords like “he wugged” and “the wugs”. These non existent words are assumed to have no semantic information. Still, patients with noun and verb naming weaknesses also showed difficulties in naming the respective pseudowords. Multiple studies linked the inferior frontal gyrus to noun and verb inflection. </a:t>
            </a:r>
            <a:endParaRPr dirty="0"/>
          </a:p>
        </p:txBody>
      </p:sp>
    </p:spTree>
    <p:extLst>
      <p:ext uri="{BB962C8B-B14F-4D97-AF65-F5344CB8AC3E}">
        <p14:creationId xmlns:p14="http://schemas.microsoft.com/office/powerpoint/2010/main" val="381396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B14E7-BE52-8C90-AEF5-749BEAC1C824}"/>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E802E0E4-13E5-2189-FA87-C043137B85E2}"/>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3CB0AEF3-B931-9550-FA53-FA36B17F84CF}"/>
              </a:ext>
            </a:extLst>
          </p:cNvPr>
          <p:cNvSpPr>
            <a:spLocks noGrp="1"/>
          </p:cNvSpPr>
          <p:nvPr>
            <p:ph type="body" sz="quarter" idx="1"/>
          </p:nvPr>
        </p:nvSpPr>
        <p:spPr>
          <a:prstGeom prst="rect">
            <a:avLst/>
          </a:prstGeom>
        </p:spPr>
        <p:txBody>
          <a:bodyPr/>
          <a:lstStyle/>
          <a:p>
            <a:pPr>
              <a:defRPr sz="2000"/>
            </a:pPr>
            <a:r>
              <a:rPr lang="en-US" dirty="0"/>
              <a:t>Finally contradictions in the studies started to mount up with the accumulation brain imaging evidence from fMRI and PET studies. A 2013 meta analysis by Crepaldi and </a:t>
            </a:r>
            <a:r>
              <a:rPr lang="en-US" dirty="0" err="1"/>
              <a:t>collegues</a:t>
            </a:r>
            <a:r>
              <a:rPr lang="en-US" dirty="0"/>
              <a:t> looked at  36 neuroimaging studies and the results showed little evidence for a big split in the brain like the </a:t>
            </a:r>
            <a:r>
              <a:rPr lang="en-US" dirty="0" err="1"/>
              <a:t>fronto</a:t>
            </a:r>
            <a:r>
              <a:rPr lang="en-US" dirty="0"/>
              <a:t>-temporal dichotomy. Instead a more distributed view was proposed, where nouns and verbs circuits are interleaved and spread throughout frontal parietal and temporal areas</a:t>
            </a:r>
            <a:endParaRPr dirty="0"/>
          </a:p>
        </p:txBody>
      </p:sp>
    </p:spTree>
    <p:extLst>
      <p:ext uri="{BB962C8B-B14F-4D97-AF65-F5344CB8AC3E}">
        <p14:creationId xmlns:p14="http://schemas.microsoft.com/office/powerpoint/2010/main" val="3888427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716FB-E737-1BAE-B89E-96D79EB01D90}"/>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59D7CA53-DE6A-D233-D527-1039CBEF94E0}"/>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D9854B00-5731-5F43-4DC3-FF5805434C41}"/>
              </a:ext>
            </a:extLst>
          </p:cNvPr>
          <p:cNvSpPr>
            <a:spLocks noGrp="1"/>
          </p:cNvSpPr>
          <p:nvPr>
            <p:ph type="body" sz="quarter" idx="1"/>
          </p:nvPr>
        </p:nvSpPr>
        <p:spPr>
          <a:prstGeom prst="rect">
            <a:avLst/>
          </a:prstGeom>
        </p:spPr>
        <p:txBody>
          <a:bodyPr/>
          <a:lstStyle/>
          <a:p>
            <a:pPr>
              <a:defRPr sz="2000"/>
            </a:pPr>
            <a:r>
              <a:rPr lang="en-US" dirty="0"/>
              <a:t>These studies involved highly controlled experiments like picture naming and semantic categorization tasks, which may not necessarily explain how our brain processes nouns and verbs outside of these controlled environments. Additionally these studies involve subject actively being tested for noun and verb distinction without investigating whether that is still present during passive processing of nouns and verbs</a:t>
            </a:r>
            <a:endParaRPr dirty="0"/>
          </a:p>
        </p:txBody>
      </p:sp>
    </p:spTree>
    <p:extLst>
      <p:ext uri="{BB962C8B-B14F-4D97-AF65-F5344CB8AC3E}">
        <p14:creationId xmlns:p14="http://schemas.microsoft.com/office/powerpoint/2010/main" val="794258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C61A6-87D6-1080-A35F-7531E59BDB2B}"/>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0D49C17B-E375-14D9-6786-D18E42A6B595}"/>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B663648B-4BEB-8ED2-1823-3CD20C2FBDB5}"/>
              </a:ext>
            </a:extLst>
          </p:cNvPr>
          <p:cNvSpPr>
            <a:spLocks noGrp="1"/>
          </p:cNvSpPr>
          <p:nvPr>
            <p:ph type="body" sz="quarter" idx="1"/>
          </p:nvPr>
        </p:nvSpPr>
        <p:spPr>
          <a:prstGeom prst="rect">
            <a:avLst/>
          </a:prstGeom>
        </p:spPr>
        <p:txBody>
          <a:bodyPr/>
          <a:lstStyle/>
          <a:p>
            <a:pPr>
              <a:defRPr sz="2000"/>
            </a:pPr>
            <a:r>
              <a:rPr lang="en-US" dirty="0"/>
              <a:t>These studies involved highly controlled experiments like picture naming and semantic categorization tasks, which may not necessarily explain how our brain processes nouns and verbs outside of these controlled environments. Additionally these studies involve subject actively being tested for noun and verb distinction without investigating whether that is still present during passive processing of nouns and verbs</a:t>
            </a:r>
            <a:endParaRPr dirty="0"/>
          </a:p>
        </p:txBody>
      </p:sp>
    </p:spTree>
    <p:extLst>
      <p:ext uri="{BB962C8B-B14F-4D97-AF65-F5344CB8AC3E}">
        <p14:creationId xmlns:p14="http://schemas.microsoft.com/office/powerpoint/2010/main" val="2669650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328B3-031D-F5F3-4993-F8DBB8E317ED}"/>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D3EE75F6-1168-D370-4A22-9CC3ED96D15B}"/>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93455199-C1FD-1AF8-344B-C8F7C40072F2}"/>
              </a:ext>
            </a:extLst>
          </p:cNvPr>
          <p:cNvSpPr>
            <a:spLocks noGrp="1"/>
          </p:cNvSpPr>
          <p:nvPr>
            <p:ph type="body" sz="quarter" idx="1"/>
          </p:nvPr>
        </p:nvSpPr>
        <p:spPr>
          <a:prstGeom prst="rect">
            <a:avLst/>
          </a:prstGeom>
        </p:spPr>
        <p:txBody>
          <a:bodyPr/>
          <a:lstStyle/>
          <a:p>
            <a:pPr>
              <a:defRPr sz="2000"/>
            </a:pPr>
            <a:r>
              <a:rPr lang="en-US" dirty="0"/>
              <a:t>To address this I used fMRI data from Fatma’s 2019 study where subjects listened and read narrative stories. I then used information restricted GPT-2 embeddings to model the brain’s responses using a </a:t>
            </a:r>
            <a:r>
              <a:rPr lang="en-US" dirty="0" err="1"/>
              <a:t>voxelwise</a:t>
            </a:r>
            <a:r>
              <a:rPr lang="en-US" dirty="0"/>
              <a:t> encoding model. This allowed me to look at the brain’s sensitivity to nouns and verbs under naturalistic stimuli. </a:t>
            </a:r>
          </a:p>
        </p:txBody>
      </p:sp>
    </p:spTree>
    <p:extLst>
      <p:ext uri="{BB962C8B-B14F-4D97-AF65-F5344CB8AC3E}">
        <p14:creationId xmlns:p14="http://schemas.microsoft.com/office/powerpoint/2010/main" val="38100894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89338-0DE4-A291-2772-A17E39FAB1D4}"/>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DC6EAAF4-F5F6-82A8-168A-0E494A43C242}"/>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9C936B59-20A9-99F4-B790-42834FC6965F}"/>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3962131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88D1-943B-6CA3-E0B8-F251C3B2AB12}"/>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189AABA1-7D8A-7BF5-B437-D1FAFF861F08}"/>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DFF42A32-7FDA-DFD0-B48D-2682C6C29F50}"/>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11894259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42000-39E5-3CB9-2B03-F35E7D23DBD9}"/>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5F51B034-7E82-3A65-DBEC-432CA75C63D1}"/>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FF9F90B6-C958-C42E-405F-CAEC9B69BC52}"/>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34512847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D55C2-3CA0-4FC5-5E50-89CD86109342}"/>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529C9244-2D8F-ED2D-CA63-467967AD2E12}"/>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2E640D25-6538-2409-961C-EB295D9F7D18}"/>
              </a:ext>
            </a:extLst>
          </p:cNvPr>
          <p:cNvSpPr>
            <a:spLocks noGrp="1"/>
          </p:cNvSpPr>
          <p:nvPr>
            <p:ph type="body" sz="quarter" idx="1"/>
          </p:nvPr>
        </p:nvSpPr>
        <p:spPr>
          <a:prstGeom prst="rect">
            <a:avLst/>
          </a:prstGeom>
        </p:spPr>
        <p:txBody>
          <a:bodyPr/>
          <a:lstStyle/>
          <a:p>
            <a:pPr>
              <a:defRPr sz="2000"/>
            </a:pPr>
            <a:endParaRPr dirty="0"/>
          </a:p>
        </p:txBody>
      </p:sp>
    </p:spTree>
    <p:extLst>
      <p:ext uri="{BB962C8B-B14F-4D97-AF65-F5344CB8AC3E}">
        <p14:creationId xmlns:p14="http://schemas.microsoft.com/office/powerpoint/2010/main" val="14133701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420E1-48F5-5785-0875-B0086F848077}"/>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3F1A0C30-9833-7DE7-3932-19951BBE4BF8}"/>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E99FCD5C-D619-8914-A480-774729888BCF}"/>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1431749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D7441-02BA-1057-8708-864830BAF982}"/>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F48B2EAF-354E-F8EF-7D9F-15D17627ED82}"/>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F461AC4B-F7C9-D758-9480-282959C8423D}"/>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12118787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49BE1-C6DC-0B98-C5AB-A0120597C540}"/>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EFE549D9-D64E-2F59-7F94-E609C5CAC589}"/>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B181F248-849C-5F3A-F736-9A811BB95727}"/>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11621839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9BB77-C65E-A64A-1BE9-51142433B8CA}"/>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2F021F7A-2390-F25C-ECFA-5289327A514A}"/>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EB07BD06-6150-CB39-1883-62B366B4B53A}"/>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28355217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D3F96-AEDA-958E-51EA-53B7BA17EB0B}"/>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B3F1D364-E271-2D81-C06E-B656857B5582}"/>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BFEF1756-E7DD-B995-80D8-0E53C2BCB562}"/>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8656352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5AFBE-6B5F-F649-BEF8-79BA763F6DA3}"/>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8973C7B0-EB60-94A3-3F31-70D8D7BD8E0B}"/>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65520BEB-2D7B-BE90-6C11-151F926AB986}"/>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33217527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3C46E-EAF3-35F5-2B9E-876CEC47DD73}"/>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D0A6E38B-387E-25EE-6D5A-3B40B18BCDF4}"/>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A04C7D02-54BB-8541-E07C-A5D22AA15606}"/>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12541889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FA394-A7A4-F185-FA27-AAAF01D81F3C}"/>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5C707DCA-5B14-536E-6F54-8E6192770457}"/>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4BFFBCB8-2F81-C091-569A-FAA277762F8E}"/>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9181031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DA05C-10C1-223B-34BE-9C117DAFEF50}"/>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4EE8354F-365B-DC88-3382-BEFD686C6E7C}"/>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91915551-AC5F-A18F-3E24-7EEFDB1687A8}"/>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11786895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E0380-EEA9-58AE-C6E4-5867088A1E80}"/>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50DB7821-BA6F-B3AD-50CC-3F619B6E180C}"/>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F39451D7-4934-2992-166F-57E49B26FDE7}"/>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31173075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BFADB-0B30-B128-08BC-10351DB6C5B4}"/>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F8578306-568B-1656-C3FB-C71CE3007B7D}"/>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F756EECD-2ABE-FBDA-47D7-F788D2AEB56D}"/>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34749467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7EADE-7FF3-EACA-48E9-E0B37DEDFFEE}"/>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3AE0469F-F16F-B411-1A97-26C0291D210D}"/>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53D33724-BB8F-F584-191E-F0490E403F19}"/>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34454158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49C12-A60C-632B-F252-7DF576BF66A0}"/>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37C9D5AB-D263-0296-7F72-1AC9CA048653}"/>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91452D38-0F23-D8A2-3D9F-77C8A8C123C1}"/>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25229706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23D3A-7F78-B48F-871F-96AC9B16039D}"/>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B59A8851-1B00-508E-27C6-1DAC4650991E}"/>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B981E15C-590D-76F9-D2A7-ECF113A319B4}"/>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42895941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F849C-8AC9-CEDF-E3D9-36ECF1EAB2FA}"/>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0B09E5AF-3878-BD97-A94E-128BA85FFA38}"/>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41E76E66-7A39-FCF0-086D-9A4427BD63A7}"/>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16223863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483A8-D6C6-923A-B9DB-F337B7E0F795}"/>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ED7C0A09-32E7-B51D-5C51-5D6F7EC08FA2}"/>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9EA20346-B773-F084-4152-A226E77EAC50}"/>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22499264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94EBF-5D5D-FF5E-5C4A-DAEA87A15BD9}"/>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C45A96A5-2361-ED6A-68DE-E57F08CADAB5}"/>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8CCA93DB-F932-4153-4318-28338F7D136D}"/>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17968456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31FE8-26C0-BAE6-98F1-3CB2DEB2EA3D}"/>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C65409B6-C5A9-6E69-CB57-662BD997AE65}"/>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87F26DC3-C099-514D-60B9-0E5D68D04E32}"/>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7484828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D4DC9-4C5A-B73D-4A2D-9CF8760AEBF2}"/>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045C8B47-A922-AB09-B72C-FF7EB3A856D1}"/>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DDF90D6B-A1C2-99AC-CD2B-D27887E378BD}"/>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23073646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A6CC2-D04A-A76E-64D5-2E30247D81BB}"/>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0F3FB796-6EEB-FC5D-3EBA-8ED42F185578}"/>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C6A8F4D6-802D-3FE2-BEAF-8908F1D050CD}"/>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32242216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BB530-37B6-BABA-A5F9-E7C7DCF29294}"/>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642E4899-FE47-B6F2-F489-A560EDCC85EC}"/>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40B17147-064A-0BFC-7C57-3CCC77D86FFA}"/>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36636191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45565-5615-10F0-6E61-A5C03A7D5AAE}"/>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754EB7D4-C9ED-5240-2128-66AE2DF212DB}"/>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37DA4358-C551-B01B-ADAE-BD502037B0EB}"/>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1116034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18F7B-D224-DB26-2D0C-2FA257D72364}"/>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F3930118-8CB6-204A-0401-1817A48A9A1E}"/>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517A3DF3-D688-AFB6-1D72-08DDF1E6CCBA}"/>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8101075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DEFD0-FAD2-3C6C-A19A-CFF93549CAC4}"/>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39E8F805-5B17-F120-1DE6-3564A1EF89F5}"/>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D8075FCB-C7C7-66EA-097F-72024FB8D511}"/>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35024293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031E0-918A-22F0-64C3-5858B98664D0}"/>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736D038B-5B7A-B2FB-93BD-0274EAD9B9BC}"/>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2176DA0E-7333-5854-2395-EB0E5ADF9388}"/>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5421237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2DD9E-F419-D64B-210E-6F0C57590CBA}"/>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399E112B-57BB-0983-A99D-5C1FECFEA6F0}"/>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A7E8B7F0-DF92-DA4F-C141-864EEED5ED3A}"/>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11849748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351F4-8DAC-48C3-6626-1817D333146A}"/>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2F276A70-3805-53AD-72D3-C37C95565052}"/>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A9A5C026-0A2C-3FD0-2464-46046C3C4E5A}"/>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9017151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B9D2B-A2B2-FDBA-EB08-AF086AD47B5F}"/>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87F927B9-DBE6-D588-0AF9-E89F3FA8D4B9}"/>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CD0615E3-1CF9-3C9D-5B4B-E0B5A2042C0D}"/>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27819520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DE3D3-D8A2-EA32-6D9D-E89720F34992}"/>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E96BCFD3-D2A0-A3C4-71CA-42ADD5F85567}"/>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320FE04D-113D-42F7-149D-DB571B50060B}"/>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27349981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37A05-6BC6-A968-5F9A-7377248BAFBE}"/>
            </a:ext>
          </a:extLst>
        </p:cNvPr>
        <p:cNvGrpSpPr/>
        <p:nvPr/>
      </p:nvGrpSpPr>
      <p:grpSpPr>
        <a:xfrm>
          <a:off x="0" y="0"/>
          <a:ext cx="0" cy="0"/>
          <a:chOff x="0" y="0"/>
          <a:chExt cx="0" cy="0"/>
        </a:xfrm>
      </p:grpSpPr>
      <p:sp>
        <p:nvSpPr>
          <p:cNvPr id="74" name="Shape 74">
            <a:extLst>
              <a:ext uri="{FF2B5EF4-FFF2-40B4-BE49-F238E27FC236}">
                <a16:creationId xmlns:a16="http://schemas.microsoft.com/office/drawing/2014/main" id="{D22FCFBD-34D2-2955-EC04-8F881AB0E2DF}"/>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75" name="Shape 75">
            <a:extLst>
              <a:ext uri="{FF2B5EF4-FFF2-40B4-BE49-F238E27FC236}">
                <a16:creationId xmlns:a16="http://schemas.microsoft.com/office/drawing/2014/main" id="{27A551C6-1D70-A137-5ED9-9223F9D8C9A5}"/>
              </a:ext>
            </a:extLst>
          </p:cNvPr>
          <p:cNvSpPr>
            <a:spLocks noGrp="1"/>
          </p:cNvSpPr>
          <p:nvPr>
            <p:ph type="body" sz="quarter" idx="1"/>
          </p:nvPr>
        </p:nvSpPr>
        <p:spPr>
          <a:prstGeom prst="rect">
            <a:avLst/>
          </a:prstGeom>
        </p:spPr>
        <p:txBody>
          <a:bodyPr/>
          <a:lstStyle/>
          <a:p>
            <a:pPr>
              <a:defRPr sz="2000"/>
            </a:pPr>
            <a:r>
              <a:rPr dirty="0"/>
              <a:t>Slide with one picture</a:t>
            </a:r>
          </a:p>
          <a:p>
            <a:pPr>
              <a:defRPr sz="2000"/>
            </a:pPr>
            <a:r>
              <a:rPr dirty="0"/>
              <a:t>Remarks:</a:t>
            </a:r>
          </a:p>
          <a:p>
            <a:pPr marL="200526" indent="-200526">
              <a:buSzPct val="100000"/>
              <a:buChar char="-"/>
              <a:defRPr sz="2000"/>
            </a:pPr>
            <a:r>
              <a:rPr dirty="0"/>
              <a:t>picture is to be placed preferably on the left hand side</a:t>
            </a:r>
          </a:p>
          <a:p>
            <a:pPr marL="200526" indent="-200526">
              <a:buSzPct val="100000"/>
              <a:buChar char="-"/>
              <a:defRPr sz="2000"/>
            </a:pPr>
            <a:r>
              <a:rPr dirty="0"/>
              <a:t>picture should be framed and have a small shadow (use features of the presentation tool, but make sure to use the same properties on all slides)</a:t>
            </a:r>
          </a:p>
          <a:p>
            <a:pPr marL="200526" indent="-200526">
              <a:buSzPct val="100000"/>
              <a:buChar char="-"/>
              <a:defRPr sz="2000"/>
            </a:pPr>
            <a:r>
              <a:rPr dirty="0"/>
              <a:t>text goes on the right hand side </a:t>
            </a:r>
          </a:p>
          <a:p>
            <a:pPr marL="200526" indent="-200526">
              <a:buSzPct val="100000"/>
              <a:buChar char="-"/>
              <a:defRPr sz="2000"/>
            </a:pPr>
            <a:r>
              <a:rPr dirty="0"/>
              <a:t>normal text in bullet points:  Helvetica 30 pts (or larger, but use the same font size on all slides)</a:t>
            </a:r>
          </a:p>
          <a:p>
            <a:pPr marL="200526" indent="-200526">
              <a:buSzPct val="100000"/>
              <a:buChar char="-"/>
              <a:defRPr sz="2000"/>
            </a:pPr>
            <a:r>
              <a:rPr dirty="0"/>
              <a:t>titles for bullet points: Helvetica 40 pts (or larger, </a:t>
            </a:r>
            <a:r>
              <a:rPr dirty="0" err="1"/>
              <a:t>approx</a:t>
            </a:r>
            <a:r>
              <a:rPr dirty="0"/>
              <a:t> 10pts larger than normal text, but use the same font size on all slides) - titles for bullet points are optional</a:t>
            </a:r>
          </a:p>
          <a:p>
            <a:pPr marL="200526" indent="-200526">
              <a:buSzPct val="100000"/>
              <a:buChar char="-"/>
              <a:defRPr sz="2000"/>
            </a:pPr>
            <a:r>
              <a:rPr dirty="0"/>
              <a:t>Slide title: Helvetica, 45 pt, bold, uppercase (mandatory)</a:t>
            </a:r>
          </a:p>
          <a:p>
            <a:pPr marL="200526" indent="-200526">
              <a:buSzPct val="100000"/>
              <a:buChar char="-"/>
              <a:defRPr sz="2000"/>
            </a:pPr>
            <a:r>
              <a:rPr dirty="0"/>
              <a:t>Slide sub-title: Helvetica, 45 pt, uppercase (optional)</a:t>
            </a:r>
          </a:p>
          <a:p>
            <a:pPr marL="200526" indent="-200526">
              <a:buSzPct val="100000"/>
              <a:buChar char="-"/>
              <a:defRPr sz="2000"/>
            </a:pPr>
            <a:r>
              <a:rPr dirty="0"/>
              <a:t>Reference lines are like red lines - they must not be crossed (only in some exceptional cases like for pictures with oversize)</a:t>
            </a:r>
          </a:p>
          <a:p>
            <a:pPr marL="200526" indent="-200526">
              <a:buSzPct val="100000"/>
              <a:buChar char="-"/>
              <a:defRPr sz="2000"/>
            </a:pPr>
            <a:r>
              <a:rPr dirty="0"/>
              <a:t>Slide is to be built from bottom to top - start with aligning content and pictures at the bottom reference line</a:t>
            </a:r>
          </a:p>
        </p:txBody>
      </p:sp>
    </p:spTree>
    <p:extLst>
      <p:ext uri="{BB962C8B-B14F-4D97-AF65-F5344CB8AC3E}">
        <p14:creationId xmlns:p14="http://schemas.microsoft.com/office/powerpoint/2010/main" val="827519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t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4" name="Foliennumm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pic>
        <p:nvPicPr>
          <p:cNvPr id="43" name="Bild" descr="Bild"/>
          <p:cNvPicPr>
            <a:picLocks noChangeAspect="1"/>
          </p:cNvPicPr>
          <p:nvPr/>
        </p:nvPicPr>
        <p:blipFill>
          <a:blip r:embed="rId2"/>
          <a:stretch>
            <a:fillRect/>
          </a:stretch>
        </p:blipFill>
        <p:spPr>
          <a:xfrm>
            <a:off x="-19050" y="-82550"/>
            <a:ext cx="24422100" cy="18449152"/>
          </a:xfrm>
          <a:prstGeom prst="rect">
            <a:avLst/>
          </a:prstGeom>
          <a:ln w="12700">
            <a:miter lim="400000"/>
          </a:ln>
        </p:spPr>
      </p:pic>
      <p:sp>
        <p:nvSpPr>
          <p:cNvPr id="44" name="Foliennummer"/>
          <p:cNvSpPr txBox="1">
            <a:spLocks noGrp="1"/>
          </p:cNvSpPr>
          <p:nvPr>
            <p:ph type="sldNum" sz="quarter" idx="2"/>
          </p:nvPr>
        </p:nvSpPr>
        <p:spPr>
          <a:xfrm>
            <a:off x="16154400" y="12712700"/>
            <a:ext cx="4267200" cy="736600"/>
          </a:xfrm>
          <a:prstGeom prst="rect">
            <a:avLst/>
          </a:prstGeom>
        </p:spPr>
        <p:txBody>
          <a:bodyPr lIns="0" tIns="0" rIns="0" bIns="0"/>
          <a:lstStyle>
            <a:lvl1pPr algn="l">
              <a:defRPr sz="3200" b="0">
                <a:solidFill>
                  <a:srgbClr val="000000"/>
                </a:solidFill>
                <a:latin typeface="+mn-lt"/>
                <a:ea typeface="+mn-ea"/>
                <a:cs typeface="+mn-cs"/>
                <a:sym typeface="Aria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tif"/><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Off val="44000"/>
          </a:schemeClr>
        </a:solidFill>
        <a:effectLst/>
      </p:bgPr>
    </p:bg>
    <p:spTree>
      <p:nvGrpSpPr>
        <p:cNvPr id="1" name=""/>
        <p:cNvGrpSpPr/>
        <p:nvPr/>
      </p:nvGrpSpPr>
      <p:grpSpPr>
        <a:xfrm>
          <a:off x="0" y="0"/>
          <a:ext cx="0" cy="0"/>
          <a:chOff x="0" y="0"/>
          <a:chExt cx="0" cy="0"/>
        </a:xfrm>
      </p:grpSpPr>
      <p:pic>
        <p:nvPicPr>
          <p:cNvPr id="2" name="Bild" descr="Bild"/>
          <p:cNvPicPr>
            <a:picLocks noChangeAspect="1"/>
          </p:cNvPicPr>
          <p:nvPr/>
        </p:nvPicPr>
        <p:blipFill>
          <a:blip r:embed="rId4"/>
          <a:stretch>
            <a:fillRect/>
          </a:stretch>
        </p:blipFill>
        <p:spPr>
          <a:xfrm>
            <a:off x="88900" y="12789030"/>
            <a:ext cx="627094" cy="491537"/>
          </a:xfrm>
          <a:prstGeom prst="rect">
            <a:avLst/>
          </a:prstGeom>
          <a:ln w="12700">
            <a:miter lim="400000"/>
          </a:ln>
        </p:spPr>
      </p:pic>
      <p:sp>
        <p:nvSpPr>
          <p:cNvPr id="3" name="Foliennummer"/>
          <p:cNvSpPr txBox="1">
            <a:spLocks noGrp="1"/>
          </p:cNvSpPr>
          <p:nvPr>
            <p:ph type="sldNum" sz="quarter" idx="2"/>
          </p:nvPr>
        </p:nvSpPr>
        <p:spPr>
          <a:xfrm>
            <a:off x="107643" y="12748651"/>
            <a:ext cx="589607" cy="546895"/>
          </a:xfrm>
          <a:prstGeom prst="rect">
            <a:avLst/>
          </a:prstGeom>
          <a:ln w="12700">
            <a:miter lim="400000"/>
          </a:ln>
        </p:spPr>
        <p:txBody>
          <a:bodyPr lIns="89296" tIns="89296" rIns="89296" bIns="89296">
            <a:spAutoFit/>
          </a:bodyPr>
          <a:lstStyle>
            <a:lvl1pPr defTabSz="457200">
              <a:defRPr sz="2400" b="1">
                <a:solidFill>
                  <a:schemeClr val="accent3">
                    <a:lumOff val="44000"/>
                  </a:schemeClr>
                </a:solidFill>
              </a:defRPr>
            </a:lvl1pPr>
          </a:lstStyle>
          <a:p>
            <a:fld id="{86CB4B4D-7CA3-9044-876B-883B54F8677D}" type="slidenum">
              <a:t>‹#›</a:t>
            </a:fld>
            <a:endParaRPr/>
          </a:p>
        </p:txBody>
      </p:sp>
      <p:sp>
        <p:nvSpPr>
          <p:cNvPr id="4" name="Presentation Title | Presenters' names | October 23, 2020"/>
          <p:cNvSpPr txBox="1"/>
          <p:nvPr/>
        </p:nvSpPr>
        <p:spPr>
          <a:xfrm>
            <a:off x="815974" y="12714944"/>
            <a:ext cx="16122651" cy="622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algn="l" defTabSz="1300480">
              <a:lnSpc>
                <a:spcPts val="3100"/>
              </a:lnSpc>
              <a:defRPr sz="2400" b="1" cap="all">
                <a:solidFill>
                  <a:schemeClr val="accent4"/>
                </a:solidFill>
                <a:uFill>
                  <a:solidFill>
                    <a:schemeClr val="accent1"/>
                  </a:solidFill>
                </a:uFill>
              </a:defRPr>
            </a:lvl1pPr>
          </a:lstStyle>
          <a:p>
            <a:r>
              <a:t>Presentation Title | Presenters' names | October 23, 2020</a:t>
            </a:r>
          </a:p>
        </p:txBody>
      </p:sp>
      <p:pic>
        <p:nvPicPr>
          <p:cNvPr id="5" name="Bild" descr="Bild"/>
          <p:cNvPicPr>
            <a:picLocks noChangeAspect="1"/>
          </p:cNvPicPr>
          <p:nvPr/>
        </p:nvPicPr>
        <p:blipFill>
          <a:blip r:embed="rId5"/>
          <a:stretch>
            <a:fillRect/>
          </a:stretch>
        </p:blipFill>
        <p:spPr>
          <a:xfrm>
            <a:off x="21522545" y="620424"/>
            <a:ext cx="2010796" cy="1124371"/>
          </a:xfrm>
          <a:prstGeom prst="rect">
            <a:avLst/>
          </a:prstGeom>
          <a:ln w="12700">
            <a:miter lim="400000"/>
          </a:ln>
        </p:spPr>
      </p:pic>
      <p:sp>
        <p:nvSpPr>
          <p:cNvPr id="6" name="Titeltext"/>
          <p:cNvSpPr txBox="1">
            <a:spLocks noGrp="1"/>
          </p:cNvSpPr>
          <p:nvPr>
            <p:ph type="title"/>
          </p:nvPr>
        </p:nvSpPr>
        <p:spPr>
          <a:xfrm>
            <a:off x="3962400" y="-1"/>
            <a:ext cx="16459200" cy="28352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lstStyle/>
          <a:p>
            <a:r>
              <a:t>Titeltext</a:t>
            </a:r>
          </a:p>
        </p:txBody>
      </p:sp>
      <p:sp>
        <p:nvSpPr>
          <p:cNvPr id="7" name="Textebene 1…"/>
          <p:cNvSpPr txBox="1">
            <a:spLocks noGrp="1"/>
          </p:cNvSpPr>
          <p:nvPr>
            <p:ph type="body" idx="1"/>
          </p:nvPr>
        </p:nvSpPr>
        <p:spPr>
          <a:xfrm>
            <a:off x="3962400" y="3200400"/>
            <a:ext cx="16459200" cy="10515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Textebene 1</a:t>
            </a:r>
          </a:p>
          <a:p>
            <a:pPr lvl="1"/>
            <a:r>
              <a:t>Textebene 2</a:t>
            </a:r>
          </a:p>
          <a:p>
            <a:pPr lvl="2"/>
            <a:r>
              <a:t>Textebene 3</a:t>
            </a:r>
          </a:p>
          <a:p>
            <a:pPr lvl="3"/>
            <a:r>
              <a:t>Textebene 4</a:t>
            </a:r>
          </a:p>
          <a:p>
            <a:pPr lvl="4"/>
            <a:r>
              <a:t>Textebene 5</a:t>
            </a: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Lst>
  <p:transition spd="med"/>
  <p:txStyles>
    <p:titleStyle>
      <a:lvl1pPr marL="0" marR="0" indent="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1pPr>
      <a:lvl2pPr marL="0" marR="0" indent="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2pPr>
      <a:lvl3pPr marL="0" marR="0" indent="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3pPr>
      <a:lvl4pPr marL="0" marR="0" indent="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4pPr>
      <a:lvl5pPr marL="0" marR="0" indent="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5pPr>
      <a:lvl6pPr marL="0" marR="0" indent="45720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6pPr>
      <a:lvl7pPr marL="0" marR="0" indent="91440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7pPr>
      <a:lvl8pPr marL="0" marR="0" indent="137160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8pPr>
      <a:lvl9pPr marL="0" marR="0" indent="182880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9pPr>
    </p:titleStyle>
    <p:bodyStyle>
      <a:lvl1pPr marL="342900" marR="0" indent="-342900" algn="l" defTabSz="914400" rtl="0" latinLnBrk="0">
        <a:lnSpc>
          <a:spcPts val="2200"/>
        </a:lnSpc>
        <a:spcBef>
          <a:spcPts val="0"/>
        </a:spcBef>
        <a:spcAft>
          <a:spcPts val="0"/>
        </a:spcAft>
        <a:buClrTx/>
        <a:buSzTx/>
        <a:buFontTx/>
        <a:buNone/>
        <a:tabLst/>
        <a:defRPr sz="2400" b="0" i="0" u="none" strike="noStrike" cap="none" spc="0" baseline="0">
          <a:solidFill>
            <a:srgbClr val="000000"/>
          </a:solidFill>
          <a:uFill>
            <a:solidFill>
              <a:srgbClr val="000000"/>
            </a:solidFill>
          </a:uFill>
          <a:latin typeface="+mn-lt"/>
          <a:ea typeface="+mn-ea"/>
          <a:cs typeface="+mn-cs"/>
          <a:sym typeface="Arial"/>
        </a:defRPr>
      </a:lvl1pPr>
      <a:lvl2pPr marL="865716" marR="0" indent="-325966" algn="l" defTabSz="914400" rtl="0" latinLnBrk="0">
        <a:lnSpc>
          <a:spcPts val="2200"/>
        </a:lnSpc>
        <a:spcBef>
          <a:spcPts val="0"/>
        </a:spcBef>
        <a:spcAft>
          <a:spcPts val="0"/>
        </a:spcAft>
        <a:buClrTx/>
        <a:buSzPct val="100000"/>
        <a:buFontTx/>
        <a:buChar char="–"/>
        <a:tabLst/>
        <a:defRPr sz="2400" b="0" i="0" u="none" strike="noStrike" cap="none" spc="0" baseline="0">
          <a:solidFill>
            <a:srgbClr val="000000"/>
          </a:solidFill>
          <a:uFill>
            <a:solidFill>
              <a:srgbClr val="000000"/>
            </a:solidFill>
          </a:uFill>
          <a:latin typeface="+mn-lt"/>
          <a:ea typeface="+mn-ea"/>
          <a:cs typeface="+mn-cs"/>
          <a:sym typeface="Arial"/>
        </a:defRPr>
      </a:lvl2pPr>
      <a:lvl3pPr marL="1268412" marR="0" indent="-304800" algn="l" defTabSz="914400" rtl="0" latinLnBrk="0">
        <a:lnSpc>
          <a:spcPts val="2200"/>
        </a:lnSpc>
        <a:spcBef>
          <a:spcPts val="0"/>
        </a:spcBef>
        <a:spcAft>
          <a:spcPts val="0"/>
        </a:spcAft>
        <a:buClrTx/>
        <a:buSzPct val="100000"/>
        <a:buFontTx/>
        <a:buChar char="•"/>
        <a:tabLst/>
        <a:defRPr sz="2400" b="0" i="0" u="none" strike="noStrike" cap="none" spc="0" baseline="0">
          <a:solidFill>
            <a:srgbClr val="000000"/>
          </a:solidFill>
          <a:uFill>
            <a:solidFill>
              <a:srgbClr val="000000"/>
            </a:solidFill>
          </a:uFill>
          <a:latin typeface="+mn-lt"/>
          <a:ea typeface="+mn-ea"/>
          <a:cs typeface="+mn-cs"/>
          <a:sym typeface="Arial"/>
        </a:defRPr>
      </a:lvl3pPr>
      <a:lvl4pPr marL="1676400" marR="0" indent="-304800" algn="l" defTabSz="914400" rtl="0" latinLnBrk="0">
        <a:lnSpc>
          <a:spcPts val="2200"/>
        </a:lnSpc>
        <a:spcBef>
          <a:spcPts val="0"/>
        </a:spcBef>
        <a:spcAft>
          <a:spcPts val="0"/>
        </a:spcAft>
        <a:buClrTx/>
        <a:buSzPct val="100000"/>
        <a:buFontTx/>
        <a:buChar char="–"/>
        <a:tabLst/>
        <a:defRPr sz="2400" b="0" i="0" u="none" strike="noStrike" cap="none" spc="0" baseline="0">
          <a:solidFill>
            <a:srgbClr val="000000"/>
          </a:solidFill>
          <a:uFill>
            <a:solidFill>
              <a:srgbClr val="000000"/>
            </a:solidFill>
          </a:uFill>
          <a:latin typeface="+mn-lt"/>
          <a:ea typeface="+mn-ea"/>
          <a:cs typeface="+mn-cs"/>
          <a:sym typeface="Arial"/>
        </a:defRPr>
      </a:lvl4pPr>
      <a:lvl5pPr marL="2133600" marR="0" indent="-304800" algn="l" defTabSz="914400" rtl="0" latinLnBrk="0">
        <a:lnSpc>
          <a:spcPts val="2200"/>
        </a:lnSpc>
        <a:spcBef>
          <a:spcPts val="0"/>
        </a:spcBef>
        <a:spcAft>
          <a:spcPts val="0"/>
        </a:spcAft>
        <a:buClrTx/>
        <a:buSzPct val="100000"/>
        <a:buFontTx/>
        <a:buChar char="»"/>
        <a:tabLst/>
        <a:defRPr sz="2400" b="0" i="0" u="none" strike="noStrike" cap="none" spc="0" baseline="0">
          <a:solidFill>
            <a:srgbClr val="000000"/>
          </a:solidFill>
          <a:uFill>
            <a:solidFill>
              <a:srgbClr val="000000"/>
            </a:solidFill>
          </a:uFill>
          <a:latin typeface="+mn-lt"/>
          <a:ea typeface="+mn-ea"/>
          <a:cs typeface="+mn-cs"/>
          <a:sym typeface="Arial"/>
        </a:defRPr>
      </a:lvl5pPr>
      <a:lvl6pPr marL="2590800" marR="0" indent="-304800" algn="l" defTabSz="914400" rtl="0" latinLnBrk="0">
        <a:lnSpc>
          <a:spcPts val="2200"/>
        </a:lnSpc>
        <a:spcBef>
          <a:spcPts val="0"/>
        </a:spcBef>
        <a:spcAft>
          <a:spcPts val="0"/>
        </a:spcAft>
        <a:buClrTx/>
        <a:buSzPct val="100000"/>
        <a:buFontTx/>
        <a:buChar char="•"/>
        <a:tabLst/>
        <a:defRPr sz="2400" b="0" i="0" u="none" strike="noStrike" cap="none" spc="0" baseline="0">
          <a:solidFill>
            <a:srgbClr val="000000"/>
          </a:solidFill>
          <a:uFill>
            <a:solidFill>
              <a:srgbClr val="000000"/>
            </a:solidFill>
          </a:uFill>
          <a:latin typeface="+mn-lt"/>
          <a:ea typeface="+mn-ea"/>
          <a:cs typeface="+mn-cs"/>
          <a:sym typeface="Arial"/>
        </a:defRPr>
      </a:lvl6pPr>
      <a:lvl7pPr marL="3048000" marR="0" indent="-304800" algn="l" defTabSz="914400" rtl="0" latinLnBrk="0">
        <a:lnSpc>
          <a:spcPts val="2200"/>
        </a:lnSpc>
        <a:spcBef>
          <a:spcPts val="0"/>
        </a:spcBef>
        <a:spcAft>
          <a:spcPts val="0"/>
        </a:spcAft>
        <a:buClrTx/>
        <a:buSzPct val="100000"/>
        <a:buFontTx/>
        <a:buChar char="•"/>
        <a:tabLst/>
        <a:defRPr sz="2400" b="0" i="0" u="none" strike="noStrike" cap="none" spc="0" baseline="0">
          <a:solidFill>
            <a:srgbClr val="000000"/>
          </a:solidFill>
          <a:uFill>
            <a:solidFill>
              <a:srgbClr val="000000"/>
            </a:solidFill>
          </a:uFill>
          <a:latin typeface="+mn-lt"/>
          <a:ea typeface="+mn-ea"/>
          <a:cs typeface="+mn-cs"/>
          <a:sym typeface="Arial"/>
        </a:defRPr>
      </a:lvl7pPr>
      <a:lvl8pPr marL="3505200" marR="0" indent="-304800" algn="l" defTabSz="914400" rtl="0" latinLnBrk="0">
        <a:lnSpc>
          <a:spcPts val="2200"/>
        </a:lnSpc>
        <a:spcBef>
          <a:spcPts val="0"/>
        </a:spcBef>
        <a:spcAft>
          <a:spcPts val="0"/>
        </a:spcAft>
        <a:buClrTx/>
        <a:buSzPct val="100000"/>
        <a:buFontTx/>
        <a:buChar char="•"/>
        <a:tabLst/>
        <a:defRPr sz="2400" b="0" i="0" u="none" strike="noStrike" cap="none" spc="0" baseline="0">
          <a:solidFill>
            <a:srgbClr val="000000"/>
          </a:solidFill>
          <a:uFill>
            <a:solidFill>
              <a:srgbClr val="000000"/>
            </a:solidFill>
          </a:uFill>
          <a:latin typeface="+mn-lt"/>
          <a:ea typeface="+mn-ea"/>
          <a:cs typeface="+mn-cs"/>
          <a:sym typeface="Arial"/>
        </a:defRPr>
      </a:lvl8pPr>
      <a:lvl9pPr marL="3962400" marR="0" indent="-304800" algn="l" defTabSz="914400" rtl="0" latinLnBrk="0">
        <a:lnSpc>
          <a:spcPts val="2200"/>
        </a:lnSpc>
        <a:spcBef>
          <a:spcPts val="0"/>
        </a:spcBef>
        <a:spcAft>
          <a:spcPts val="0"/>
        </a:spcAft>
        <a:buClrTx/>
        <a:buSzPct val="100000"/>
        <a:buFontTx/>
        <a:buChar char="•"/>
        <a:tabLst/>
        <a:defRPr sz="2400" b="0" i="0" u="none" strike="noStrike" cap="none" spc="0" baseline="0">
          <a:solidFill>
            <a:srgbClr val="000000"/>
          </a:solidFill>
          <a:uFill>
            <a:solidFill>
              <a:srgbClr val="000000"/>
            </a:solidFill>
          </a:uFill>
          <a:latin typeface="+mn-lt"/>
          <a:ea typeface="+mn-ea"/>
          <a:cs typeface="+mn-cs"/>
          <a:sym typeface="Arial"/>
        </a:defRPr>
      </a:lvl9pPr>
    </p:bodyStyle>
    <p:otherStyle>
      <a:lvl1pPr marL="0" marR="0" indent="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1pPr>
      <a:lvl2pPr marL="0" marR="0" indent="45720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2pPr>
      <a:lvl3pPr marL="0" marR="0" indent="91440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3pPr>
      <a:lvl4pPr marL="0" marR="0" indent="137160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4pPr>
      <a:lvl5pPr marL="0" marR="0" indent="182880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5pPr>
      <a:lvl6pPr marL="0" marR="0" indent="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6pPr>
      <a:lvl7pPr marL="0" marR="0" indent="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7pPr>
      <a:lvl8pPr marL="0" marR="0" indent="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8pPr>
      <a:lvl9pPr marL="0" marR="0" indent="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1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tif"/><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tif"/><Relationship Id="rId5" Type="http://schemas.openxmlformats.org/officeDocument/2006/relationships/image" Target="../media/image4.png"/><Relationship Id="rId4" Type="http://schemas.openxmlformats.org/officeDocument/2006/relationships/image" Target="../media/image7.emf"/></Relationships>
</file>

<file path=ppt/slides/_rels/slide17.xml.rels><?xml version="1.0" encoding="UTF-8" standalone="yes"?>
<Relationships xmlns="http://schemas.openxmlformats.org/package/2006/relationships"><Relationship Id="rId3" Type="http://schemas.openxmlformats.org/officeDocument/2006/relationships/image" Target="../media/image8.emf"/><Relationship Id="rId7" Type="http://schemas.openxmlformats.org/officeDocument/2006/relationships/image" Target="../media/image2.tif"/><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6.emf"/><Relationship Id="rId4" Type="http://schemas.openxmlformats.org/officeDocument/2006/relationships/image" Target="../media/image7.emf"/></Relationships>
</file>

<file path=ppt/slides/_rels/slide1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tif"/><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tif"/><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2.ti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ti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ti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1.emf"/><Relationship Id="rId4" Type="http://schemas.openxmlformats.org/officeDocument/2006/relationships/image" Target="../media/image2.tif"/></Relationships>
</file>

<file path=ppt/slides/_rels/slide24.xml.rels><?xml version="1.0" encoding="UTF-8" standalone="yes"?>
<Relationships xmlns="http://schemas.openxmlformats.org/package/2006/relationships"><Relationship Id="rId3" Type="http://schemas.openxmlformats.org/officeDocument/2006/relationships/image" Target="../media/image12.emf"/><Relationship Id="rId7"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tif"/><Relationship Id="rId5" Type="http://schemas.openxmlformats.org/officeDocument/2006/relationships/image" Target="../media/image4.png"/><Relationship Id="rId4" Type="http://schemas.openxmlformats.org/officeDocument/2006/relationships/image" Target="../media/image13.emf"/></Relationships>
</file>

<file path=ppt/slides/_rels/slide25.xml.rels><?xml version="1.0" encoding="UTF-8" standalone="yes"?>
<Relationships xmlns="http://schemas.openxmlformats.org/package/2006/relationships"><Relationship Id="rId3" Type="http://schemas.openxmlformats.org/officeDocument/2006/relationships/image" Target="../media/image12.emf"/><Relationship Id="rId7"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tif"/><Relationship Id="rId5" Type="http://schemas.openxmlformats.org/officeDocument/2006/relationships/image" Target="../media/image4.png"/><Relationship Id="rId4" Type="http://schemas.openxmlformats.org/officeDocument/2006/relationships/image" Target="../media/image13.emf"/></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2.emf"/><Relationship Id="rId5" Type="http://schemas.openxmlformats.org/officeDocument/2006/relationships/image" Target="../media/image13.emf"/><Relationship Id="rId4" Type="http://schemas.openxmlformats.org/officeDocument/2006/relationships/image" Target="../media/image2.tif"/></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tif"/><Relationship Id="rId5" Type="http://schemas.openxmlformats.org/officeDocument/2006/relationships/image" Target="../media/image16.emf"/><Relationship Id="rId4" Type="http://schemas.openxmlformats.org/officeDocument/2006/relationships/image" Target="../media/image15.emf"/></Relationships>
</file>

<file path=ppt/slides/_rels/slide28.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image" Target="../media/image4.png"/><Relationship Id="rId7" Type="http://schemas.openxmlformats.org/officeDocument/2006/relationships/image" Target="../media/image20.emf"/><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9.emf"/><Relationship Id="rId5" Type="http://schemas.openxmlformats.org/officeDocument/2006/relationships/image" Target="../media/image18.emf"/><Relationship Id="rId10" Type="http://schemas.openxmlformats.org/officeDocument/2006/relationships/image" Target="../media/image23.emf"/><Relationship Id="rId4" Type="http://schemas.openxmlformats.org/officeDocument/2006/relationships/image" Target="../media/image2.tif"/><Relationship Id="rId9" Type="http://schemas.openxmlformats.org/officeDocument/2006/relationships/image" Target="../media/image22.emf"/></Relationships>
</file>

<file path=ppt/slides/_rels/slide29.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image" Target="../media/image4.png"/><Relationship Id="rId7" Type="http://schemas.openxmlformats.org/officeDocument/2006/relationships/image" Target="../media/image27.emf"/><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6.emf"/><Relationship Id="rId5" Type="http://schemas.openxmlformats.org/officeDocument/2006/relationships/image" Target="../media/image25.emf"/><Relationship Id="rId10" Type="http://schemas.openxmlformats.org/officeDocument/2006/relationships/image" Target="../media/image2.tif"/><Relationship Id="rId4" Type="http://schemas.openxmlformats.org/officeDocument/2006/relationships/image" Target="../media/image24.emf"/><Relationship Id="rId9" Type="http://schemas.openxmlformats.org/officeDocument/2006/relationships/image" Target="../media/image29.emf"/></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1.emf"/><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30.emf"/><Relationship Id="rId5" Type="http://schemas.openxmlformats.org/officeDocument/2006/relationships/image" Target="../media/image17.png"/><Relationship Id="rId4" Type="http://schemas.openxmlformats.org/officeDocument/2006/relationships/image" Target="../media/image2.tif"/></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33.emf"/><Relationship Id="rId5" Type="http://schemas.openxmlformats.org/officeDocument/2006/relationships/image" Target="../media/image32.emf"/><Relationship Id="rId4" Type="http://schemas.openxmlformats.org/officeDocument/2006/relationships/image" Target="../media/image2.tif"/></Relationships>
</file>

<file path=ppt/slides/_rels/slide32.xml.rels><?xml version="1.0" encoding="UTF-8" standalone="yes"?>
<Relationships xmlns="http://schemas.openxmlformats.org/package/2006/relationships"><Relationship Id="rId3" Type="http://schemas.openxmlformats.org/officeDocument/2006/relationships/image" Target="../media/image34.emf"/><Relationship Id="rId7"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2.tif"/><Relationship Id="rId5" Type="http://schemas.openxmlformats.org/officeDocument/2006/relationships/image" Target="../media/image4.png"/><Relationship Id="rId4" Type="http://schemas.openxmlformats.org/officeDocument/2006/relationships/image" Target="../media/image35.emf"/></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36.emf"/><Relationship Id="rId4" Type="http://schemas.openxmlformats.org/officeDocument/2006/relationships/image" Target="../media/image2.tif"/></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2.tif"/></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2.tif"/></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2.tif"/></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3">
            <a:lumOff val="44000"/>
          </a:schemeClr>
        </a:solidFill>
        <a:effectLst/>
      </p:bgPr>
    </p:bg>
    <p:spTree>
      <p:nvGrpSpPr>
        <p:cNvPr id="1" name=""/>
        <p:cNvGrpSpPr/>
        <p:nvPr/>
      </p:nvGrpSpPr>
      <p:grpSpPr>
        <a:xfrm>
          <a:off x="0" y="0"/>
          <a:ext cx="0" cy="0"/>
          <a:chOff x="0" y="0"/>
          <a:chExt cx="0" cy="0"/>
        </a:xfrm>
      </p:grpSpPr>
      <p:sp>
        <p:nvSpPr>
          <p:cNvPr id="54" name="Presentation TITLE (Helvetica 46pt, Bold, Upper)…"/>
          <p:cNvSpPr txBox="1"/>
          <p:nvPr/>
        </p:nvSpPr>
        <p:spPr>
          <a:xfrm>
            <a:off x="1154005" y="1709366"/>
            <a:ext cx="18828324" cy="36855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7000" tIns="127000" rIns="127000" bIns="127000"/>
          <a:lstStyle/>
          <a:p>
            <a:pPr algn="l">
              <a:spcBef>
                <a:spcPts val="600"/>
              </a:spcBef>
              <a:defRPr sz="4600" b="1" cap="all">
                <a:solidFill>
                  <a:srgbClr val="D22428"/>
                </a:solidFill>
                <a:uFill>
                  <a:solidFill>
                    <a:srgbClr val="C50E1F"/>
                  </a:solidFill>
                </a:uFill>
              </a:defRPr>
            </a:pPr>
            <a:r>
              <a:rPr lang="en-US" sz="7200" cap="all" dirty="0"/>
              <a:t>Understanding Grammar Representation in the Human Brain via Information-Restricted LLMs</a:t>
            </a:r>
            <a:endParaRPr sz="7200" dirty="0"/>
          </a:p>
        </p:txBody>
      </p:sp>
      <p:pic>
        <p:nvPicPr>
          <p:cNvPr id="4" name="Bild" descr="Bild">
            <a:extLst>
              <a:ext uri="{FF2B5EF4-FFF2-40B4-BE49-F238E27FC236}">
                <a16:creationId xmlns:a16="http://schemas.microsoft.com/office/drawing/2014/main" id="{49A8EDE1-3E15-0122-ACF8-AB52C7AFC139}"/>
              </a:ext>
            </a:extLst>
          </p:cNvPr>
          <p:cNvPicPr>
            <a:picLocks noChangeAspect="1"/>
          </p:cNvPicPr>
          <p:nvPr/>
        </p:nvPicPr>
        <p:blipFill>
          <a:blip r:embed="rId3"/>
          <a:stretch>
            <a:fillRect/>
          </a:stretch>
        </p:blipFill>
        <p:spPr>
          <a:xfrm>
            <a:off x="21373832" y="508000"/>
            <a:ext cx="2159389" cy="1207459"/>
          </a:xfrm>
          <a:prstGeom prst="rect">
            <a:avLst/>
          </a:prstGeom>
          <a:ln w="12700">
            <a:miter lim="400000"/>
          </a:ln>
        </p:spPr>
      </p:pic>
      <p:sp>
        <p:nvSpPr>
          <p:cNvPr id="2" name="Presentation TITLE (Helvetica 46pt, Bold, Upper)…">
            <a:extLst>
              <a:ext uri="{FF2B5EF4-FFF2-40B4-BE49-F238E27FC236}">
                <a16:creationId xmlns:a16="http://schemas.microsoft.com/office/drawing/2014/main" id="{9FAD56AA-1361-3725-484C-AC7E5A94568B}"/>
              </a:ext>
            </a:extLst>
          </p:cNvPr>
          <p:cNvSpPr txBox="1"/>
          <p:nvPr/>
        </p:nvSpPr>
        <p:spPr>
          <a:xfrm>
            <a:off x="1154005" y="5366966"/>
            <a:ext cx="18828324" cy="36855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27000" tIns="127000" rIns="127000" bIns="127000"/>
          <a:lstStyle/>
          <a:p>
            <a:pPr algn="l">
              <a:spcBef>
                <a:spcPts val="600"/>
              </a:spcBef>
              <a:defRPr sz="4600" b="1" cap="all">
                <a:solidFill>
                  <a:srgbClr val="D22428"/>
                </a:solidFill>
                <a:uFill>
                  <a:solidFill>
                    <a:srgbClr val="C50E1F"/>
                  </a:solidFill>
                </a:uFill>
              </a:defRPr>
            </a:pPr>
            <a:r>
              <a:rPr lang="en-US" sz="2400" cap="all" dirty="0">
                <a:latin typeface="+mj-ea"/>
              </a:rPr>
              <a:t>Simone Esposito	</a:t>
            </a:r>
          </a:p>
          <a:p>
            <a:pPr algn="l">
              <a:spcBef>
                <a:spcPts val="600"/>
              </a:spcBef>
              <a:defRPr sz="4600" b="1" cap="all">
                <a:solidFill>
                  <a:srgbClr val="D22428"/>
                </a:solidFill>
                <a:uFill>
                  <a:solidFill>
                    <a:srgbClr val="C50E1F"/>
                  </a:solidFill>
                </a:uFill>
              </a:defRPr>
            </a:pPr>
            <a:endParaRPr lang="en-US" sz="2400" cap="all" dirty="0">
              <a:latin typeface="+mj-ea"/>
            </a:endParaRPr>
          </a:p>
          <a:p>
            <a:pPr algn="l">
              <a:spcBef>
                <a:spcPts val="600"/>
              </a:spcBef>
              <a:defRPr sz="4600" b="1" cap="all">
                <a:solidFill>
                  <a:srgbClr val="D22428"/>
                </a:solidFill>
                <a:uFill>
                  <a:solidFill>
                    <a:srgbClr val="C50E1F"/>
                  </a:solidFill>
                </a:uFill>
              </a:defRPr>
            </a:pPr>
            <a:endParaRPr lang="en-US" sz="2400" cap="all" dirty="0">
              <a:latin typeface="+mj-ea"/>
            </a:endParaRPr>
          </a:p>
          <a:p>
            <a:pPr algn="l">
              <a:spcBef>
                <a:spcPts val="600"/>
              </a:spcBef>
              <a:defRPr sz="4600" b="1" cap="all">
                <a:solidFill>
                  <a:srgbClr val="D22428"/>
                </a:solidFill>
                <a:uFill>
                  <a:solidFill>
                    <a:srgbClr val="C50E1F"/>
                  </a:solidFill>
                </a:uFill>
              </a:defRPr>
            </a:pPr>
            <a:r>
              <a:rPr lang="en-US" sz="2400" cap="all" dirty="0">
                <a:latin typeface="+mj-ea"/>
              </a:rPr>
              <a:t>Anuja Negi		</a:t>
            </a:r>
            <a:r>
              <a:rPr lang="en-US" sz="2400" cap="all" dirty="0">
                <a:solidFill>
                  <a:schemeClr val="bg2">
                    <a:lumMod val="60000"/>
                    <a:lumOff val="40000"/>
                  </a:schemeClr>
                </a:solidFill>
                <a:latin typeface="+mj-ea"/>
              </a:rPr>
              <a:t>Supervisor </a:t>
            </a:r>
            <a:endParaRPr lang="en-US" sz="2400" cap="all" dirty="0">
              <a:latin typeface="+mj-ea"/>
            </a:endParaRPr>
          </a:p>
          <a:p>
            <a:pPr algn="l">
              <a:spcBef>
                <a:spcPts val="600"/>
              </a:spcBef>
              <a:defRPr sz="4600" b="1" cap="all">
                <a:solidFill>
                  <a:srgbClr val="D22428"/>
                </a:solidFill>
                <a:uFill>
                  <a:solidFill>
                    <a:srgbClr val="C50E1F"/>
                  </a:solidFill>
                </a:uFill>
              </a:defRPr>
            </a:pPr>
            <a:r>
              <a:rPr lang="en-US" sz="2400" cap="all" dirty="0">
                <a:latin typeface="+mj-ea"/>
              </a:rPr>
              <a:t>Fatma Deniz		</a:t>
            </a:r>
            <a:r>
              <a:rPr lang="en-US" sz="2400" cap="all" dirty="0">
                <a:solidFill>
                  <a:schemeClr val="bg2">
                    <a:lumMod val="60000"/>
                    <a:lumOff val="40000"/>
                  </a:schemeClr>
                </a:solidFill>
                <a:latin typeface="+mj-ea"/>
              </a:rPr>
              <a:t>First Examiner</a:t>
            </a:r>
            <a:r>
              <a:rPr lang="en-US" sz="2400" cap="all" dirty="0">
                <a:latin typeface="+mj-ea"/>
              </a:rPr>
              <a:t> </a:t>
            </a:r>
          </a:p>
          <a:p>
            <a:pPr algn="l">
              <a:spcBef>
                <a:spcPts val="600"/>
              </a:spcBef>
              <a:defRPr sz="4600" b="1" cap="all">
                <a:solidFill>
                  <a:srgbClr val="D22428"/>
                </a:solidFill>
                <a:uFill>
                  <a:solidFill>
                    <a:srgbClr val="C50E1F"/>
                  </a:solidFill>
                </a:uFill>
              </a:defRPr>
            </a:pPr>
            <a:r>
              <a:rPr lang="en-US" sz="2400" cap="all" dirty="0">
                <a:latin typeface="+mj-ea"/>
              </a:rPr>
              <a:t>Klaus Obermayer	</a:t>
            </a:r>
            <a:r>
              <a:rPr lang="en-US" sz="2400" cap="all" dirty="0">
                <a:solidFill>
                  <a:schemeClr val="bg2">
                    <a:lumMod val="60000"/>
                    <a:lumOff val="40000"/>
                  </a:schemeClr>
                </a:solidFill>
                <a:latin typeface="+mj-ea"/>
              </a:rPr>
              <a:t>Second Examiner </a:t>
            </a:r>
            <a:endParaRPr sz="2400" dirty="0">
              <a:latin typeface="+mj-ea"/>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DC5EF82-C1D3-26FA-F2BC-82F949E3EF2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37EF588-D636-189C-4DE2-ECE45BBC5F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1FE60112-1317-2A90-550B-73832D4A5162}"/>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a:t>
            </a:fld>
            <a:endParaRPr/>
          </a:p>
        </p:txBody>
      </p:sp>
      <p:sp>
        <p:nvSpPr>
          <p:cNvPr id="70" name="5.1 Das Document Object Model…">
            <a:extLst>
              <a:ext uri="{FF2B5EF4-FFF2-40B4-BE49-F238E27FC236}">
                <a16:creationId xmlns:a16="http://schemas.microsoft.com/office/drawing/2014/main" id="{17FDF88D-9D83-8407-0C92-C0E2AC3B386B}"/>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background</a:t>
            </a:r>
            <a:endParaRPr sz="5400" dirty="0"/>
          </a:p>
        </p:txBody>
      </p:sp>
      <p:pic>
        <p:nvPicPr>
          <p:cNvPr id="4" name="Bild" descr="Bild">
            <a:extLst>
              <a:ext uri="{FF2B5EF4-FFF2-40B4-BE49-F238E27FC236}">
                <a16:creationId xmlns:a16="http://schemas.microsoft.com/office/drawing/2014/main" id="{2AA49ECC-26E8-62BD-A2CC-5FC8BBB3076C}"/>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7958F0F3-0C6B-5A02-340A-D7C242B8E8F3}"/>
              </a:ext>
            </a:extLst>
          </p:cNvPr>
          <p:cNvSpPr txBox="1"/>
          <p:nvPr/>
        </p:nvSpPr>
        <p:spPr>
          <a:xfrm>
            <a:off x="670356" y="2723316"/>
            <a:ext cx="204710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spcBef>
                <a:spcPts val="300"/>
              </a:spcBef>
              <a:buSzPct val="100000"/>
              <a:defRPr sz="3000"/>
            </a:pPr>
            <a:r>
              <a:rPr lang="en-US" sz="4800" dirty="0"/>
              <a:t>How does the brain distinguish nouns and verbs?</a:t>
            </a:r>
          </a:p>
        </p:txBody>
      </p:sp>
    </p:spTree>
    <p:extLst>
      <p:ext uri="{BB962C8B-B14F-4D97-AF65-F5344CB8AC3E}">
        <p14:creationId xmlns:p14="http://schemas.microsoft.com/office/powerpoint/2010/main" val="374516703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2EA2CB8-E2FF-0CBE-8139-9EF8354A97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86E1724-7785-6ADD-6604-DFCB9DC783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1FB38D43-982F-B2F0-4D76-518A9289770A}"/>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a:t>
            </a:fld>
            <a:endParaRPr/>
          </a:p>
        </p:txBody>
      </p:sp>
      <p:sp>
        <p:nvSpPr>
          <p:cNvPr id="70" name="5.1 Das Document Object Model…">
            <a:extLst>
              <a:ext uri="{FF2B5EF4-FFF2-40B4-BE49-F238E27FC236}">
                <a16:creationId xmlns:a16="http://schemas.microsoft.com/office/drawing/2014/main" id="{F7841D29-C33B-A4F3-0627-26607EFF4F59}"/>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BACKGROUND</a:t>
            </a:r>
            <a:endParaRPr sz="5400" dirty="0"/>
          </a:p>
        </p:txBody>
      </p:sp>
      <p:pic>
        <p:nvPicPr>
          <p:cNvPr id="4" name="Bild" descr="Bild">
            <a:extLst>
              <a:ext uri="{FF2B5EF4-FFF2-40B4-BE49-F238E27FC236}">
                <a16:creationId xmlns:a16="http://schemas.microsoft.com/office/drawing/2014/main" id="{C78F90A0-A9FC-0728-A1E3-7D024F70097A}"/>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55A4345B-B90B-22DA-8B27-0D50381D346F}"/>
              </a:ext>
            </a:extLst>
          </p:cNvPr>
          <p:cNvSpPr txBox="1"/>
          <p:nvPr/>
        </p:nvSpPr>
        <p:spPr>
          <a:xfrm>
            <a:off x="670356" y="2723316"/>
            <a:ext cx="204710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spcBef>
                <a:spcPts val="300"/>
              </a:spcBef>
              <a:buSzPct val="100000"/>
              <a:defRPr sz="3000"/>
            </a:pPr>
            <a:r>
              <a:rPr lang="en-US" sz="4800" dirty="0"/>
              <a:t>How does the brain distinguish nouns and verbs? </a:t>
            </a:r>
            <a:r>
              <a:rPr lang="en-US" sz="4800" b="1" dirty="0"/>
              <a:t>It’s complicated…</a:t>
            </a:r>
            <a:endParaRPr lang="en-US" sz="4800" dirty="0"/>
          </a:p>
        </p:txBody>
      </p:sp>
    </p:spTree>
    <p:extLst>
      <p:ext uri="{BB962C8B-B14F-4D97-AF65-F5344CB8AC3E}">
        <p14:creationId xmlns:p14="http://schemas.microsoft.com/office/powerpoint/2010/main" val="182984222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CF72758-E93F-FD70-E7C7-50CA507998A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8DD2A1C-B809-343D-7F29-B861B2F0AD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0E03E488-1DBD-1773-86F0-F8BCD930DF3E}"/>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sp>
        <p:nvSpPr>
          <p:cNvPr id="70" name="5.1 Das Document Object Model…">
            <a:extLst>
              <a:ext uri="{FF2B5EF4-FFF2-40B4-BE49-F238E27FC236}">
                <a16:creationId xmlns:a16="http://schemas.microsoft.com/office/drawing/2014/main" id="{87791688-6A63-4DB3-2DD9-DF4FDF113E9B}"/>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background</a:t>
            </a:r>
            <a:endParaRPr sz="5400" dirty="0"/>
          </a:p>
        </p:txBody>
      </p:sp>
      <p:pic>
        <p:nvPicPr>
          <p:cNvPr id="4" name="Bild" descr="Bild">
            <a:extLst>
              <a:ext uri="{FF2B5EF4-FFF2-40B4-BE49-F238E27FC236}">
                <a16:creationId xmlns:a16="http://schemas.microsoft.com/office/drawing/2014/main" id="{82DE0779-B651-9F30-6FD1-D0E76ED81807}"/>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FA19E375-8C2B-820A-0D18-A2CE81896AB5}"/>
              </a:ext>
            </a:extLst>
          </p:cNvPr>
          <p:cNvSpPr txBox="1"/>
          <p:nvPr/>
        </p:nvSpPr>
        <p:spPr>
          <a:xfrm>
            <a:off x="670356" y="2723316"/>
            <a:ext cx="20471047" cy="7815516"/>
          </a:xfrm>
          <a:prstGeom prst="rect">
            <a:avLst/>
          </a:prstGeom>
          <a:ln w="12700">
            <a:miter lim="400000"/>
          </a:ln>
          <a:extLst>
            <a:ext uri="{C572A759-6A51-4108-AA02-DFA0A04FC94B}">
              <ma14:wrappingTextBoxFlag xmlns:mc="http://schemas.openxmlformats.org/markup-compatibility/2006" xmlns:a14="http://schemas.microsoft.com/office/drawing/2010/main" xmlns:ma14="http://schemas.microsoft.com/office/mac/drawingml/2011/main" xmlns:m="http://schemas.openxmlformats.org/officeDocument/2006/math" xmlns="" val="1"/>
            </a:ext>
          </a:extLst>
        </p:spPr>
        <p:txBody>
          <a:bodyPr lIns="45719" rIns="45719" anchor="t"/>
          <a:lstStyle/>
          <a:p>
            <a:pPr algn="l" defTabSz="457200">
              <a:spcBef>
                <a:spcPts val="300"/>
              </a:spcBef>
              <a:buSzPct val="100000"/>
              <a:defRPr sz="3000"/>
            </a:pPr>
            <a:r>
              <a:rPr lang="en-US" sz="4800" dirty="0"/>
              <a:t>How does the brain distinguish nouns and verbs? </a:t>
            </a:r>
            <a:r>
              <a:rPr lang="en-US" sz="4800" b="1" dirty="0"/>
              <a:t>It’s complicated…</a:t>
            </a:r>
          </a:p>
          <a:p>
            <a:pPr algn="l" defTabSz="457200">
              <a:spcBef>
                <a:spcPts val="300"/>
              </a:spcBef>
              <a:buSzPct val="100000"/>
              <a:defRPr sz="3000"/>
            </a:pPr>
            <a:endParaRPr lang="en-US" sz="4800" b="1" dirty="0"/>
          </a:p>
          <a:p>
            <a:pPr algn="l" defTabSz="457200">
              <a:spcBef>
                <a:spcPts val="300"/>
              </a:spcBef>
              <a:buSzPct val="100000"/>
              <a:defRPr sz="3000"/>
            </a:pPr>
            <a:r>
              <a:rPr lang="en-US" sz="4800" b="1" dirty="0">
                <a:solidFill>
                  <a:srgbClr val="C00000"/>
                </a:solidFill>
              </a:rPr>
              <a:t>Fronto-Temporal Dichotomy</a:t>
            </a:r>
          </a:p>
          <a:p>
            <a:pPr algn="l" defTabSz="457200">
              <a:spcBef>
                <a:spcPts val="300"/>
              </a:spcBef>
              <a:buSzPct val="100000"/>
              <a:defRPr sz="3000"/>
            </a:pPr>
            <a:r>
              <a:rPr lang="en-US" sz="4800" dirty="0">
                <a:solidFill>
                  <a:srgbClr val="C00000"/>
                </a:solidFill>
              </a:rPr>
              <a:t>Damasio and Tranel (1993)</a:t>
            </a:r>
          </a:p>
          <a:p>
            <a:pPr algn="l" defTabSz="457200">
              <a:lnSpc>
                <a:spcPct val="150000"/>
              </a:lnSpc>
              <a:spcBef>
                <a:spcPts val="300"/>
              </a:spcBef>
              <a:buSzPct val="100000"/>
              <a:defRPr sz="3000"/>
            </a:pPr>
            <a:r>
              <a:rPr lang="en-US" sz="4800" dirty="0">
                <a:solidFill>
                  <a:schemeClr val="tx1"/>
                </a:solidFill>
              </a:rPr>
              <a:t>Patients with </a:t>
            </a:r>
            <a:r>
              <a:rPr lang="en-US" sz="4800" b="1" dirty="0">
                <a:solidFill>
                  <a:schemeClr val="tx1"/>
                </a:solidFill>
              </a:rPr>
              <a:t>brain lesions</a:t>
            </a:r>
            <a:r>
              <a:rPr lang="en-US" sz="4800" dirty="0">
                <a:solidFill>
                  <a:schemeClr val="tx1"/>
                </a:solidFill>
              </a:rPr>
              <a:t> doing </a:t>
            </a:r>
            <a:r>
              <a:rPr lang="en-US" sz="4800" b="1" dirty="0">
                <a:solidFill>
                  <a:schemeClr val="tx1"/>
                </a:solidFill>
              </a:rPr>
              <a:t>object </a:t>
            </a:r>
            <a:r>
              <a:rPr lang="en-US" sz="4800" dirty="0">
                <a:solidFill>
                  <a:schemeClr val="tx1"/>
                </a:solidFill>
              </a:rPr>
              <a:t>and </a:t>
            </a:r>
            <a:r>
              <a:rPr lang="en-US" sz="4800" b="1" dirty="0">
                <a:solidFill>
                  <a:schemeClr val="tx1"/>
                </a:solidFill>
              </a:rPr>
              <a:t>action </a:t>
            </a:r>
            <a:r>
              <a:rPr lang="en-US" sz="4800" dirty="0">
                <a:solidFill>
                  <a:schemeClr val="tx1"/>
                </a:solidFill>
              </a:rPr>
              <a:t>naming tasks</a:t>
            </a:r>
          </a:p>
          <a:p>
            <a:pPr algn="l" defTabSz="457200">
              <a:lnSpc>
                <a:spcPct val="150000"/>
              </a:lnSpc>
              <a:spcBef>
                <a:spcPts val="300"/>
              </a:spcBef>
              <a:buSzPct val="100000"/>
              <a:defRPr sz="3000"/>
            </a:pPr>
            <a:r>
              <a:rPr lang="en-US" sz="4800" dirty="0">
                <a:solidFill>
                  <a:schemeClr val="tx1"/>
                </a:solidFill>
              </a:rPr>
              <a:t>→ </a:t>
            </a:r>
            <a:r>
              <a:rPr lang="en-US" sz="4800" b="1" dirty="0">
                <a:solidFill>
                  <a:schemeClr val="tx1"/>
                </a:solidFill>
              </a:rPr>
              <a:t>Temporal</a:t>
            </a:r>
            <a:r>
              <a:rPr lang="en-US" sz="4800" dirty="0">
                <a:solidFill>
                  <a:schemeClr val="tx1"/>
                </a:solidFill>
              </a:rPr>
              <a:t> regions involved in the retrieval of </a:t>
            </a:r>
            <a:r>
              <a:rPr lang="en-US" sz="4800" b="1" dirty="0">
                <a:solidFill>
                  <a:schemeClr val="tx1"/>
                </a:solidFill>
              </a:rPr>
              <a:t>nouns</a:t>
            </a:r>
            <a:r>
              <a:rPr lang="en-US" sz="4800" dirty="0">
                <a:solidFill>
                  <a:schemeClr val="tx1"/>
                </a:solidFill>
              </a:rPr>
              <a:t> </a:t>
            </a:r>
          </a:p>
          <a:p>
            <a:pPr algn="l" defTabSz="457200">
              <a:lnSpc>
                <a:spcPct val="150000"/>
              </a:lnSpc>
              <a:spcBef>
                <a:spcPts val="300"/>
              </a:spcBef>
              <a:buSzPct val="100000"/>
              <a:defRPr sz="3000"/>
            </a:pPr>
            <a:r>
              <a:rPr lang="en-US" sz="4800" dirty="0">
                <a:solidFill>
                  <a:schemeClr val="tx1"/>
                </a:solidFill>
              </a:rPr>
              <a:t>→ </a:t>
            </a:r>
            <a:r>
              <a:rPr lang="en-US" sz="4800" b="1" dirty="0">
                <a:solidFill>
                  <a:schemeClr val="tx1"/>
                </a:solidFill>
              </a:rPr>
              <a:t>Frontal</a:t>
            </a:r>
            <a:r>
              <a:rPr lang="en-US" sz="4800" dirty="0">
                <a:solidFill>
                  <a:schemeClr val="tx1"/>
                </a:solidFill>
              </a:rPr>
              <a:t> regions involved in the retrieval of </a:t>
            </a:r>
            <a:r>
              <a:rPr lang="en-US" sz="4800" b="1" dirty="0">
                <a:solidFill>
                  <a:schemeClr val="tx1"/>
                </a:solidFill>
              </a:rPr>
              <a:t>verbs</a:t>
            </a:r>
            <a:r>
              <a:rPr lang="en-US" sz="4800" dirty="0">
                <a:solidFill>
                  <a:schemeClr val="tx1"/>
                </a:solidFill>
              </a:rPr>
              <a:t> </a:t>
            </a:r>
          </a:p>
          <a:p>
            <a:pPr algn="l" defTabSz="457200">
              <a:lnSpc>
                <a:spcPct val="150000"/>
              </a:lnSpc>
              <a:spcBef>
                <a:spcPts val="300"/>
              </a:spcBef>
              <a:buSzPct val="100000"/>
              <a:defRPr sz="3000"/>
            </a:pPr>
            <a:endParaRPr lang="en-US" sz="4800" dirty="0">
              <a:solidFill>
                <a:schemeClr val="tx1"/>
              </a:solidFill>
            </a:endParaRPr>
          </a:p>
        </p:txBody>
      </p:sp>
    </p:spTree>
    <p:extLst>
      <p:ext uri="{BB962C8B-B14F-4D97-AF65-F5344CB8AC3E}">
        <p14:creationId xmlns:p14="http://schemas.microsoft.com/office/powerpoint/2010/main" val="331416664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B21AC86-8483-20D5-2B95-6D3362D34DD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9F1571C-1355-50DB-1917-13357BD882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2895C0FD-BABD-F90A-9916-E5A2AFA594D9}"/>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sp>
        <p:nvSpPr>
          <p:cNvPr id="70" name="5.1 Das Document Object Model…">
            <a:extLst>
              <a:ext uri="{FF2B5EF4-FFF2-40B4-BE49-F238E27FC236}">
                <a16:creationId xmlns:a16="http://schemas.microsoft.com/office/drawing/2014/main" id="{F46DA8E3-9E86-8C16-7324-9568437D09D0}"/>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background</a:t>
            </a:r>
          </a:p>
        </p:txBody>
      </p:sp>
      <p:pic>
        <p:nvPicPr>
          <p:cNvPr id="4" name="Bild" descr="Bild">
            <a:extLst>
              <a:ext uri="{FF2B5EF4-FFF2-40B4-BE49-F238E27FC236}">
                <a16:creationId xmlns:a16="http://schemas.microsoft.com/office/drawing/2014/main" id="{21A5F48B-3E91-A653-678B-25D01775C53E}"/>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08A3CB5E-0C18-0CDC-F299-BB69C1CB4CE7}"/>
              </a:ext>
            </a:extLst>
          </p:cNvPr>
          <p:cNvSpPr txBox="1"/>
          <p:nvPr/>
        </p:nvSpPr>
        <p:spPr>
          <a:xfrm>
            <a:off x="670356" y="2723316"/>
            <a:ext cx="204710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spcBef>
                <a:spcPts val="300"/>
              </a:spcBef>
              <a:buSzPct val="100000"/>
              <a:defRPr sz="3000"/>
            </a:pPr>
            <a:r>
              <a:rPr lang="en-US" sz="4800" dirty="0"/>
              <a:t>How does the brain distinguish nouns and verbs? </a:t>
            </a:r>
            <a:r>
              <a:rPr lang="en-US" sz="4800" b="1" dirty="0"/>
              <a:t>It’s complicated…</a:t>
            </a:r>
          </a:p>
          <a:p>
            <a:pPr algn="l" defTabSz="457200">
              <a:spcBef>
                <a:spcPts val="300"/>
              </a:spcBef>
              <a:buSzPct val="100000"/>
              <a:defRPr sz="3000"/>
            </a:pPr>
            <a:endParaRPr lang="en-US" sz="4800" b="1" dirty="0"/>
          </a:p>
          <a:p>
            <a:pPr algn="l" defTabSz="457200">
              <a:spcBef>
                <a:spcPts val="300"/>
              </a:spcBef>
              <a:buSzPct val="100000"/>
              <a:defRPr sz="3000"/>
            </a:pPr>
            <a:r>
              <a:rPr lang="en-US" sz="4800" b="1" dirty="0">
                <a:solidFill>
                  <a:srgbClr val="C00000"/>
                </a:solidFill>
              </a:rPr>
              <a:t>Fronto-Temporal Dichotomy</a:t>
            </a:r>
          </a:p>
          <a:p>
            <a:pPr algn="l" defTabSz="457200">
              <a:spcBef>
                <a:spcPts val="300"/>
              </a:spcBef>
              <a:buSzPct val="100000"/>
              <a:defRPr sz="3000"/>
            </a:pPr>
            <a:r>
              <a:rPr lang="en-US" sz="4800" dirty="0">
                <a:solidFill>
                  <a:srgbClr val="C00000"/>
                </a:solidFill>
              </a:rPr>
              <a:t>Damasio and Tranel (1993)</a:t>
            </a:r>
          </a:p>
          <a:p>
            <a:pPr algn="l" defTabSz="457200">
              <a:lnSpc>
                <a:spcPct val="150000"/>
              </a:lnSpc>
              <a:spcBef>
                <a:spcPts val="300"/>
              </a:spcBef>
              <a:buSzPct val="100000"/>
              <a:defRPr sz="3000"/>
            </a:pPr>
            <a:r>
              <a:rPr lang="en-US" sz="4800" dirty="0">
                <a:solidFill>
                  <a:schemeClr val="tx1"/>
                </a:solidFill>
              </a:rPr>
              <a:t>Patients with </a:t>
            </a:r>
            <a:r>
              <a:rPr lang="en-US" sz="4800" b="1" dirty="0">
                <a:solidFill>
                  <a:schemeClr val="tx1"/>
                </a:solidFill>
              </a:rPr>
              <a:t>brain lesions</a:t>
            </a:r>
            <a:r>
              <a:rPr lang="en-US" sz="4800" dirty="0">
                <a:solidFill>
                  <a:schemeClr val="tx1"/>
                </a:solidFill>
              </a:rPr>
              <a:t> doing </a:t>
            </a:r>
            <a:r>
              <a:rPr lang="en-US" sz="4800" b="1" dirty="0">
                <a:solidFill>
                  <a:schemeClr val="tx1"/>
                </a:solidFill>
              </a:rPr>
              <a:t>object </a:t>
            </a:r>
            <a:r>
              <a:rPr lang="en-US" sz="4800" dirty="0">
                <a:solidFill>
                  <a:schemeClr val="tx1"/>
                </a:solidFill>
              </a:rPr>
              <a:t>and </a:t>
            </a:r>
            <a:r>
              <a:rPr lang="en-US" sz="4800" b="1" dirty="0">
                <a:solidFill>
                  <a:schemeClr val="tx1"/>
                </a:solidFill>
              </a:rPr>
              <a:t>action </a:t>
            </a:r>
            <a:r>
              <a:rPr lang="en-US" sz="4800" dirty="0">
                <a:solidFill>
                  <a:schemeClr val="tx1"/>
                </a:solidFill>
              </a:rPr>
              <a:t>naming tasks</a:t>
            </a:r>
          </a:p>
          <a:p>
            <a:pPr algn="l" defTabSz="457200">
              <a:lnSpc>
                <a:spcPct val="150000"/>
              </a:lnSpc>
              <a:spcBef>
                <a:spcPts val="300"/>
              </a:spcBef>
              <a:buSzPct val="100000"/>
              <a:defRPr sz="3000"/>
            </a:pPr>
            <a:r>
              <a:rPr lang="en-US" sz="4800" dirty="0">
                <a:solidFill>
                  <a:schemeClr val="tx1"/>
                </a:solidFill>
              </a:rPr>
              <a:t>→ </a:t>
            </a:r>
            <a:r>
              <a:rPr lang="en-US" sz="4800" b="1" dirty="0">
                <a:solidFill>
                  <a:schemeClr val="tx1"/>
                </a:solidFill>
              </a:rPr>
              <a:t>Temporal</a:t>
            </a:r>
            <a:r>
              <a:rPr lang="en-US" sz="4800" dirty="0">
                <a:solidFill>
                  <a:schemeClr val="tx1"/>
                </a:solidFill>
              </a:rPr>
              <a:t> regions involved in the retrieval of </a:t>
            </a:r>
            <a:r>
              <a:rPr lang="en-US" sz="4800" b="1" dirty="0">
                <a:solidFill>
                  <a:schemeClr val="tx1"/>
                </a:solidFill>
              </a:rPr>
              <a:t>nouns</a:t>
            </a:r>
            <a:r>
              <a:rPr lang="en-US" sz="4800" dirty="0">
                <a:solidFill>
                  <a:schemeClr val="tx1"/>
                </a:solidFill>
              </a:rPr>
              <a:t> </a:t>
            </a:r>
          </a:p>
          <a:p>
            <a:pPr algn="l" defTabSz="457200">
              <a:lnSpc>
                <a:spcPct val="150000"/>
              </a:lnSpc>
              <a:spcBef>
                <a:spcPts val="300"/>
              </a:spcBef>
              <a:buSzPct val="100000"/>
              <a:defRPr sz="3000"/>
            </a:pPr>
            <a:r>
              <a:rPr lang="en-US" sz="4800" dirty="0">
                <a:solidFill>
                  <a:schemeClr val="tx1"/>
                </a:solidFill>
              </a:rPr>
              <a:t>→ </a:t>
            </a:r>
            <a:r>
              <a:rPr lang="en-US" sz="4800" b="1" dirty="0">
                <a:solidFill>
                  <a:schemeClr val="tx1"/>
                </a:solidFill>
              </a:rPr>
              <a:t>Frontal</a:t>
            </a:r>
            <a:r>
              <a:rPr lang="en-US" sz="4800" dirty="0">
                <a:solidFill>
                  <a:schemeClr val="tx1"/>
                </a:solidFill>
              </a:rPr>
              <a:t> regions involved in the retrieval of </a:t>
            </a:r>
            <a:r>
              <a:rPr lang="en-US" sz="4800" b="1" dirty="0">
                <a:solidFill>
                  <a:schemeClr val="tx1"/>
                </a:solidFill>
              </a:rPr>
              <a:t>verbs</a:t>
            </a:r>
            <a:r>
              <a:rPr lang="en-US" sz="4800" dirty="0">
                <a:solidFill>
                  <a:schemeClr val="tx1"/>
                </a:solidFill>
              </a:rPr>
              <a:t> </a:t>
            </a:r>
          </a:p>
          <a:p>
            <a:pPr algn="l" defTabSz="457200">
              <a:spcBef>
                <a:spcPts val="300"/>
              </a:spcBef>
              <a:buSzPct val="100000"/>
              <a:defRPr sz="3000"/>
            </a:pPr>
            <a:endParaRPr lang="en-US" sz="4800" i="1" dirty="0">
              <a:solidFill>
                <a:schemeClr val="tx1"/>
              </a:solidFill>
            </a:endParaRPr>
          </a:p>
          <a:p>
            <a:pPr algn="l" defTabSz="457200">
              <a:spcBef>
                <a:spcPts val="300"/>
              </a:spcBef>
              <a:buSzPct val="100000"/>
              <a:defRPr sz="3000"/>
            </a:pPr>
            <a:r>
              <a:rPr lang="en-US" sz="4800" i="1" dirty="0">
                <a:solidFill>
                  <a:schemeClr val="tx1"/>
                </a:solidFill>
              </a:rPr>
              <a:t>What is driving the distinction?</a:t>
            </a:r>
          </a:p>
          <a:p>
            <a:pPr algn="l" defTabSz="457200">
              <a:spcBef>
                <a:spcPts val="300"/>
              </a:spcBef>
              <a:buSzPct val="100000"/>
              <a:defRPr sz="3000"/>
            </a:pPr>
            <a:endParaRPr lang="en-US" sz="4800" i="1" dirty="0">
              <a:solidFill>
                <a:schemeClr val="tx1"/>
              </a:solidFill>
            </a:endParaRPr>
          </a:p>
          <a:p>
            <a:pPr algn="l" defTabSz="457200">
              <a:spcBef>
                <a:spcPts val="300"/>
              </a:spcBef>
              <a:buSzPct val="100000"/>
              <a:defRPr sz="3000"/>
            </a:pPr>
            <a:endParaRPr lang="en-US" sz="4800" b="1" dirty="0">
              <a:solidFill>
                <a:schemeClr val="tx1"/>
              </a:solidFill>
            </a:endParaRPr>
          </a:p>
        </p:txBody>
      </p:sp>
    </p:spTree>
    <p:extLst>
      <p:ext uri="{BB962C8B-B14F-4D97-AF65-F5344CB8AC3E}">
        <p14:creationId xmlns:p14="http://schemas.microsoft.com/office/powerpoint/2010/main" val="35642309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3995BDA-F342-7AD2-B81E-405703814BB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9406312-D9FF-E9F2-7D3E-FC877DF0EB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23A55606-58B3-1A63-B473-85E1E7927B4F}"/>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a:t>
            </a:fld>
            <a:endParaRPr/>
          </a:p>
        </p:txBody>
      </p:sp>
      <p:sp>
        <p:nvSpPr>
          <p:cNvPr id="70" name="5.1 Das Document Object Model…">
            <a:extLst>
              <a:ext uri="{FF2B5EF4-FFF2-40B4-BE49-F238E27FC236}">
                <a16:creationId xmlns:a16="http://schemas.microsoft.com/office/drawing/2014/main" id="{28415B82-0DEC-3C34-7451-7B6BCEA597E2}"/>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background</a:t>
            </a:r>
          </a:p>
        </p:txBody>
      </p:sp>
      <p:pic>
        <p:nvPicPr>
          <p:cNvPr id="4" name="Bild" descr="Bild">
            <a:extLst>
              <a:ext uri="{FF2B5EF4-FFF2-40B4-BE49-F238E27FC236}">
                <a16:creationId xmlns:a16="http://schemas.microsoft.com/office/drawing/2014/main" id="{55AEB3AA-0472-B6A4-E5AC-B8978CAD4523}"/>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4667E164-1F1E-F040-CA6F-2E31C419B911}"/>
              </a:ext>
            </a:extLst>
          </p:cNvPr>
          <p:cNvSpPr txBox="1"/>
          <p:nvPr/>
        </p:nvSpPr>
        <p:spPr>
          <a:xfrm>
            <a:off x="670356" y="2723316"/>
            <a:ext cx="20471047" cy="7815516"/>
          </a:xfrm>
          <a:prstGeom prst="rect">
            <a:avLst/>
          </a:prstGeom>
          <a:ln w="12700">
            <a:miter lim="400000"/>
          </a:ln>
          <a:extLst>
            <a:ext uri="{C572A759-6A51-4108-AA02-DFA0A04FC94B}">
              <ma14:wrappingTextBoxFlag xmlns:mc="http://schemas.openxmlformats.org/markup-compatibility/2006" xmlns:a14="http://schemas.microsoft.com/office/drawing/2010/main" xmlns:ma14="http://schemas.microsoft.com/office/mac/drawingml/2011/main" xmlns:m="http://schemas.openxmlformats.org/officeDocument/2006/math" xmlns="" val="1"/>
            </a:ext>
          </a:extLst>
        </p:spPr>
        <p:txBody>
          <a:bodyPr lIns="45719" rIns="45719" anchor="t"/>
          <a:lstStyle/>
          <a:p>
            <a:pPr algn="l" defTabSz="457200">
              <a:spcBef>
                <a:spcPts val="300"/>
              </a:spcBef>
              <a:buSzPct val="100000"/>
              <a:defRPr sz="3000"/>
            </a:pPr>
            <a:r>
              <a:rPr lang="en-US" sz="4800" dirty="0"/>
              <a:t>How does the brain distinguish nouns and verbs? </a:t>
            </a:r>
            <a:r>
              <a:rPr lang="en-US" sz="4800" b="1" dirty="0"/>
              <a:t>It’s complicated…</a:t>
            </a:r>
          </a:p>
          <a:p>
            <a:pPr algn="l" defTabSz="457200">
              <a:spcBef>
                <a:spcPts val="300"/>
              </a:spcBef>
              <a:buSzPct val="100000"/>
              <a:defRPr sz="3000"/>
            </a:pPr>
            <a:endParaRPr lang="en-US" sz="4800" b="1" dirty="0"/>
          </a:p>
          <a:p>
            <a:pPr algn="l" defTabSz="457200">
              <a:spcBef>
                <a:spcPts val="300"/>
              </a:spcBef>
              <a:buSzPct val="100000"/>
              <a:defRPr sz="3000"/>
            </a:pPr>
            <a:r>
              <a:rPr lang="en-US" sz="4800" b="1" dirty="0">
                <a:solidFill>
                  <a:srgbClr val="C00000"/>
                </a:solidFill>
              </a:rPr>
              <a:t>Emergentist View</a:t>
            </a:r>
          </a:p>
          <a:p>
            <a:pPr algn="l" defTabSz="457200">
              <a:spcBef>
                <a:spcPts val="300"/>
              </a:spcBef>
              <a:buSzPct val="100000"/>
              <a:defRPr sz="3000"/>
            </a:pPr>
            <a:r>
              <a:rPr lang="en-US" sz="4800" dirty="0">
                <a:solidFill>
                  <a:srgbClr val="C00000"/>
                </a:solidFill>
              </a:rPr>
              <a:t>Bird et al. (2000), Vigliocco et al. (2011)</a:t>
            </a:r>
          </a:p>
          <a:p>
            <a:pPr algn="l" defTabSz="457200">
              <a:lnSpc>
                <a:spcPct val="150000"/>
              </a:lnSpc>
              <a:spcBef>
                <a:spcPts val="300"/>
              </a:spcBef>
              <a:buSzPct val="100000"/>
              <a:defRPr sz="3000"/>
            </a:pPr>
            <a:r>
              <a:rPr lang="en-US" sz="4800" dirty="0">
                <a:solidFill>
                  <a:schemeClr val="tx1"/>
                </a:solidFill>
              </a:rPr>
              <a:t>Noun / Verb distinction is not </a:t>
            </a:r>
            <a:r>
              <a:rPr lang="en-US" sz="4800" b="1" dirty="0">
                <a:solidFill>
                  <a:schemeClr val="tx1"/>
                </a:solidFill>
              </a:rPr>
              <a:t>lexical</a:t>
            </a:r>
            <a:r>
              <a:rPr lang="en-US" sz="4800" dirty="0">
                <a:solidFill>
                  <a:schemeClr val="tx1"/>
                </a:solidFill>
              </a:rPr>
              <a:t> but </a:t>
            </a:r>
            <a:r>
              <a:rPr lang="en-US" sz="4800" b="1" dirty="0">
                <a:solidFill>
                  <a:schemeClr val="tx1"/>
                </a:solidFill>
              </a:rPr>
              <a:t>semantic</a:t>
            </a:r>
            <a:endParaRPr lang="en-US" sz="4800" dirty="0">
              <a:solidFill>
                <a:schemeClr val="tx1"/>
              </a:solidFill>
            </a:endParaRPr>
          </a:p>
          <a:p>
            <a:pPr algn="l" defTabSz="457200">
              <a:lnSpc>
                <a:spcPct val="150000"/>
              </a:lnSpc>
              <a:spcBef>
                <a:spcPts val="300"/>
              </a:spcBef>
              <a:buSzPct val="100000"/>
              <a:defRPr sz="3000"/>
            </a:pPr>
            <a:r>
              <a:rPr lang="en-US" sz="4800" dirty="0">
                <a:solidFill>
                  <a:schemeClr val="tx1"/>
                </a:solidFill>
              </a:rPr>
              <a:t>→ Nouns</a:t>
            </a:r>
            <a:r>
              <a:rPr lang="en-US" sz="4800" b="1" dirty="0">
                <a:solidFill>
                  <a:schemeClr val="tx1"/>
                </a:solidFill>
              </a:rPr>
              <a:t> </a:t>
            </a:r>
            <a:r>
              <a:rPr lang="en-US" sz="4800" dirty="0">
                <a:solidFill>
                  <a:schemeClr val="tx1"/>
                </a:solidFill>
              </a:rPr>
              <a:t>are </a:t>
            </a:r>
            <a:r>
              <a:rPr lang="en-US" sz="4800" b="1" dirty="0">
                <a:solidFill>
                  <a:schemeClr val="tx1"/>
                </a:solidFill>
              </a:rPr>
              <a:t>more</a:t>
            </a:r>
            <a:r>
              <a:rPr lang="en-US" sz="4800" dirty="0">
                <a:solidFill>
                  <a:schemeClr val="tx1"/>
                </a:solidFill>
              </a:rPr>
              <a:t> </a:t>
            </a:r>
            <a:r>
              <a:rPr lang="en-US" sz="4800" b="1" dirty="0">
                <a:solidFill>
                  <a:schemeClr val="tx1"/>
                </a:solidFill>
              </a:rPr>
              <a:t>imageable </a:t>
            </a:r>
            <a:r>
              <a:rPr lang="en-US" sz="4800" dirty="0">
                <a:solidFill>
                  <a:schemeClr val="tx1"/>
                </a:solidFill>
              </a:rPr>
              <a:t>and related to </a:t>
            </a:r>
            <a:r>
              <a:rPr lang="en-US" sz="4800" b="1" dirty="0">
                <a:solidFill>
                  <a:schemeClr val="tx1"/>
                </a:solidFill>
              </a:rPr>
              <a:t>objects</a:t>
            </a:r>
          </a:p>
          <a:p>
            <a:pPr algn="l" defTabSz="457200">
              <a:lnSpc>
                <a:spcPct val="150000"/>
              </a:lnSpc>
              <a:spcBef>
                <a:spcPts val="300"/>
              </a:spcBef>
              <a:buSzPct val="100000"/>
              <a:defRPr sz="3000"/>
            </a:pPr>
            <a:r>
              <a:rPr lang="en-US" sz="4800" dirty="0">
                <a:solidFill>
                  <a:schemeClr val="tx1"/>
                </a:solidFill>
              </a:rPr>
              <a:t>→ Verbs are </a:t>
            </a:r>
            <a:r>
              <a:rPr lang="en-US" sz="4800" b="1" dirty="0">
                <a:solidFill>
                  <a:schemeClr val="tx1"/>
                </a:solidFill>
              </a:rPr>
              <a:t>less</a:t>
            </a:r>
            <a:r>
              <a:rPr lang="en-US" sz="4800" dirty="0">
                <a:solidFill>
                  <a:schemeClr val="tx1"/>
                </a:solidFill>
              </a:rPr>
              <a:t> </a:t>
            </a:r>
            <a:r>
              <a:rPr lang="en-US" sz="4800" b="1" dirty="0">
                <a:solidFill>
                  <a:schemeClr val="tx1"/>
                </a:solidFill>
              </a:rPr>
              <a:t>imageable </a:t>
            </a:r>
            <a:r>
              <a:rPr lang="en-US" sz="4800" dirty="0">
                <a:solidFill>
                  <a:schemeClr val="tx1"/>
                </a:solidFill>
              </a:rPr>
              <a:t>and related to </a:t>
            </a:r>
            <a:r>
              <a:rPr lang="en-US" sz="4800" b="1" dirty="0">
                <a:solidFill>
                  <a:schemeClr val="tx1"/>
                </a:solidFill>
              </a:rPr>
              <a:t>actions</a:t>
            </a:r>
          </a:p>
          <a:p>
            <a:pPr algn="l" defTabSz="457200">
              <a:lnSpc>
                <a:spcPct val="150000"/>
              </a:lnSpc>
              <a:spcBef>
                <a:spcPts val="300"/>
              </a:spcBef>
              <a:buSzPct val="100000"/>
              <a:defRPr sz="3000"/>
            </a:pPr>
            <a:endParaRPr lang="en-US" sz="4800" b="1" dirty="0">
              <a:solidFill>
                <a:schemeClr val="tx1"/>
              </a:solidFill>
            </a:endParaRPr>
          </a:p>
          <a:p>
            <a:pPr algn="l" defTabSz="457200">
              <a:lnSpc>
                <a:spcPct val="150000"/>
              </a:lnSpc>
              <a:spcBef>
                <a:spcPts val="300"/>
              </a:spcBef>
              <a:buSzPct val="100000"/>
              <a:defRPr sz="3000"/>
            </a:pPr>
            <a:endParaRPr lang="en-US" sz="4800" dirty="0">
              <a:solidFill>
                <a:srgbClr val="C00000"/>
              </a:solidFill>
            </a:endParaRPr>
          </a:p>
          <a:p>
            <a:pPr algn="l" defTabSz="457200">
              <a:lnSpc>
                <a:spcPct val="150000"/>
              </a:lnSpc>
              <a:spcBef>
                <a:spcPts val="300"/>
              </a:spcBef>
              <a:buSzPct val="100000"/>
              <a:defRPr sz="3000"/>
            </a:pPr>
            <a:endParaRPr lang="en-US" sz="4800" dirty="0">
              <a:solidFill>
                <a:srgbClr val="C00000"/>
              </a:solidFill>
            </a:endParaRPr>
          </a:p>
        </p:txBody>
      </p:sp>
    </p:spTree>
    <p:extLst>
      <p:ext uri="{BB962C8B-B14F-4D97-AF65-F5344CB8AC3E}">
        <p14:creationId xmlns:p14="http://schemas.microsoft.com/office/powerpoint/2010/main" val="349630853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8767F44-A8BA-8C61-060E-B7140CB1D23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1F8E8B8-2443-A5A5-9E94-E92038F013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57FC200C-7DF7-4F2A-F184-21F263611332}"/>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7</a:t>
            </a:fld>
            <a:endParaRPr/>
          </a:p>
        </p:txBody>
      </p:sp>
      <p:sp>
        <p:nvSpPr>
          <p:cNvPr id="70" name="5.1 Das Document Object Model…">
            <a:extLst>
              <a:ext uri="{FF2B5EF4-FFF2-40B4-BE49-F238E27FC236}">
                <a16:creationId xmlns:a16="http://schemas.microsoft.com/office/drawing/2014/main" id="{8CD4DA99-9921-A4C4-CC55-6AAF049F6752}"/>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background</a:t>
            </a:r>
          </a:p>
        </p:txBody>
      </p:sp>
      <p:pic>
        <p:nvPicPr>
          <p:cNvPr id="4" name="Bild" descr="Bild">
            <a:extLst>
              <a:ext uri="{FF2B5EF4-FFF2-40B4-BE49-F238E27FC236}">
                <a16:creationId xmlns:a16="http://schemas.microsoft.com/office/drawing/2014/main" id="{29B61DD4-2F3B-2026-7ADF-33BC23AB2436}"/>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6E5E23BE-FAFE-FE04-E349-A9125A109000}"/>
              </a:ext>
            </a:extLst>
          </p:cNvPr>
          <p:cNvSpPr txBox="1"/>
          <p:nvPr/>
        </p:nvSpPr>
        <p:spPr>
          <a:xfrm>
            <a:off x="670356" y="2723316"/>
            <a:ext cx="23270299"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spcBef>
                <a:spcPts val="300"/>
              </a:spcBef>
              <a:buSzPct val="100000"/>
              <a:defRPr sz="3000"/>
            </a:pPr>
            <a:r>
              <a:rPr lang="en-US" sz="4800" dirty="0"/>
              <a:t>How does the brain distinguish nouns and verbs? </a:t>
            </a:r>
            <a:r>
              <a:rPr lang="en-US" sz="4800" b="1" dirty="0"/>
              <a:t>It’s complicated…</a:t>
            </a:r>
          </a:p>
          <a:p>
            <a:pPr algn="l" defTabSz="457200">
              <a:spcBef>
                <a:spcPts val="300"/>
              </a:spcBef>
              <a:buSzPct val="100000"/>
              <a:defRPr sz="3000"/>
            </a:pPr>
            <a:endParaRPr lang="en-US" sz="4800" b="1" dirty="0"/>
          </a:p>
          <a:p>
            <a:pPr algn="l" defTabSz="457200">
              <a:spcBef>
                <a:spcPts val="300"/>
              </a:spcBef>
              <a:buSzPct val="100000"/>
              <a:defRPr sz="3000"/>
            </a:pPr>
            <a:r>
              <a:rPr lang="en-US" sz="4800" b="1" dirty="0">
                <a:solidFill>
                  <a:srgbClr val="C00000"/>
                </a:solidFill>
              </a:rPr>
              <a:t>Combinatorial View</a:t>
            </a:r>
          </a:p>
          <a:p>
            <a:pPr algn="l" defTabSz="457200">
              <a:spcBef>
                <a:spcPts val="300"/>
              </a:spcBef>
              <a:buSzPct val="100000"/>
              <a:defRPr sz="3000"/>
            </a:pPr>
            <a:r>
              <a:rPr lang="en-US" sz="4800" dirty="0">
                <a:solidFill>
                  <a:srgbClr val="C00000"/>
                </a:solidFill>
              </a:rPr>
              <a:t>Shapiro and Caramazza (2003), Tyler et al. (2003)</a:t>
            </a:r>
          </a:p>
          <a:p>
            <a:pPr algn="l" defTabSz="457200">
              <a:lnSpc>
                <a:spcPct val="150000"/>
              </a:lnSpc>
              <a:spcBef>
                <a:spcPts val="300"/>
              </a:spcBef>
              <a:buSzPct val="100000"/>
              <a:defRPr sz="3000"/>
            </a:pPr>
            <a:r>
              <a:rPr lang="en-US" sz="4800" dirty="0">
                <a:solidFill>
                  <a:schemeClr val="tx1"/>
                </a:solidFill>
              </a:rPr>
              <a:t>Noun / Verb distinction driven by </a:t>
            </a:r>
            <a:r>
              <a:rPr lang="en-US" sz="4800" b="1" dirty="0">
                <a:solidFill>
                  <a:schemeClr val="tx1"/>
                </a:solidFill>
              </a:rPr>
              <a:t>computational </a:t>
            </a:r>
            <a:r>
              <a:rPr lang="en-US" sz="4800" dirty="0">
                <a:solidFill>
                  <a:schemeClr val="tx1"/>
                </a:solidFill>
              </a:rPr>
              <a:t>processes </a:t>
            </a:r>
          </a:p>
          <a:p>
            <a:pPr algn="l" defTabSz="457200">
              <a:lnSpc>
                <a:spcPct val="150000"/>
              </a:lnSpc>
              <a:spcBef>
                <a:spcPts val="300"/>
              </a:spcBef>
              <a:buSzPct val="100000"/>
              <a:defRPr sz="3000"/>
            </a:pPr>
            <a:r>
              <a:rPr lang="en-US" sz="4800" dirty="0">
                <a:solidFill>
                  <a:schemeClr val="tx1"/>
                </a:solidFill>
              </a:rPr>
              <a:t>→ Pseudowords: </a:t>
            </a:r>
            <a:r>
              <a:rPr lang="en-US" sz="4800" i="1" dirty="0">
                <a:solidFill>
                  <a:schemeClr val="tx1"/>
                </a:solidFill>
              </a:rPr>
              <a:t>he</a:t>
            </a:r>
            <a:r>
              <a:rPr lang="en-US" sz="4800" dirty="0">
                <a:solidFill>
                  <a:schemeClr val="tx1"/>
                </a:solidFill>
              </a:rPr>
              <a:t> </a:t>
            </a:r>
            <a:r>
              <a:rPr lang="en-US" sz="4800" i="1" dirty="0">
                <a:solidFill>
                  <a:schemeClr val="tx1"/>
                </a:solidFill>
              </a:rPr>
              <a:t>wugged </a:t>
            </a:r>
            <a:r>
              <a:rPr lang="en-US" sz="4800" dirty="0">
                <a:solidFill>
                  <a:schemeClr val="tx1"/>
                </a:solidFill>
              </a:rPr>
              <a:t>and </a:t>
            </a:r>
            <a:r>
              <a:rPr lang="en-US" sz="4800" i="1" dirty="0">
                <a:solidFill>
                  <a:schemeClr val="tx1"/>
                </a:solidFill>
              </a:rPr>
              <a:t>the wugs </a:t>
            </a:r>
            <a:r>
              <a:rPr lang="en-US" sz="4800" dirty="0">
                <a:solidFill>
                  <a:schemeClr val="tx1"/>
                </a:solidFill>
              </a:rPr>
              <a:t>represented in distinct brain areas</a:t>
            </a:r>
          </a:p>
          <a:p>
            <a:pPr algn="l" defTabSz="457200">
              <a:lnSpc>
                <a:spcPct val="150000"/>
              </a:lnSpc>
              <a:spcBef>
                <a:spcPts val="300"/>
              </a:spcBef>
              <a:buSzPct val="100000"/>
              <a:defRPr sz="3000"/>
            </a:pPr>
            <a:r>
              <a:rPr lang="en-US" sz="4800" dirty="0">
                <a:solidFill>
                  <a:schemeClr val="tx1"/>
                </a:solidFill>
              </a:rPr>
              <a:t>→ Verbs are more </a:t>
            </a:r>
            <a:r>
              <a:rPr lang="en-US" sz="4800" b="1" dirty="0">
                <a:solidFill>
                  <a:schemeClr val="tx1"/>
                </a:solidFill>
              </a:rPr>
              <a:t>computationally demanding </a:t>
            </a:r>
          </a:p>
          <a:p>
            <a:pPr algn="l" defTabSz="457200">
              <a:lnSpc>
                <a:spcPct val="150000"/>
              </a:lnSpc>
              <a:spcBef>
                <a:spcPts val="300"/>
              </a:spcBef>
              <a:buSzPct val="100000"/>
              <a:defRPr sz="3000"/>
            </a:pPr>
            <a:endParaRPr lang="en-US" sz="4800" i="1" dirty="0">
              <a:solidFill>
                <a:schemeClr val="tx1"/>
              </a:solidFill>
            </a:endParaRPr>
          </a:p>
          <a:p>
            <a:pPr algn="l" defTabSz="457200">
              <a:lnSpc>
                <a:spcPct val="150000"/>
              </a:lnSpc>
              <a:spcBef>
                <a:spcPts val="300"/>
              </a:spcBef>
              <a:buSzPct val="100000"/>
              <a:defRPr sz="3000"/>
            </a:pPr>
            <a:endParaRPr lang="en-US" sz="4800" dirty="0">
              <a:solidFill>
                <a:schemeClr val="tx1"/>
              </a:solidFill>
            </a:endParaRPr>
          </a:p>
          <a:p>
            <a:pPr algn="l" defTabSz="457200">
              <a:lnSpc>
                <a:spcPct val="150000"/>
              </a:lnSpc>
              <a:spcBef>
                <a:spcPts val="300"/>
              </a:spcBef>
              <a:buSzPct val="100000"/>
              <a:defRPr sz="3000"/>
            </a:pPr>
            <a:endParaRPr lang="en-US" sz="4800" dirty="0">
              <a:solidFill>
                <a:schemeClr val="tx1"/>
              </a:solidFill>
            </a:endParaRPr>
          </a:p>
          <a:p>
            <a:pPr algn="l" defTabSz="457200">
              <a:spcBef>
                <a:spcPts val="300"/>
              </a:spcBef>
              <a:buSzPct val="100000"/>
              <a:defRPr sz="3000"/>
            </a:pPr>
            <a:endParaRPr lang="en-US" sz="4800" dirty="0">
              <a:solidFill>
                <a:srgbClr val="C00000"/>
              </a:solidFill>
            </a:endParaRPr>
          </a:p>
        </p:txBody>
      </p:sp>
    </p:spTree>
    <p:extLst>
      <p:ext uri="{BB962C8B-B14F-4D97-AF65-F5344CB8AC3E}">
        <p14:creationId xmlns:p14="http://schemas.microsoft.com/office/powerpoint/2010/main" val="365701825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BAE965-6E54-3B05-57ED-5F22588AE5B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EE83C29-DED1-68BE-7396-6F51906B80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A8BA5567-C925-C817-460A-D9C55723F625}"/>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8</a:t>
            </a:fld>
            <a:endParaRPr/>
          </a:p>
        </p:txBody>
      </p:sp>
      <p:sp>
        <p:nvSpPr>
          <p:cNvPr id="70" name="5.1 Das Document Object Model…">
            <a:extLst>
              <a:ext uri="{FF2B5EF4-FFF2-40B4-BE49-F238E27FC236}">
                <a16:creationId xmlns:a16="http://schemas.microsoft.com/office/drawing/2014/main" id="{8FC676E8-4B2C-84A5-0A5E-785EEA3421AC}"/>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background</a:t>
            </a:r>
          </a:p>
        </p:txBody>
      </p:sp>
      <p:pic>
        <p:nvPicPr>
          <p:cNvPr id="4" name="Bild" descr="Bild">
            <a:extLst>
              <a:ext uri="{FF2B5EF4-FFF2-40B4-BE49-F238E27FC236}">
                <a16:creationId xmlns:a16="http://schemas.microsoft.com/office/drawing/2014/main" id="{F4E27467-DFE7-6B3C-CF8E-E827B71A02D6}"/>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E5692C1F-5E99-1331-D54D-6CC039FE7E8B}"/>
              </a:ext>
            </a:extLst>
          </p:cNvPr>
          <p:cNvSpPr txBox="1"/>
          <p:nvPr/>
        </p:nvSpPr>
        <p:spPr>
          <a:xfrm>
            <a:off x="670356" y="2723316"/>
            <a:ext cx="204710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spcBef>
                <a:spcPts val="300"/>
              </a:spcBef>
              <a:buSzPct val="100000"/>
              <a:defRPr sz="3000"/>
            </a:pPr>
            <a:r>
              <a:rPr lang="en-US" sz="4800" dirty="0"/>
              <a:t>How does the brain distinguish nouns and verbs? </a:t>
            </a:r>
            <a:r>
              <a:rPr lang="en-US" sz="4800" b="1" dirty="0"/>
              <a:t>It’s complicated…</a:t>
            </a:r>
          </a:p>
          <a:p>
            <a:pPr algn="l" defTabSz="457200">
              <a:spcBef>
                <a:spcPts val="300"/>
              </a:spcBef>
              <a:buSzPct val="100000"/>
              <a:defRPr sz="3000"/>
            </a:pPr>
            <a:endParaRPr lang="en-US" sz="4800" b="1" dirty="0"/>
          </a:p>
          <a:p>
            <a:pPr algn="l" defTabSz="457200">
              <a:spcBef>
                <a:spcPts val="300"/>
              </a:spcBef>
              <a:buSzPct val="100000"/>
              <a:defRPr sz="3000"/>
            </a:pPr>
            <a:r>
              <a:rPr lang="en-US" sz="4800" b="1" dirty="0">
                <a:solidFill>
                  <a:srgbClr val="C00000"/>
                </a:solidFill>
              </a:rPr>
              <a:t>Distributed Account</a:t>
            </a:r>
          </a:p>
          <a:p>
            <a:pPr algn="l" defTabSz="457200">
              <a:spcBef>
                <a:spcPts val="300"/>
              </a:spcBef>
              <a:buSzPct val="100000"/>
              <a:defRPr sz="3000"/>
            </a:pPr>
            <a:r>
              <a:rPr lang="en-US" sz="4800" dirty="0">
                <a:solidFill>
                  <a:srgbClr val="C00000"/>
                </a:solidFill>
              </a:rPr>
              <a:t>Crepaldi et al. (2013)</a:t>
            </a:r>
          </a:p>
          <a:p>
            <a:pPr algn="l" defTabSz="457200">
              <a:lnSpc>
                <a:spcPct val="150000"/>
              </a:lnSpc>
              <a:spcBef>
                <a:spcPts val="300"/>
              </a:spcBef>
              <a:buSzPct val="100000"/>
              <a:defRPr sz="3000"/>
            </a:pPr>
            <a:r>
              <a:rPr lang="en-US" sz="4800" dirty="0">
                <a:solidFill>
                  <a:schemeClr val="tx1"/>
                </a:solidFill>
              </a:rPr>
              <a:t>Theory-blind meta-analysis based on 36 neuroimaging studies</a:t>
            </a:r>
          </a:p>
          <a:p>
            <a:pPr algn="l" defTabSz="457200">
              <a:lnSpc>
                <a:spcPct val="150000"/>
              </a:lnSpc>
              <a:spcBef>
                <a:spcPts val="300"/>
              </a:spcBef>
              <a:buSzPct val="100000"/>
              <a:defRPr sz="3000"/>
            </a:pPr>
            <a:r>
              <a:rPr lang="en-US" sz="4800" dirty="0">
                <a:solidFill>
                  <a:schemeClr val="tx1"/>
                </a:solidFill>
              </a:rPr>
              <a:t>→ 32 reliable </a:t>
            </a:r>
            <a:r>
              <a:rPr lang="en-US" sz="4800" b="1" dirty="0">
                <a:solidFill>
                  <a:schemeClr val="tx1"/>
                </a:solidFill>
              </a:rPr>
              <a:t>clusters: </a:t>
            </a:r>
          </a:p>
          <a:p>
            <a:pPr algn="l" defTabSz="457200">
              <a:spcBef>
                <a:spcPts val="300"/>
              </a:spcBef>
              <a:buSzPct val="100000"/>
              <a:defRPr sz="3000"/>
            </a:pPr>
            <a:r>
              <a:rPr lang="en-US" sz="4800" dirty="0">
                <a:solidFill>
                  <a:schemeClr val="tx1"/>
                </a:solidFill>
              </a:rPr>
              <a:t>				3 for </a:t>
            </a:r>
            <a:r>
              <a:rPr lang="en-US" sz="4800" b="1" dirty="0">
                <a:solidFill>
                  <a:schemeClr val="tx1"/>
                </a:solidFill>
              </a:rPr>
              <a:t>nouns </a:t>
            </a:r>
            <a:r>
              <a:rPr lang="en-US" sz="4800" dirty="0">
                <a:solidFill>
                  <a:schemeClr val="tx1"/>
                </a:solidFill>
              </a:rPr>
              <a:t>(R-ITG, L-AG, L-IPG)</a:t>
            </a:r>
            <a:endParaRPr lang="en-US" sz="4800" b="1" dirty="0">
              <a:solidFill>
                <a:schemeClr val="tx1"/>
              </a:solidFill>
            </a:endParaRPr>
          </a:p>
          <a:p>
            <a:pPr algn="l" defTabSz="457200">
              <a:spcBef>
                <a:spcPts val="300"/>
              </a:spcBef>
              <a:buSzPct val="100000"/>
              <a:defRPr sz="3000"/>
            </a:pPr>
            <a:r>
              <a:rPr lang="en-US" sz="4800" b="1" dirty="0">
                <a:solidFill>
                  <a:schemeClr val="tx1"/>
                </a:solidFill>
              </a:rPr>
              <a:t>				</a:t>
            </a:r>
            <a:r>
              <a:rPr lang="en-US" sz="4800" dirty="0">
                <a:solidFill>
                  <a:schemeClr val="tx1"/>
                </a:solidFill>
              </a:rPr>
              <a:t>1 for </a:t>
            </a:r>
            <a:r>
              <a:rPr lang="en-US" sz="4800" b="1" dirty="0">
                <a:solidFill>
                  <a:schemeClr val="tx1"/>
                </a:solidFill>
              </a:rPr>
              <a:t>verbs </a:t>
            </a:r>
            <a:r>
              <a:rPr lang="en-US" sz="4800" dirty="0">
                <a:solidFill>
                  <a:schemeClr val="tx1"/>
                </a:solidFill>
              </a:rPr>
              <a:t>(R-MTG)</a:t>
            </a:r>
          </a:p>
          <a:p>
            <a:pPr algn="l" defTabSz="457200">
              <a:spcBef>
                <a:spcPts val="300"/>
              </a:spcBef>
              <a:buSzPct val="100000"/>
              <a:defRPr sz="3000"/>
            </a:pPr>
            <a:r>
              <a:rPr lang="en-US" sz="4800" dirty="0">
                <a:solidFill>
                  <a:schemeClr val="tx1"/>
                </a:solidFill>
              </a:rPr>
              <a:t>				3 both </a:t>
            </a:r>
            <a:r>
              <a:rPr lang="en-US" sz="4800" b="1" dirty="0">
                <a:solidFill>
                  <a:schemeClr val="tx1"/>
                </a:solidFill>
              </a:rPr>
              <a:t>nouns </a:t>
            </a:r>
            <a:r>
              <a:rPr lang="en-US" sz="4800" dirty="0">
                <a:solidFill>
                  <a:schemeClr val="tx1"/>
                </a:solidFill>
              </a:rPr>
              <a:t>and </a:t>
            </a:r>
            <a:r>
              <a:rPr lang="en-US" sz="4800" b="1" dirty="0">
                <a:solidFill>
                  <a:schemeClr val="tx1"/>
                </a:solidFill>
              </a:rPr>
              <a:t>verbs</a:t>
            </a:r>
            <a:r>
              <a:rPr lang="en-US" sz="4800" dirty="0">
                <a:solidFill>
                  <a:schemeClr val="tx1"/>
                </a:solidFill>
              </a:rPr>
              <a:t>; Task dependent (L-IFG, R-IFG, L-Insula)</a:t>
            </a:r>
          </a:p>
          <a:p>
            <a:pPr algn="l" defTabSz="457200">
              <a:lnSpc>
                <a:spcPct val="150000"/>
              </a:lnSpc>
              <a:spcBef>
                <a:spcPts val="300"/>
              </a:spcBef>
              <a:buSzPct val="100000"/>
              <a:defRPr sz="3000"/>
            </a:pPr>
            <a:r>
              <a:rPr lang="en-US" sz="4800" dirty="0">
                <a:solidFill>
                  <a:schemeClr val="tx1"/>
                </a:solidFill>
              </a:rPr>
              <a:t>→ No support for </a:t>
            </a:r>
            <a:r>
              <a:rPr lang="en-US" sz="4800" b="1" dirty="0">
                <a:solidFill>
                  <a:schemeClr val="tx1"/>
                </a:solidFill>
              </a:rPr>
              <a:t>Fronto-Temporal </a:t>
            </a:r>
            <a:r>
              <a:rPr lang="en-US" sz="4800" dirty="0">
                <a:solidFill>
                  <a:schemeClr val="tx1"/>
                </a:solidFill>
              </a:rPr>
              <a:t>dichotomy or </a:t>
            </a:r>
            <a:r>
              <a:rPr lang="en-US" sz="4800" b="1" dirty="0">
                <a:solidFill>
                  <a:schemeClr val="tx1"/>
                </a:solidFill>
              </a:rPr>
              <a:t>Embodied Cognition</a:t>
            </a:r>
          </a:p>
          <a:p>
            <a:pPr algn="l" defTabSz="457200">
              <a:lnSpc>
                <a:spcPct val="150000"/>
              </a:lnSpc>
              <a:spcBef>
                <a:spcPts val="300"/>
              </a:spcBef>
              <a:buSzPct val="100000"/>
              <a:defRPr sz="3000"/>
            </a:pPr>
            <a:r>
              <a:rPr lang="en-US" sz="4800" dirty="0">
                <a:solidFill>
                  <a:schemeClr val="tx1"/>
                </a:solidFill>
              </a:rPr>
              <a:t>→ </a:t>
            </a:r>
            <a:r>
              <a:rPr lang="en-US" sz="4800" b="1" dirty="0">
                <a:solidFill>
                  <a:schemeClr val="tx1"/>
                </a:solidFill>
              </a:rPr>
              <a:t>Distributed </a:t>
            </a:r>
            <a:r>
              <a:rPr lang="en-US" sz="4800" dirty="0">
                <a:solidFill>
                  <a:schemeClr val="tx1"/>
                </a:solidFill>
              </a:rPr>
              <a:t>processing of nouns and verbs</a:t>
            </a:r>
          </a:p>
          <a:p>
            <a:pPr algn="l" defTabSz="457200">
              <a:lnSpc>
                <a:spcPct val="150000"/>
              </a:lnSpc>
              <a:spcBef>
                <a:spcPts val="300"/>
              </a:spcBef>
              <a:buSzPct val="100000"/>
              <a:defRPr sz="3000"/>
            </a:pPr>
            <a:endParaRPr lang="en-US" sz="4800" dirty="0">
              <a:solidFill>
                <a:schemeClr val="tx1"/>
              </a:solidFill>
            </a:endParaRPr>
          </a:p>
          <a:p>
            <a:pPr algn="l" defTabSz="457200">
              <a:spcBef>
                <a:spcPts val="300"/>
              </a:spcBef>
              <a:buSzPct val="100000"/>
              <a:defRPr sz="3000"/>
            </a:pPr>
            <a:endParaRPr lang="en-US" sz="4800" b="1" dirty="0">
              <a:solidFill>
                <a:schemeClr val="tx1"/>
              </a:solidFill>
            </a:endParaRPr>
          </a:p>
        </p:txBody>
      </p:sp>
    </p:spTree>
    <p:extLst>
      <p:ext uri="{BB962C8B-B14F-4D97-AF65-F5344CB8AC3E}">
        <p14:creationId xmlns:p14="http://schemas.microsoft.com/office/powerpoint/2010/main" val="388743328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1B5D586-3D3E-A0DC-7A5B-09DF69C6453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E865759-C30B-7EBE-8526-F7AC8CC23D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2A4AD1BF-2675-BEDE-EB8D-AE13601EF640}"/>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9</a:t>
            </a:fld>
            <a:endParaRPr/>
          </a:p>
        </p:txBody>
      </p:sp>
      <p:sp>
        <p:nvSpPr>
          <p:cNvPr id="70" name="5.1 Das Document Object Model…">
            <a:extLst>
              <a:ext uri="{FF2B5EF4-FFF2-40B4-BE49-F238E27FC236}">
                <a16:creationId xmlns:a16="http://schemas.microsoft.com/office/drawing/2014/main" id="{0A50AC36-0BDE-41C1-1B67-61FC6AC3855D}"/>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Motivation</a:t>
            </a:r>
          </a:p>
        </p:txBody>
      </p:sp>
      <p:pic>
        <p:nvPicPr>
          <p:cNvPr id="4" name="Bild" descr="Bild">
            <a:extLst>
              <a:ext uri="{FF2B5EF4-FFF2-40B4-BE49-F238E27FC236}">
                <a16:creationId xmlns:a16="http://schemas.microsoft.com/office/drawing/2014/main" id="{D32B130A-22D2-FA0F-19C9-5757E4DA5C92}"/>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42BD6BCE-44FF-78BC-E22A-EE18B506886F}"/>
              </a:ext>
            </a:extLst>
          </p:cNvPr>
          <p:cNvSpPr txBox="1"/>
          <p:nvPr/>
        </p:nvSpPr>
        <p:spPr>
          <a:xfrm>
            <a:off x="670356" y="2723316"/>
            <a:ext cx="20471047" cy="7815516"/>
          </a:xfrm>
          <a:prstGeom prst="rect">
            <a:avLst/>
          </a:prstGeom>
          <a:ln w="12700">
            <a:miter lim="400000"/>
          </a:ln>
          <a:extLst>
            <a:ext uri="{C572A759-6A51-4108-AA02-DFA0A04FC94B}">
              <ma14:wrappingTextBoxFlag xmlns:mc="http://schemas.openxmlformats.org/markup-compatibility/2006" xmlns:a14="http://schemas.microsoft.com/office/drawing/2010/main" xmlns:ma14="http://schemas.microsoft.com/office/mac/drawingml/2011/main" xmlns:m="http://schemas.openxmlformats.org/officeDocument/2006/math" xmlns="" val="1"/>
            </a:ext>
          </a:extLst>
        </p:spPr>
        <p:txBody>
          <a:bodyPr lIns="45719" rIns="45719" anchor="t"/>
          <a:lstStyle/>
          <a:p>
            <a:pPr algn="l" defTabSz="457200">
              <a:lnSpc>
                <a:spcPct val="150000"/>
              </a:lnSpc>
              <a:spcBef>
                <a:spcPts val="300"/>
              </a:spcBef>
              <a:buSzPct val="100000"/>
              <a:defRPr sz="3000"/>
            </a:pPr>
            <a:r>
              <a:rPr lang="en-US" sz="4800" b="1" dirty="0">
                <a:solidFill>
                  <a:schemeClr val="tx1"/>
                </a:solidFill>
              </a:rPr>
              <a:t>Methods</a:t>
            </a:r>
          </a:p>
          <a:p>
            <a:pPr algn="l" defTabSz="457200">
              <a:lnSpc>
                <a:spcPct val="150000"/>
              </a:lnSpc>
              <a:spcBef>
                <a:spcPts val="300"/>
              </a:spcBef>
              <a:buSzPct val="100000"/>
              <a:defRPr sz="3000"/>
            </a:pPr>
            <a:r>
              <a:rPr lang="en-US" sz="4800" b="1" dirty="0">
                <a:solidFill>
                  <a:schemeClr val="tx1"/>
                </a:solidFill>
              </a:rPr>
              <a:t>	</a:t>
            </a:r>
            <a:r>
              <a:rPr lang="en-US" sz="4800" dirty="0">
                <a:solidFill>
                  <a:schemeClr val="tx1"/>
                </a:solidFill>
              </a:rPr>
              <a:t>Picture Naming (Shapiro and Caramazza, 2011)</a:t>
            </a:r>
          </a:p>
          <a:p>
            <a:pPr algn="l" defTabSz="457200">
              <a:lnSpc>
                <a:spcPct val="150000"/>
              </a:lnSpc>
              <a:spcBef>
                <a:spcPts val="300"/>
              </a:spcBef>
              <a:buSzPct val="100000"/>
              <a:defRPr sz="3000"/>
            </a:pPr>
            <a:r>
              <a:rPr lang="en-US" sz="4800" b="1" dirty="0">
                <a:solidFill>
                  <a:schemeClr val="tx1"/>
                </a:solidFill>
              </a:rPr>
              <a:t>	</a:t>
            </a:r>
            <a:r>
              <a:rPr lang="en-US" sz="4800" dirty="0">
                <a:solidFill>
                  <a:schemeClr val="tx1"/>
                </a:solidFill>
              </a:rPr>
              <a:t>Semantic Categorization (Tyler et al., 2003)</a:t>
            </a:r>
          </a:p>
          <a:p>
            <a:pPr algn="l" defTabSz="457200">
              <a:lnSpc>
                <a:spcPct val="150000"/>
              </a:lnSpc>
              <a:spcBef>
                <a:spcPts val="300"/>
              </a:spcBef>
              <a:buSzPct val="100000"/>
              <a:defRPr sz="3000"/>
            </a:pPr>
            <a:r>
              <a:rPr lang="en-US" sz="4800" dirty="0">
                <a:solidFill>
                  <a:schemeClr val="tx1"/>
                </a:solidFill>
              </a:rPr>
              <a:t>	 </a:t>
            </a:r>
          </a:p>
        </p:txBody>
      </p:sp>
    </p:spTree>
    <p:extLst>
      <p:ext uri="{BB962C8B-B14F-4D97-AF65-F5344CB8AC3E}">
        <p14:creationId xmlns:p14="http://schemas.microsoft.com/office/powerpoint/2010/main" val="195685141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C08E297-9632-A106-21E6-9CB9A133CBD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4F49B1B-45AD-C7FE-2086-04EDBA32B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97569B5A-06EF-BCB2-FED3-C3F3F9FDFC9D}"/>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10</a:t>
            </a:fld>
            <a:endParaRPr/>
          </a:p>
        </p:txBody>
      </p:sp>
      <p:sp>
        <p:nvSpPr>
          <p:cNvPr id="70" name="5.1 Das Document Object Model…">
            <a:extLst>
              <a:ext uri="{FF2B5EF4-FFF2-40B4-BE49-F238E27FC236}">
                <a16:creationId xmlns:a16="http://schemas.microsoft.com/office/drawing/2014/main" id="{E544D6D1-CFB0-53D1-BFBC-45C776AD7109}"/>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Motivation</a:t>
            </a:r>
          </a:p>
        </p:txBody>
      </p:sp>
      <p:pic>
        <p:nvPicPr>
          <p:cNvPr id="4" name="Bild" descr="Bild">
            <a:extLst>
              <a:ext uri="{FF2B5EF4-FFF2-40B4-BE49-F238E27FC236}">
                <a16:creationId xmlns:a16="http://schemas.microsoft.com/office/drawing/2014/main" id="{43B84EB1-A537-0C84-01C8-CE6C6D878D86}"/>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BC9C01F7-B9D3-76A1-3048-C8BB48531430}"/>
              </a:ext>
            </a:extLst>
          </p:cNvPr>
          <p:cNvSpPr txBox="1"/>
          <p:nvPr/>
        </p:nvSpPr>
        <p:spPr>
          <a:xfrm>
            <a:off x="670356" y="2723316"/>
            <a:ext cx="204710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lnSpc>
                <a:spcPct val="150000"/>
              </a:lnSpc>
              <a:spcBef>
                <a:spcPts val="300"/>
              </a:spcBef>
              <a:buSzPct val="100000"/>
              <a:defRPr sz="3000"/>
            </a:pPr>
            <a:r>
              <a:rPr lang="en-US" sz="4800" b="1" dirty="0">
                <a:solidFill>
                  <a:schemeClr val="tx1"/>
                </a:solidFill>
              </a:rPr>
              <a:t>Methods</a:t>
            </a:r>
          </a:p>
          <a:p>
            <a:pPr algn="l" defTabSz="457200">
              <a:lnSpc>
                <a:spcPct val="150000"/>
              </a:lnSpc>
              <a:spcBef>
                <a:spcPts val="300"/>
              </a:spcBef>
              <a:buSzPct val="100000"/>
              <a:defRPr sz="3000"/>
            </a:pPr>
            <a:r>
              <a:rPr lang="en-US" sz="4800" b="1" dirty="0">
                <a:solidFill>
                  <a:schemeClr val="tx1"/>
                </a:solidFill>
              </a:rPr>
              <a:t>	</a:t>
            </a:r>
            <a:r>
              <a:rPr lang="en-US" sz="4800" dirty="0">
                <a:solidFill>
                  <a:schemeClr val="tx1"/>
                </a:solidFill>
              </a:rPr>
              <a:t>Picture Naming (Shapiro and Caramazza, 2011)</a:t>
            </a:r>
          </a:p>
          <a:p>
            <a:pPr algn="l" defTabSz="457200">
              <a:lnSpc>
                <a:spcPct val="150000"/>
              </a:lnSpc>
              <a:spcBef>
                <a:spcPts val="300"/>
              </a:spcBef>
              <a:buSzPct val="100000"/>
              <a:defRPr sz="3000"/>
            </a:pPr>
            <a:r>
              <a:rPr lang="en-US" sz="4800" b="1" dirty="0">
                <a:solidFill>
                  <a:schemeClr val="tx1"/>
                </a:solidFill>
              </a:rPr>
              <a:t>	</a:t>
            </a:r>
            <a:r>
              <a:rPr lang="en-US" sz="4800" dirty="0">
                <a:solidFill>
                  <a:schemeClr val="tx1"/>
                </a:solidFill>
              </a:rPr>
              <a:t>Semantic Categorization (Tyler et al., 2003)</a:t>
            </a:r>
          </a:p>
          <a:p>
            <a:pPr algn="l" defTabSz="457200">
              <a:lnSpc>
                <a:spcPct val="150000"/>
              </a:lnSpc>
              <a:spcBef>
                <a:spcPts val="300"/>
              </a:spcBef>
              <a:buSzPct val="100000"/>
              <a:defRPr sz="3000"/>
            </a:pPr>
            <a:r>
              <a:rPr lang="en-US" sz="4800" dirty="0">
                <a:solidFill>
                  <a:schemeClr val="tx1"/>
                </a:solidFill>
              </a:rPr>
              <a:t>	</a:t>
            </a:r>
            <a:r>
              <a:rPr lang="en-US" sz="4800" dirty="0">
                <a:solidFill>
                  <a:srgbClr val="C00000"/>
                </a:solidFill>
              </a:rPr>
              <a:t>Passive processing?</a:t>
            </a:r>
            <a:endParaRPr lang="en-US" sz="4800" dirty="0">
              <a:solidFill>
                <a:schemeClr val="tx1"/>
              </a:solidFill>
            </a:endParaRPr>
          </a:p>
        </p:txBody>
      </p:sp>
    </p:spTree>
    <p:extLst>
      <p:ext uri="{BB962C8B-B14F-4D97-AF65-F5344CB8AC3E}">
        <p14:creationId xmlns:p14="http://schemas.microsoft.com/office/powerpoint/2010/main" val="34872442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C2B0408-4BAD-E957-7374-D4B1166BC75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955BB64-747C-117D-2813-933DC37119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08D4F4CA-E830-427D-C7BF-8AB27FD7FC17}"/>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11</a:t>
            </a:fld>
            <a:endParaRPr/>
          </a:p>
        </p:txBody>
      </p:sp>
      <p:sp>
        <p:nvSpPr>
          <p:cNvPr id="70" name="5.1 Das Document Object Model…">
            <a:extLst>
              <a:ext uri="{FF2B5EF4-FFF2-40B4-BE49-F238E27FC236}">
                <a16:creationId xmlns:a16="http://schemas.microsoft.com/office/drawing/2014/main" id="{ECCB162B-DBF7-26CF-974C-ACC803925C35}"/>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Motivation</a:t>
            </a:r>
          </a:p>
        </p:txBody>
      </p:sp>
      <p:pic>
        <p:nvPicPr>
          <p:cNvPr id="4" name="Bild" descr="Bild">
            <a:extLst>
              <a:ext uri="{FF2B5EF4-FFF2-40B4-BE49-F238E27FC236}">
                <a16:creationId xmlns:a16="http://schemas.microsoft.com/office/drawing/2014/main" id="{B5DB63AA-B145-6ADD-B234-95EEF605E287}"/>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AE02CAF5-F016-7465-E342-BB489C665E4A}"/>
              </a:ext>
            </a:extLst>
          </p:cNvPr>
          <p:cNvSpPr txBox="1"/>
          <p:nvPr/>
        </p:nvSpPr>
        <p:spPr>
          <a:xfrm>
            <a:off x="670356" y="2723316"/>
            <a:ext cx="204710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lnSpc>
                <a:spcPct val="150000"/>
              </a:lnSpc>
              <a:spcBef>
                <a:spcPts val="300"/>
              </a:spcBef>
              <a:buSzPct val="100000"/>
              <a:defRPr sz="3000"/>
            </a:pPr>
            <a:r>
              <a:rPr lang="en-US" sz="4800" b="1" dirty="0">
                <a:solidFill>
                  <a:schemeClr val="tx1"/>
                </a:solidFill>
              </a:rPr>
              <a:t>Methods</a:t>
            </a:r>
          </a:p>
          <a:p>
            <a:pPr algn="l" defTabSz="457200">
              <a:lnSpc>
                <a:spcPct val="150000"/>
              </a:lnSpc>
              <a:spcBef>
                <a:spcPts val="300"/>
              </a:spcBef>
              <a:buSzPct val="100000"/>
              <a:defRPr sz="3000"/>
            </a:pPr>
            <a:r>
              <a:rPr lang="en-US" sz="4800" b="1" dirty="0">
                <a:solidFill>
                  <a:schemeClr val="tx1"/>
                </a:solidFill>
              </a:rPr>
              <a:t>	</a:t>
            </a:r>
            <a:r>
              <a:rPr lang="en-US" sz="4800" dirty="0">
                <a:solidFill>
                  <a:schemeClr val="tx1"/>
                </a:solidFill>
              </a:rPr>
              <a:t>Picture Naming (Shapiro and Caramazza, 2011)</a:t>
            </a:r>
          </a:p>
          <a:p>
            <a:pPr algn="l" defTabSz="457200">
              <a:lnSpc>
                <a:spcPct val="150000"/>
              </a:lnSpc>
              <a:spcBef>
                <a:spcPts val="300"/>
              </a:spcBef>
              <a:buSzPct val="100000"/>
              <a:defRPr sz="3000"/>
            </a:pPr>
            <a:r>
              <a:rPr lang="en-US" sz="4800" b="1" dirty="0">
                <a:solidFill>
                  <a:schemeClr val="tx1"/>
                </a:solidFill>
              </a:rPr>
              <a:t>	</a:t>
            </a:r>
            <a:r>
              <a:rPr lang="en-US" sz="4800" dirty="0">
                <a:solidFill>
                  <a:schemeClr val="tx1"/>
                </a:solidFill>
              </a:rPr>
              <a:t>Semantic Categorization (Tyler et al., 2003)</a:t>
            </a:r>
          </a:p>
          <a:p>
            <a:pPr algn="l" defTabSz="457200">
              <a:lnSpc>
                <a:spcPct val="150000"/>
              </a:lnSpc>
              <a:spcBef>
                <a:spcPts val="300"/>
              </a:spcBef>
              <a:buSzPct val="100000"/>
              <a:defRPr sz="3000"/>
            </a:pPr>
            <a:r>
              <a:rPr lang="en-US" sz="4800" b="1" dirty="0">
                <a:solidFill>
                  <a:schemeClr val="tx1"/>
                </a:solidFill>
              </a:rPr>
              <a:t>	</a:t>
            </a:r>
            <a:r>
              <a:rPr lang="en-US" sz="4800" dirty="0">
                <a:solidFill>
                  <a:schemeClr val="tx1"/>
                </a:solidFill>
              </a:rPr>
              <a:t>Voxel-wise Encoding Models </a:t>
            </a:r>
          </a:p>
          <a:p>
            <a:pPr algn="l" defTabSz="457200">
              <a:lnSpc>
                <a:spcPct val="150000"/>
              </a:lnSpc>
              <a:spcBef>
                <a:spcPts val="300"/>
              </a:spcBef>
              <a:buSzPct val="100000"/>
              <a:defRPr sz="3000"/>
            </a:pPr>
            <a:r>
              <a:rPr lang="en-US" sz="4800" b="1" dirty="0">
                <a:solidFill>
                  <a:schemeClr val="tx1"/>
                </a:solidFill>
              </a:rPr>
              <a:t>	</a:t>
            </a:r>
          </a:p>
          <a:p>
            <a:pPr algn="l" defTabSz="457200">
              <a:spcBef>
                <a:spcPts val="300"/>
              </a:spcBef>
              <a:buSzPct val="100000"/>
              <a:defRPr sz="3000"/>
            </a:pPr>
            <a:endParaRPr lang="en-US" sz="4800" b="1" dirty="0">
              <a:solidFill>
                <a:schemeClr val="tx1"/>
              </a:solidFill>
            </a:endParaRPr>
          </a:p>
        </p:txBody>
      </p:sp>
    </p:spTree>
    <p:extLst>
      <p:ext uri="{BB962C8B-B14F-4D97-AF65-F5344CB8AC3E}">
        <p14:creationId xmlns:p14="http://schemas.microsoft.com/office/powerpoint/2010/main" val="404505745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50E9168-CE21-0BDA-FB72-7DC926E767F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1BDD711-F606-B1D4-25F1-B66F2AED39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C945D027-A5F1-B91E-09E1-126C16E9B505}"/>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a:p>
        </p:txBody>
      </p:sp>
      <p:sp>
        <p:nvSpPr>
          <p:cNvPr id="70" name="5.1 Das Document Object Model…">
            <a:extLst>
              <a:ext uri="{FF2B5EF4-FFF2-40B4-BE49-F238E27FC236}">
                <a16:creationId xmlns:a16="http://schemas.microsoft.com/office/drawing/2014/main" id="{2C1E477A-2173-0485-F6BE-BBAD584575A6}"/>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Materials</a:t>
            </a:r>
          </a:p>
        </p:txBody>
      </p:sp>
      <p:sp>
        <p:nvSpPr>
          <p:cNvPr id="6" name="Content Placeholder 7">
            <a:extLst>
              <a:ext uri="{FF2B5EF4-FFF2-40B4-BE49-F238E27FC236}">
                <a16:creationId xmlns:a16="http://schemas.microsoft.com/office/drawing/2014/main" id="{8321019D-5886-0C1B-E23A-1BA7528C0935}"/>
              </a:ext>
            </a:extLst>
          </p:cNvPr>
          <p:cNvSpPr txBox="1">
            <a:spLocks/>
          </p:cNvSpPr>
          <p:nvPr/>
        </p:nvSpPr>
        <p:spPr>
          <a:xfrm>
            <a:off x="603250" y="2225675"/>
            <a:ext cx="6665776" cy="6351897"/>
          </a:xfrm>
          <a:prstGeom prst="rect">
            <a:avLst/>
          </a:prstGeom>
          <a:ln w="12700">
            <a:miter lim="400000"/>
          </a:ln>
        </p:spPr>
        <p:txBody>
          <a:bodyPr wrap="square" lIns="89296" tIns="89296" rIns="89296" bIns="89296">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chemeClr val="accent3">
                    <a:lumOff val="44000"/>
                  </a:schemeClr>
                </a:solidFill>
                <a:effectLst/>
                <a:uFill>
                  <a:solidFill>
                    <a:srgbClr val="000000"/>
                  </a:solidFill>
                </a:uFill>
                <a:latin typeface="+mj-lt"/>
                <a:ea typeface="+mj-ea"/>
                <a:cs typeface="+mj-cs"/>
                <a:sym typeface="Helvetica"/>
              </a:defRPr>
            </a:lvl1pPr>
            <a:lvl2pPr marL="0" marR="0" indent="4572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2pPr>
            <a:lvl3pPr marL="0" marR="0" indent="9144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3pPr>
            <a:lvl4pPr marL="0" marR="0" indent="13716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4pPr>
            <a:lvl5pPr marL="0" marR="0" indent="18288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5pPr>
            <a:lvl6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6pPr>
            <a:lvl7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7pPr>
            <a:lvl8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8pPr>
            <a:lvl9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9pPr>
          </a:lstStyle>
          <a:p>
            <a:pPr algn="l"/>
            <a:r>
              <a:rPr lang="en-US" sz="4800" dirty="0">
                <a:solidFill>
                  <a:schemeClr val="tx1"/>
                </a:solidFill>
              </a:rPr>
              <a:t>Stimuli</a:t>
            </a:r>
          </a:p>
          <a:p>
            <a:pPr marL="571500" indent="-571500" algn="l">
              <a:lnSpc>
                <a:spcPct val="150000"/>
              </a:lnSpc>
              <a:buFont typeface="Arial" panose="020B0604020202020204" pitchFamily="34" charset="0"/>
              <a:buChar char="•"/>
            </a:pPr>
            <a:r>
              <a:rPr lang="en-US" sz="4800" b="0" dirty="0">
                <a:solidFill>
                  <a:schemeClr val="tx1"/>
                </a:solidFill>
              </a:rPr>
              <a:t>11 stories from </a:t>
            </a:r>
            <a:br>
              <a:rPr lang="en-US" sz="4800" b="0" dirty="0">
                <a:solidFill>
                  <a:schemeClr val="tx1"/>
                </a:solidFill>
              </a:rPr>
            </a:br>
            <a:r>
              <a:rPr lang="en-US" sz="4800" b="0" i="1" dirty="0">
                <a:solidFill>
                  <a:schemeClr val="tx1"/>
                </a:solidFill>
              </a:rPr>
              <a:t>The Moth Radio Hour</a:t>
            </a:r>
          </a:p>
          <a:p>
            <a:pPr marL="571500" indent="-571500" algn="l">
              <a:lnSpc>
                <a:spcPct val="150000"/>
              </a:lnSpc>
              <a:buFont typeface="Arial" panose="020B0604020202020204" pitchFamily="34" charset="0"/>
              <a:buChar char="•"/>
            </a:pPr>
            <a:r>
              <a:rPr lang="en-US" sz="4800" b="0" dirty="0">
                <a:solidFill>
                  <a:schemeClr val="tx1"/>
                </a:solidFill>
              </a:rPr>
              <a:t>10-15 min per story</a:t>
            </a:r>
          </a:p>
          <a:p>
            <a:pPr marL="571500" indent="-571500" algn="l">
              <a:lnSpc>
                <a:spcPct val="150000"/>
              </a:lnSpc>
              <a:buFont typeface="Arial" panose="020B0604020202020204" pitchFamily="34" charset="0"/>
              <a:buChar char="•"/>
            </a:pPr>
            <a:r>
              <a:rPr lang="en-US" sz="4800" b="0" dirty="0">
                <a:solidFill>
                  <a:schemeClr val="tx1"/>
                </a:solidFill>
              </a:rPr>
              <a:t>Listening and reading</a:t>
            </a:r>
          </a:p>
          <a:p>
            <a:pPr algn="l">
              <a:lnSpc>
                <a:spcPct val="150000"/>
              </a:lnSpc>
            </a:pPr>
            <a:endParaRPr lang="de-DE" sz="4800" dirty="0"/>
          </a:p>
        </p:txBody>
      </p:sp>
      <p:pic>
        <p:nvPicPr>
          <p:cNvPr id="10" name="Bild" descr="Bild">
            <a:extLst>
              <a:ext uri="{FF2B5EF4-FFF2-40B4-BE49-F238E27FC236}">
                <a16:creationId xmlns:a16="http://schemas.microsoft.com/office/drawing/2014/main" id="{9EC9CCC3-C58D-9E06-9A68-40663B333EE4}"/>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Tree>
    <p:extLst>
      <p:ext uri="{BB962C8B-B14F-4D97-AF65-F5344CB8AC3E}">
        <p14:creationId xmlns:p14="http://schemas.microsoft.com/office/powerpoint/2010/main" val="398517080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C9B0BB8-E900-7724-F688-FC7CA27C619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FF16EAA-5088-3F66-AA44-A406DD606D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5495B817-3A66-5486-7E98-046F94E5C595}"/>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13</a:t>
            </a:fld>
            <a:endParaRPr/>
          </a:p>
        </p:txBody>
      </p:sp>
      <p:sp>
        <p:nvSpPr>
          <p:cNvPr id="70" name="5.1 Das Document Object Model…">
            <a:extLst>
              <a:ext uri="{FF2B5EF4-FFF2-40B4-BE49-F238E27FC236}">
                <a16:creationId xmlns:a16="http://schemas.microsoft.com/office/drawing/2014/main" id="{FE96FC80-16AC-776C-183F-2390D1EACC6B}"/>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Materials</a:t>
            </a:r>
          </a:p>
        </p:txBody>
      </p:sp>
      <p:pic>
        <p:nvPicPr>
          <p:cNvPr id="4" name="Bild" descr="Bild">
            <a:extLst>
              <a:ext uri="{FF2B5EF4-FFF2-40B4-BE49-F238E27FC236}">
                <a16:creationId xmlns:a16="http://schemas.microsoft.com/office/drawing/2014/main" id="{C2971FCB-4CA8-2BA1-2C72-1C4E275CB7D1}"/>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6" name="Content Placeholder 7">
            <a:extLst>
              <a:ext uri="{FF2B5EF4-FFF2-40B4-BE49-F238E27FC236}">
                <a16:creationId xmlns:a16="http://schemas.microsoft.com/office/drawing/2014/main" id="{5EA179E6-77C4-DC16-71A2-41F2999DDA5D}"/>
              </a:ext>
            </a:extLst>
          </p:cNvPr>
          <p:cNvSpPr txBox="1">
            <a:spLocks/>
          </p:cNvSpPr>
          <p:nvPr/>
        </p:nvSpPr>
        <p:spPr>
          <a:xfrm>
            <a:off x="603250" y="2225675"/>
            <a:ext cx="6665776" cy="6351897"/>
          </a:xfrm>
          <a:prstGeom prst="rect">
            <a:avLst/>
          </a:prstGeom>
          <a:ln w="12700">
            <a:miter lim="400000"/>
          </a:ln>
        </p:spPr>
        <p:txBody>
          <a:bodyPr wrap="square" lIns="89296" tIns="89296" rIns="89296" bIns="89296">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chemeClr val="accent3">
                    <a:lumOff val="44000"/>
                  </a:schemeClr>
                </a:solidFill>
                <a:effectLst/>
                <a:uFill>
                  <a:solidFill>
                    <a:srgbClr val="000000"/>
                  </a:solidFill>
                </a:uFill>
                <a:latin typeface="+mj-lt"/>
                <a:ea typeface="+mj-ea"/>
                <a:cs typeface="+mj-cs"/>
                <a:sym typeface="Helvetica"/>
              </a:defRPr>
            </a:lvl1pPr>
            <a:lvl2pPr marL="0" marR="0" indent="4572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2pPr>
            <a:lvl3pPr marL="0" marR="0" indent="9144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3pPr>
            <a:lvl4pPr marL="0" marR="0" indent="13716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4pPr>
            <a:lvl5pPr marL="0" marR="0" indent="18288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5pPr>
            <a:lvl6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6pPr>
            <a:lvl7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7pPr>
            <a:lvl8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8pPr>
            <a:lvl9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9pPr>
          </a:lstStyle>
          <a:p>
            <a:pPr algn="l"/>
            <a:r>
              <a:rPr lang="en-US" sz="4800" dirty="0">
                <a:solidFill>
                  <a:schemeClr val="tx1"/>
                </a:solidFill>
              </a:rPr>
              <a:t>Stimuli</a:t>
            </a:r>
          </a:p>
          <a:p>
            <a:pPr marL="571500" indent="-571500" algn="l">
              <a:lnSpc>
                <a:spcPct val="150000"/>
              </a:lnSpc>
              <a:buFont typeface="Arial" panose="020B0604020202020204" pitchFamily="34" charset="0"/>
              <a:buChar char="•"/>
            </a:pPr>
            <a:r>
              <a:rPr lang="en-US" sz="4800" b="0" dirty="0">
                <a:solidFill>
                  <a:schemeClr val="tx1"/>
                </a:solidFill>
              </a:rPr>
              <a:t>11 stories from </a:t>
            </a:r>
            <a:br>
              <a:rPr lang="en-US" sz="4800" b="0" dirty="0">
                <a:solidFill>
                  <a:schemeClr val="tx1"/>
                </a:solidFill>
              </a:rPr>
            </a:br>
            <a:r>
              <a:rPr lang="en-US" sz="4800" b="0" i="1" dirty="0">
                <a:solidFill>
                  <a:schemeClr val="tx1"/>
                </a:solidFill>
              </a:rPr>
              <a:t>The Moth Radio Hour</a:t>
            </a:r>
          </a:p>
          <a:p>
            <a:pPr marL="571500" indent="-571500" algn="l">
              <a:lnSpc>
                <a:spcPct val="150000"/>
              </a:lnSpc>
              <a:buFont typeface="Arial" panose="020B0604020202020204" pitchFamily="34" charset="0"/>
              <a:buChar char="•"/>
            </a:pPr>
            <a:r>
              <a:rPr lang="en-US" sz="4800" b="0" dirty="0">
                <a:solidFill>
                  <a:schemeClr val="tx1"/>
                </a:solidFill>
              </a:rPr>
              <a:t>10-15 min per story</a:t>
            </a:r>
          </a:p>
          <a:p>
            <a:pPr marL="571500" indent="-571500" algn="l">
              <a:lnSpc>
                <a:spcPct val="150000"/>
              </a:lnSpc>
              <a:buFont typeface="Arial" panose="020B0604020202020204" pitchFamily="34" charset="0"/>
              <a:buChar char="•"/>
            </a:pPr>
            <a:r>
              <a:rPr lang="en-US" sz="4800" b="0" dirty="0">
                <a:solidFill>
                  <a:schemeClr val="tx1"/>
                </a:solidFill>
              </a:rPr>
              <a:t>Listening and reading</a:t>
            </a:r>
          </a:p>
          <a:p>
            <a:pPr algn="l">
              <a:lnSpc>
                <a:spcPct val="150000"/>
              </a:lnSpc>
            </a:pPr>
            <a:endParaRPr lang="de-DE" sz="4800" dirty="0"/>
          </a:p>
        </p:txBody>
      </p:sp>
      <p:sp>
        <p:nvSpPr>
          <p:cNvPr id="2" name="Content Placeholder 7">
            <a:extLst>
              <a:ext uri="{FF2B5EF4-FFF2-40B4-BE49-F238E27FC236}">
                <a16:creationId xmlns:a16="http://schemas.microsoft.com/office/drawing/2014/main" id="{AF7E7BEA-6BC9-C104-FAE4-22553FB5A14A}"/>
              </a:ext>
            </a:extLst>
          </p:cNvPr>
          <p:cNvSpPr txBox="1">
            <a:spLocks/>
          </p:cNvSpPr>
          <p:nvPr/>
        </p:nvSpPr>
        <p:spPr>
          <a:xfrm>
            <a:off x="7947309" y="2225675"/>
            <a:ext cx="7200825" cy="6171498"/>
          </a:xfrm>
          <a:prstGeom prst="rect">
            <a:avLst/>
          </a:prstGeom>
        </p:spPr>
        <p:txBody>
          <a:bodyPr wrap="square" lIns="0" tIns="0" rIns="0" bIns="0">
            <a:spAutoFit/>
          </a:bodyPr>
          <a:lstStyle>
            <a:lvl1pPr marL="0">
              <a:defRPr sz="3950" b="0" i="0">
                <a:solidFill>
                  <a:schemeClr val="tx1"/>
                </a:solidFill>
                <a:latin typeface="Arial"/>
                <a:ea typeface="+mn-ea"/>
                <a:cs typeface="Arial"/>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l"/>
            <a:r>
              <a:rPr lang="en-US" sz="4800" b="1" dirty="0">
                <a:latin typeface="Helvetica" pitchFamily="2" charset="0"/>
              </a:rPr>
              <a:t>fMRI Data</a:t>
            </a:r>
          </a:p>
          <a:p>
            <a:pPr marL="571500" indent="-571500" algn="l">
              <a:lnSpc>
                <a:spcPct val="150000"/>
              </a:lnSpc>
              <a:buFont typeface="Arial" panose="020B0604020202020204" pitchFamily="34" charset="0"/>
              <a:buChar char="•"/>
            </a:pPr>
            <a:r>
              <a:rPr lang="en-US" sz="4800" dirty="0">
                <a:latin typeface="Helvetica" pitchFamily="2" charset="0"/>
              </a:rPr>
              <a:t>From Deniz et al. (2019)</a:t>
            </a:r>
          </a:p>
          <a:p>
            <a:pPr marL="571500" indent="-571500" algn="l">
              <a:lnSpc>
                <a:spcPct val="150000"/>
              </a:lnSpc>
              <a:buFont typeface="Arial" panose="020B0604020202020204" pitchFamily="34" charset="0"/>
              <a:buChar char="•"/>
            </a:pPr>
            <a:r>
              <a:rPr lang="en-US" sz="4800" dirty="0">
                <a:latin typeface="Helvetica" pitchFamily="2" charset="0"/>
              </a:rPr>
              <a:t>9 subjects</a:t>
            </a:r>
          </a:p>
          <a:p>
            <a:pPr marL="571500" indent="-571500" algn="l">
              <a:lnSpc>
                <a:spcPct val="150000"/>
              </a:lnSpc>
              <a:buFont typeface="Arial" panose="020B0604020202020204" pitchFamily="34" charset="0"/>
              <a:buChar char="•"/>
            </a:pPr>
            <a:endParaRPr lang="en-US" sz="4800" dirty="0">
              <a:latin typeface="Helvetica" pitchFamily="2" charset="0"/>
            </a:endParaRPr>
          </a:p>
          <a:p>
            <a:pPr algn="l">
              <a:lnSpc>
                <a:spcPct val="150000"/>
              </a:lnSpc>
            </a:pPr>
            <a:endParaRPr lang="en-US" sz="4800" dirty="0">
              <a:latin typeface="Helvetica" pitchFamily="2" charset="0"/>
            </a:endParaRPr>
          </a:p>
          <a:p>
            <a:pPr algn="l">
              <a:lnSpc>
                <a:spcPct val="150000"/>
              </a:lnSpc>
            </a:pPr>
            <a:endParaRPr lang="de-DE" sz="4800" dirty="0">
              <a:latin typeface="Helvetica" pitchFamily="2" charset="0"/>
            </a:endParaRPr>
          </a:p>
        </p:txBody>
      </p:sp>
    </p:spTree>
    <p:extLst>
      <p:ext uri="{BB962C8B-B14F-4D97-AF65-F5344CB8AC3E}">
        <p14:creationId xmlns:p14="http://schemas.microsoft.com/office/powerpoint/2010/main" val="152812484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7EF3656-CE50-668F-349C-C168C14E48C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AD760FC-DEF8-518B-43B2-9BF7E4BF49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3B5B2FF9-C09F-DC9F-F3E0-5A5E79815CD3}"/>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14</a:t>
            </a:fld>
            <a:endParaRPr/>
          </a:p>
        </p:txBody>
      </p:sp>
      <p:sp>
        <p:nvSpPr>
          <p:cNvPr id="70" name="5.1 Das Document Object Model…">
            <a:extLst>
              <a:ext uri="{FF2B5EF4-FFF2-40B4-BE49-F238E27FC236}">
                <a16:creationId xmlns:a16="http://schemas.microsoft.com/office/drawing/2014/main" id="{18264B09-7CF2-55AE-D825-E5E3E5ADED18}"/>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Materials</a:t>
            </a:r>
          </a:p>
        </p:txBody>
      </p:sp>
      <p:pic>
        <p:nvPicPr>
          <p:cNvPr id="4" name="Bild" descr="Bild">
            <a:extLst>
              <a:ext uri="{FF2B5EF4-FFF2-40B4-BE49-F238E27FC236}">
                <a16:creationId xmlns:a16="http://schemas.microsoft.com/office/drawing/2014/main" id="{BD93D704-E2C8-70BB-C563-BD044DF1B9F9}"/>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6" name="Content Placeholder 7">
            <a:extLst>
              <a:ext uri="{FF2B5EF4-FFF2-40B4-BE49-F238E27FC236}">
                <a16:creationId xmlns:a16="http://schemas.microsoft.com/office/drawing/2014/main" id="{6469D5D2-E896-89A0-83FB-267F712CC921}"/>
              </a:ext>
            </a:extLst>
          </p:cNvPr>
          <p:cNvSpPr txBox="1">
            <a:spLocks/>
          </p:cNvSpPr>
          <p:nvPr/>
        </p:nvSpPr>
        <p:spPr>
          <a:xfrm>
            <a:off x="603250" y="2225675"/>
            <a:ext cx="6665776" cy="6351897"/>
          </a:xfrm>
          <a:prstGeom prst="rect">
            <a:avLst/>
          </a:prstGeom>
          <a:ln w="12700">
            <a:miter lim="400000"/>
          </a:ln>
        </p:spPr>
        <p:txBody>
          <a:bodyPr wrap="square" lIns="89296" tIns="89296" rIns="89296" bIns="89296">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chemeClr val="accent3">
                    <a:lumOff val="44000"/>
                  </a:schemeClr>
                </a:solidFill>
                <a:effectLst/>
                <a:uFill>
                  <a:solidFill>
                    <a:srgbClr val="000000"/>
                  </a:solidFill>
                </a:uFill>
                <a:latin typeface="+mj-lt"/>
                <a:ea typeface="+mj-ea"/>
                <a:cs typeface="+mj-cs"/>
                <a:sym typeface="Helvetica"/>
              </a:defRPr>
            </a:lvl1pPr>
            <a:lvl2pPr marL="0" marR="0" indent="4572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2pPr>
            <a:lvl3pPr marL="0" marR="0" indent="9144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3pPr>
            <a:lvl4pPr marL="0" marR="0" indent="13716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4pPr>
            <a:lvl5pPr marL="0" marR="0" indent="18288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5pPr>
            <a:lvl6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6pPr>
            <a:lvl7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7pPr>
            <a:lvl8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8pPr>
            <a:lvl9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9pPr>
          </a:lstStyle>
          <a:p>
            <a:pPr algn="l"/>
            <a:r>
              <a:rPr lang="en-US" sz="4800" dirty="0">
                <a:solidFill>
                  <a:schemeClr val="tx1"/>
                </a:solidFill>
              </a:rPr>
              <a:t>Stimuli</a:t>
            </a:r>
          </a:p>
          <a:p>
            <a:pPr marL="571500" indent="-571500" algn="l">
              <a:lnSpc>
                <a:spcPct val="150000"/>
              </a:lnSpc>
              <a:buFont typeface="Arial" panose="020B0604020202020204" pitchFamily="34" charset="0"/>
              <a:buChar char="•"/>
            </a:pPr>
            <a:r>
              <a:rPr lang="en-US" sz="4800" b="0" dirty="0">
                <a:solidFill>
                  <a:schemeClr val="tx1"/>
                </a:solidFill>
              </a:rPr>
              <a:t>11 stories from </a:t>
            </a:r>
            <a:br>
              <a:rPr lang="en-US" sz="4800" b="0" dirty="0">
                <a:solidFill>
                  <a:schemeClr val="tx1"/>
                </a:solidFill>
              </a:rPr>
            </a:br>
            <a:r>
              <a:rPr lang="en-US" sz="4800" b="0" i="1" dirty="0">
                <a:solidFill>
                  <a:schemeClr val="tx1"/>
                </a:solidFill>
              </a:rPr>
              <a:t>The Moth Radio Hour</a:t>
            </a:r>
          </a:p>
          <a:p>
            <a:pPr marL="571500" indent="-571500" algn="l">
              <a:lnSpc>
                <a:spcPct val="150000"/>
              </a:lnSpc>
              <a:buFont typeface="Arial" panose="020B0604020202020204" pitchFamily="34" charset="0"/>
              <a:buChar char="•"/>
            </a:pPr>
            <a:r>
              <a:rPr lang="en-US" sz="4800" b="0" dirty="0">
                <a:solidFill>
                  <a:schemeClr val="tx1"/>
                </a:solidFill>
              </a:rPr>
              <a:t>10-15 min per story</a:t>
            </a:r>
          </a:p>
          <a:p>
            <a:pPr marL="571500" indent="-571500" algn="l">
              <a:lnSpc>
                <a:spcPct val="150000"/>
              </a:lnSpc>
              <a:buFont typeface="Arial" panose="020B0604020202020204" pitchFamily="34" charset="0"/>
              <a:buChar char="•"/>
            </a:pPr>
            <a:r>
              <a:rPr lang="en-US" sz="4800" b="0" dirty="0">
                <a:solidFill>
                  <a:schemeClr val="tx1"/>
                </a:solidFill>
              </a:rPr>
              <a:t>Listening and reading</a:t>
            </a:r>
          </a:p>
          <a:p>
            <a:pPr algn="l">
              <a:lnSpc>
                <a:spcPct val="150000"/>
              </a:lnSpc>
            </a:pPr>
            <a:endParaRPr lang="de-DE" sz="4800" dirty="0"/>
          </a:p>
        </p:txBody>
      </p:sp>
      <p:sp>
        <p:nvSpPr>
          <p:cNvPr id="8" name="Content Placeholder 7">
            <a:extLst>
              <a:ext uri="{FF2B5EF4-FFF2-40B4-BE49-F238E27FC236}">
                <a16:creationId xmlns:a16="http://schemas.microsoft.com/office/drawing/2014/main" id="{A71FD870-0BCB-F700-EF92-67E393243BB6}"/>
              </a:ext>
            </a:extLst>
          </p:cNvPr>
          <p:cNvSpPr txBox="1">
            <a:spLocks/>
          </p:cNvSpPr>
          <p:nvPr/>
        </p:nvSpPr>
        <p:spPr>
          <a:xfrm>
            <a:off x="7947309" y="2225675"/>
            <a:ext cx="7200825" cy="6171498"/>
          </a:xfrm>
          <a:prstGeom prst="rect">
            <a:avLst/>
          </a:prstGeom>
        </p:spPr>
        <p:txBody>
          <a:bodyPr wrap="square" lIns="0" tIns="0" rIns="0" bIns="0">
            <a:spAutoFit/>
          </a:bodyPr>
          <a:lstStyle>
            <a:lvl1pPr marL="0">
              <a:defRPr sz="3950" b="0" i="0">
                <a:solidFill>
                  <a:schemeClr val="tx1"/>
                </a:solidFill>
                <a:latin typeface="Arial"/>
                <a:ea typeface="+mn-ea"/>
                <a:cs typeface="Arial"/>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l"/>
            <a:r>
              <a:rPr lang="en-US" sz="4800" b="1" dirty="0">
                <a:latin typeface="Helvetica" pitchFamily="2" charset="0"/>
              </a:rPr>
              <a:t>fMRI Data</a:t>
            </a:r>
          </a:p>
          <a:p>
            <a:pPr marL="571500" indent="-571500" algn="l">
              <a:lnSpc>
                <a:spcPct val="150000"/>
              </a:lnSpc>
              <a:buFont typeface="Arial" panose="020B0604020202020204" pitchFamily="34" charset="0"/>
              <a:buChar char="•"/>
            </a:pPr>
            <a:r>
              <a:rPr lang="en-US" sz="4800" dirty="0">
                <a:latin typeface="Helvetica" pitchFamily="2" charset="0"/>
              </a:rPr>
              <a:t>From Deniz et al. (2019)</a:t>
            </a:r>
          </a:p>
          <a:p>
            <a:pPr marL="571500" indent="-571500" algn="l">
              <a:lnSpc>
                <a:spcPct val="150000"/>
              </a:lnSpc>
              <a:buFont typeface="Arial" panose="020B0604020202020204" pitchFamily="34" charset="0"/>
              <a:buChar char="•"/>
            </a:pPr>
            <a:r>
              <a:rPr lang="en-US" sz="4800" dirty="0">
                <a:latin typeface="Helvetica" pitchFamily="2" charset="0"/>
              </a:rPr>
              <a:t>9 subjects</a:t>
            </a:r>
          </a:p>
          <a:p>
            <a:pPr marL="571500" indent="-571500" algn="l">
              <a:lnSpc>
                <a:spcPct val="150000"/>
              </a:lnSpc>
              <a:buFont typeface="Arial" panose="020B0604020202020204" pitchFamily="34" charset="0"/>
              <a:buChar char="•"/>
            </a:pPr>
            <a:endParaRPr lang="en-US" sz="4800" dirty="0">
              <a:latin typeface="Helvetica" pitchFamily="2" charset="0"/>
            </a:endParaRPr>
          </a:p>
          <a:p>
            <a:pPr algn="l">
              <a:lnSpc>
                <a:spcPct val="150000"/>
              </a:lnSpc>
            </a:pPr>
            <a:endParaRPr lang="en-US" sz="4800" dirty="0">
              <a:latin typeface="Helvetica" pitchFamily="2" charset="0"/>
            </a:endParaRPr>
          </a:p>
          <a:p>
            <a:pPr algn="l">
              <a:lnSpc>
                <a:spcPct val="150000"/>
              </a:lnSpc>
            </a:pPr>
            <a:endParaRPr lang="de-DE" sz="4800" dirty="0">
              <a:latin typeface="Helvetica" pitchFamily="2" charset="0"/>
            </a:endParaRPr>
          </a:p>
        </p:txBody>
      </p:sp>
      <p:sp>
        <p:nvSpPr>
          <p:cNvPr id="9" name="Content Placeholder 7">
            <a:extLst>
              <a:ext uri="{FF2B5EF4-FFF2-40B4-BE49-F238E27FC236}">
                <a16:creationId xmlns:a16="http://schemas.microsoft.com/office/drawing/2014/main" id="{5A9FD936-ED61-ECDD-FCAA-8C3B53629A40}"/>
              </a:ext>
            </a:extLst>
          </p:cNvPr>
          <p:cNvSpPr txBox="1">
            <a:spLocks/>
          </p:cNvSpPr>
          <p:nvPr/>
        </p:nvSpPr>
        <p:spPr>
          <a:xfrm>
            <a:off x="15719634" y="2317750"/>
            <a:ext cx="9277298" cy="11711476"/>
          </a:xfrm>
          <a:prstGeom prst="rect">
            <a:avLst/>
          </a:prstGeom>
        </p:spPr>
        <p:txBody>
          <a:bodyPr wrap="square" lIns="0" tIns="0" rIns="0" bIns="0">
            <a:spAutoFit/>
          </a:bodyPr>
          <a:lstStyle>
            <a:lvl1pPr marL="0">
              <a:defRPr sz="3950" b="0" i="0">
                <a:solidFill>
                  <a:schemeClr val="tx1"/>
                </a:solidFill>
                <a:latin typeface="Arial"/>
                <a:ea typeface="+mn-ea"/>
                <a:cs typeface="Arial"/>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l"/>
            <a:r>
              <a:rPr lang="en-US" sz="4800" b="1" dirty="0">
                <a:latin typeface="+mj-lt"/>
              </a:rPr>
              <a:t>Features</a:t>
            </a:r>
          </a:p>
          <a:p>
            <a:pPr algn="l">
              <a:lnSpc>
                <a:spcPct val="150000"/>
              </a:lnSpc>
            </a:pPr>
            <a:r>
              <a:rPr lang="en-US" sz="4800" dirty="0">
                <a:solidFill>
                  <a:srgbClr val="C00000"/>
                </a:solidFill>
                <a:latin typeface="+mj-lt"/>
              </a:rPr>
              <a:t>Listening</a:t>
            </a:r>
          </a:p>
          <a:p>
            <a:pPr marL="571500" indent="-571500" algn="l">
              <a:buFont typeface="Arial" panose="020B0604020202020204" pitchFamily="34" charset="0"/>
              <a:buChar char="•"/>
            </a:pPr>
            <a:r>
              <a:rPr lang="de-DE" sz="4800" dirty="0" err="1">
                <a:latin typeface="+mj-lt"/>
              </a:rPr>
              <a:t>Phonemes</a:t>
            </a:r>
            <a:r>
              <a:rPr lang="de-DE" sz="4800" dirty="0">
                <a:latin typeface="+mj-lt"/>
              </a:rPr>
              <a:t> + </a:t>
            </a:r>
            <a:r>
              <a:rPr lang="de-DE" sz="4800" dirty="0" err="1">
                <a:latin typeface="+mj-lt"/>
              </a:rPr>
              <a:t>count</a:t>
            </a:r>
            <a:endParaRPr lang="de-DE" sz="4800" dirty="0">
              <a:latin typeface="+mj-lt"/>
            </a:endParaRPr>
          </a:p>
          <a:p>
            <a:pPr algn="l">
              <a:lnSpc>
                <a:spcPct val="150000"/>
              </a:lnSpc>
            </a:pPr>
            <a:r>
              <a:rPr lang="de-DE" sz="4800" dirty="0">
                <a:solidFill>
                  <a:srgbClr val="C00000"/>
                </a:solidFill>
                <a:latin typeface="+mj-lt"/>
              </a:rPr>
              <a:t>Reading</a:t>
            </a:r>
          </a:p>
          <a:p>
            <a:pPr marL="571500" indent="-571500" algn="l">
              <a:buFont typeface="Arial" panose="020B0604020202020204" pitchFamily="34" charset="0"/>
              <a:buChar char="•"/>
            </a:pPr>
            <a:r>
              <a:rPr lang="de-DE" sz="4800" dirty="0">
                <a:latin typeface="+mj-lt"/>
              </a:rPr>
              <a:t>Letters + </a:t>
            </a:r>
            <a:r>
              <a:rPr lang="de-DE" sz="4800" dirty="0" err="1">
                <a:latin typeface="+mj-lt"/>
              </a:rPr>
              <a:t>count</a:t>
            </a:r>
            <a:endParaRPr lang="de-DE" sz="4800" dirty="0">
              <a:latin typeface="+mj-lt"/>
            </a:endParaRPr>
          </a:p>
          <a:p>
            <a:pPr marL="571500" indent="-571500" algn="l">
              <a:lnSpc>
                <a:spcPct val="150000"/>
              </a:lnSpc>
              <a:buFont typeface="Arial" panose="020B0604020202020204" pitchFamily="34" charset="0"/>
              <a:buChar char="•"/>
            </a:pPr>
            <a:r>
              <a:rPr lang="de-DE" sz="4800" dirty="0">
                <a:latin typeface="+mj-lt"/>
              </a:rPr>
              <a:t>Word </a:t>
            </a:r>
            <a:r>
              <a:rPr lang="de-DE" sz="4800" dirty="0" err="1">
                <a:latin typeface="+mj-lt"/>
              </a:rPr>
              <a:t>length</a:t>
            </a:r>
            <a:r>
              <a:rPr lang="de-DE" sz="4800" dirty="0">
                <a:latin typeface="+mj-lt"/>
              </a:rPr>
              <a:t> </a:t>
            </a:r>
            <a:r>
              <a:rPr lang="de-DE" sz="4800" dirty="0" err="1">
                <a:latin typeface="+mj-lt"/>
              </a:rPr>
              <a:t>variation</a:t>
            </a:r>
            <a:endParaRPr lang="de-DE" sz="4800" dirty="0">
              <a:latin typeface="+mj-lt"/>
            </a:endParaRPr>
          </a:p>
          <a:p>
            <a:pPr algn="l">
              <a:lnSpc>
                <a:spcPct val="150000"/>
              </a:lnSpc>
            </a:pPr>
            <a:r>
              <a:rPr lang="de-DE" sz="4800" dirty="0">
                <a:solidFill>
                  <a:srgbClr val="C00000"/>
                </a:solidFill>
                <a:latin typeface="+mj-lt"/>
              </a:rPr>
              <a:t>Both</a:t>
            </a:r>
          </a:p>
          <a:p>
            <a:pPr marL="571500" indent="-571500" algn="l">
              <a:buFont typeface="Arial" panose="020B0604020202020204" pitchFamily="34" charset="0"/>
              <a:buChar char="•"/>
            </a:pPr>
            <a:r>
              <a:rPr lang="de-DE" sz="4800" dirty="0" err="1">
                <a:latin typeface="+mj-lt"/>
              </a:rPr>
              <a:t>Number</a:t>
            </a:r>
            <a:r>
              <a:rPr lang="de-DE" sz="4800" dirty="0">
                <a:latin typeface="+mj-lt"/>
              </a:rPr>
              <a:t> </a:t>
            </a:r>
            <a:r>
              <a:rPr lang="de-DE" sz="4800" dirty="0" err="1">
                <a:latin typeface="+mj-lt"/>
              </a:rPr>
              <a:t>of</a:t>
            </a:r>
            <a:r>
              <a:rPr lang="de-DE" sz="4800" dirty="0">
                <a:latin typeface="+mj-lt"/>
              </a:rPr>
              <a:t> </a:t>
            </a:r>
            <a:r>
              <a:rPr lang="de-DE" sz="4800" dirty="0" err="1">
                <a:latin typeface="+mj-lt"/>
              </a:rPr>
              <a:t>words</a:t>
            </a:r>
            <a:endParaRPr lang="de-DE" sz="4800" dirty="0">
              <a:latin typeface="+mj-lt"/>
            </a:endParaRPr>
          </a:p>
          <a:p>
            <a:pPr marL="571500" indent="-571500" algn="l">
              <a:lnSpc>
                <a:spcPct val="150000"/>
              </a:lnSpc>
              <a:buFont typeface="Arial" panose="020B0604020202020204" pitchFamily="34" charset="0"/>
              <a:buChar char="•"/>
            </a:pPr>
            <a:r>
              <a:rPr lang="de-DE" sz="4800" dirty="0" err="1">
                <a:latin typeface="+mj-lt"/>
              </a:rPr>
              <a:t>Number</a:t>
            </a:r>
            <a:r>
              <a:rPr lang="de-DE" sz="4800" dirty="0">
                <a:latin typeface="+mj-lt"/>
              </a:rPr>
              <a:t> </a:t>
            </a:r>
            <a:r>
              <a:rPr lang="de-DE" sz="4800" dirty="0" err="1">
                <a:latin typeface="+mj-lt"/>
              </a:rPr>
              <a:t>of</a:t>
            </a:r>
            <a:r>
              <a:rPr lang="de-DE" sz="4800" dirty="0">
                <a:latin typeface="+mj-lt"/>
              </a:rPr>
              <a:t> </a:t>
            </a:r>
            <a:r>
              <a:rPr lang="de-DE" sz="4800" dirty="0" err="1">
                <a:latin typeface="+mj-lt"/>
              </a:rPr>
              <a:t>pauses</a:t>
            </a:r>
            <a:endParaRPr lang="de-DE" sz="4800" dirty="0">
              <a:latin typeface="+mj-lt"/>
            </a:endParaRPr>
          </a:p>
          <a:p>
            <a:pPr marL="571500" indent="-571500" algn="l">
              <a:lnSpc>
                <a:spcPct val="150000"/>
              </a:lnSpc>
              <a:buFont typeface="Arial" panose="020B0604020202020204" pitchFamily="34" charset="0"/>
              <a:buChar char="•"/>
            </a:pPr>
            <a:r>
              <a:rPr lang="de-DE" sz="4800" dirty="0" err="1">
                <a:latin typeface="+mj-lt"/>
              </a:rPr>
              <a:t>Lexical</a:t>
            </a:r>
            <a:r>
              <a:rPr lang="de-DE" sz="4800" dirty="0">
                <a:latin typeface="+mj-lt"/>
              </a:rPr>
              <a:t> (English1000)</a:t>
            </a:r>
          </a:p>
          <a:p>
            <a:pPr marL="571500" indent="-571500" algn="l">
              <a:lnSpc>
                <a:spcPct val="150000"/>
              </a:lnSpc>
              <a:buFont typeface="Arial" panose="020B0604020202020204" pitchFamily="34" charset="0"/>
              <a:buChar char="•"/>
            </a:pPr>
            <a:endParaRPr lang="de-DE" sz="4800" dirty="0">
              <a:latin typeface="+mj-lt"/>
            </a:endParaRPr>
          </a:p>
          <a:p>
            <a:pPr marL="571500" indent="-571500" algn="l">
              <a:lnSpc>
                <a:spcPct val="150000"/>
              </a:lnSpc>
              <a:buFont typeface="Arial" panose="020B0604020202020204" pitchFamily="34" charset="0"/>
              <a:buChar char="•"/>
            </a:pPr>
            <a:endParaRPr lang="de-DE" sz="4800" dirty="0">
              <a:latin typeface="+mj-lt"/>
            </a:endParaRPr>
          </a:p>
        </p:txBody>
      </p:sp>
    </p:spTree>
    <p:extLst>
      <p:ext uri="{BB962C8B-B14F-4D97-AF65-F5344CB8AC3E}">
        <p14:creationId xmlns:p14="http://schemas.microsoft.com/office/powerpoint/2010/main" val="64057492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D0DF188-40FF-E47A-C0AF-ACCE2E38E1C8}"/>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9690DE1D-B43B-37B3-A1B3-BC03240CA86D}"/>
              </a:ext>
            </a:extLst>
          </p:cNvPr>
          <p:cNvPicPr>
            <a:picLocks noChangeAspect="1"/>
          </p:cNvPicPr>
          <p:nvPr/>
        </p:nvPicPr>
        <p:blipFill>
          <a:blip r:embed="rId3"/>
          <a:stretch>
            <a:fillRect/>
          </a:stretch>
        </p:blipFill>
        <p:spPr>
          <a:xfrm>
            <a:off x="7072574" y="1889566"/>
            <a:ext cx="10238852" cy="11405980"/>
          </a:xfrm>
          <a:prstGeom prst="rect">
            <a:avLst/>
          </a:prstGeom>
        </p:spPr>
      </p:pic>
      <p:pic>
        <p:nvPicPr>
          <p:cNvPr id="6" name="Picture 5">
            <a:extLst>
              <a:ext uri="{FF2B5EF4-FFF2-40B4-BE49-F238E27FC236}">
                <a16:creationId xmlns:a16="http://schemas.microsoft.com/office/drawing/2014/main" id="{451CB720-EF35-10D4-6E34-37404CED98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B19F36B3-165E-701B-2E57-E02201FAB579}"/>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15</a:t>
            </a:fld>
            <a:endParaRPr/>
          </a:p>
        </p:txBody>
      </p:sp>
      <p:sp>
        <p:nvSpPr>
          <p:cNvPr id="70" name="5.1 Das Document Object Model…">
            <a:extLst>
              <a:ext uri="{FF2B5EF4-FFF2-40B4-BE49-F238E27FC236}">
                <a16:creationId xmlns:a16="http://schemas.microsoft.com/office/drawing/2014/main" id="{4A73D01A-FA55-BEE4-8603-017596A8C463}"/>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Information restricted LLms</a:t>
            </a:r>
          </a:p>
        </p:txBody>
      </p:sp>
      <p:pic>
        <p:nvPicPr>
          <p:cNvPr id="4" name="Bild" descr="Bild">
            <a:extLst>
              <a:ext uri="{FF2B5EF4-FFF2-40B4-BE49-F238E27FC236}">
                <a16:creationId xmlns:a16="http://schemas.microsoft.com/office/drawing/2014/main" id="{8CD4E5A3-0644-2BFC-DA02-CA9AB99AA75E}"/>
              </a:ext>
            </a:extLst>
          </p:cNvPr>
          <p:cNvPicPr>
            <a:picLocks noChangeAspect="1"/>
          </p:cNvPicPr>
          <p:nvPr/>
        </p:nvPicPr>
        <p:blipFill>
          <a:blip r:embed="rId5"/>
          <a:stretch>
            <a:fillRect/>
          </a:stretch>
        </p:blipFill>
        <p:spPr>
          <a:xfrm>
            <a:off x="21373832" y="508000"/>
            <a:ext cx="2159389" cy="1207459"/>
          </a:xfrm>
          <a:prstGeom prst="rect">
            <a:avLst/>
          </a:prstGeom>
          <a:ln w="12700">
            <a:miter lim="400000"/>
          </a:ln>
        </p:spPr>
      </p:pic>
    </p:spTree>
    <p:extLst>
      <p:ext uri="{BB962C8B-B14F-4D97-AF65-F5344CB8AC3E}">
        <p14:creationId xmlns:p14="http://schemas.microsoft.com/office/powerpoint/2010/main" val="218092269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C67AC4B-3C0A-B600-1B4A-6DA884704656}"/>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443673C6-0047-8392-AC72-82B01E719E53}"/>
              </a:ext>
            </a:extLst>
          </p:cNvPr>
          <p:cNvPicPr>
            <a:picLocks noChangeAspect="1"/>
          </p:cNvPicPr>
          <p:nvPr/>
        </p:nvPicPr>
        <p:blipFill>
          <a:blip r:embed="rId3"/>
          <a:stretch>
            <a:fillRect/>
          </a:stretch>
        </p:blipFill>
        <p:spPr>
          <a:xfrm>
            <a:off x="7072574" y="1889566"/>
            <a:ext cx="10238852" cy="11405980"/>
          </a:xfrm>
          <a:prstGeom prst="rect">
            <a:avLst/>
          </a:prstGeom>
        </p:spPr>
      </p:pic>
      <p:pic>
        <p:nvPicPr>
          <p:cNvPr id="14" name="Picture 13">
            <a:extLst>
              <a:ext uri="{FF2B5EF4-FFF2-40B4-BE49-F238E27FC236}">
                <a16:creationId xmlns:a16="http://schemas.microsoft.com/office/drawing/2014/main" id="{3093E433-5EAB-9025-0252-6BC75AA9BAFD}"/>
              </a:ext>
            </a:extLst>
          </p:cNvPr>
          <p:cNvPicPr>
            <a:picLocks noChangeAspect="1"/>
          </p:cNvPicPr>
          <p:nvPr/>
        </p:nvPicPr>
        <p:blipFill>
          <a:blip r:embed="rId4"/>
          <a:stretch>
            <a:fillRect/>
          </a:stretch>
        </p:blipFill>
        <p:spPr>
          <a:xfrm>
            <a:off x="7072574" y="1889566"/>
            <a:ext cx="10238852" cy="11405980"/>
          </a:xfrm>
          <a:prstGeom prst="rect">
            <a:avLst/>
          </a:prstGeom>
        </p:spPr>
      </p:pic>
      <p:pic>
        <p:nvPicPr>
          <p:cNvPr id="6" name="Picture 5">
            <a:extLst>
              <a:ext uri="{FF2B5EF4-FFF2-40B4-BE49-F238E27FC236}">
                <a16:creationId xmlns:a16="http://schemas.microsoft.com/office/drawing/2014/main" id="{BF449DEA-20AC-22C5-9A68-E2614A6B1C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7DDCDBA9-51FE-3E6C-8941-71884AE3CED5}"/>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16</a:t>
            </a:fld>
            <a:endParaRPr/>
          </a:p>
        </p:txBody>
      </p:sp>
      <p:sp>
        <p:nvSpPr>
          <p:cNvPr id="70" name="5.1 Das Document Object Model…">
            <a:extLst>
              <a:ext uri="{FF2B5EF4-FFF2-40B4-BE49-F238E27FC236}">
                <a16:creationId xmlns:a16="http://schemas.microsoft.com/office/drawing/2014/main" id="{2E1D2103-2659-78AC-8860-A8422D40868D}"/>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Information restricted LLms</a:t>
            </a:r>
          </a:p>
        </p:txBody>
      </p:sp>
      <p:pic>
        <p:nvPicPr>
          <p:cNvPr id="4" name="Bild" descr="Bild">
            <a:extLst>
              <a:ext uri="{FF2B5EF4-FFF2-40B4-BE49-F238E27FC236}">
                <a16:creationId xmlns:a16="http://schemas.microsoft.com/office/drawing/2014/main" id="{9B73C503-4128-53F1-FC46-76DA78EED9B8}"/>
              </a:ext>
            </a:extLst>
          </p:cNvPr>
          <p:cNvPicPr>
            <a:picLocks noChangeAspect="1"/>
          </p:cNvPicPr>
          <p:nvPr/>
        </p:nvPicPr>
        <p:blipFill>
          <a:blip r:embed="rId6"/>
          <a:stretch>
            <a:fillRect/>
          </a:stretch>
        </p:blipFill>
        <p:spPr>
          <a:xfrm>
            <a:off x="21373832" y="508000"/>
            <a:ext cx="2159389" cy="1207459"/>
          </a:xfrm>
          <a:prstGeom prst="rect">
            <a:avLst/>
          </a:prstGeom>
          <a:ln w="12700">
            <a:miter lim="400000"/>
          </a:ln>
        </p:spPr>
      </p:pic>
    </p:spTree>
    <p:extLst>
      <p:ext uri="{BB962C8B-B14F-4D97-AF65-F5344CB8AC3E}">
        <p14:creationId xmlns:p14="http://schemas.microsoft.com/office/powerpoint/2010/main" val="216448428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5F7B52C-F6A9-0BA1-D149-CEA146E41E57}"/>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8874A12E-6F73-B977-9F21-EA0953A08E08}"/>
              </a:ext>
            </a:extLst>
          </p:cNvPr>
          <p:cNvPicPr>
            <a:picLocks noChangeAspect="1"/>
          </p:cNvPicPr>
          <p:nvPr/>
        </p:nvPicPr>
        <p:blipFill>
          <a:blip r:embed="rId3"/>
          <a:stretch>
            <a:fillRect/>
          </a:stretch>
        </p:blipFill>
        <p:spPr>
          <a:xfrm>
            <a:off x="7072574" y="1889566"/>
            <a:ext cx="10238852" cy="11405980"/>
          </a:xfrm>
          <a:prstGeom prst="rect">
            <a:avLst/>
          </a:prstGeom>
        </p:spPr>
      </p:pic>
      <p:pic>
        <p:nvPicPr>
          <p:cNvPr id="14" name="Picture 13">
            <a:extLst>
              <a:ext uri="{FF2B5EF4-FFF2-40B4-BE49-F238E27FC236}">
                <a16:creationId xmlns:a16="http://schemas.microsoft.com/office/drawing/2014/main" id="{43E86ABC-075F-5B0E-B8AB-6526E662C185}"/>
              </a:ext>
            </a:extLst>
          </p:cNvPr>
          <p:cNvPicPr>
            <a:picLocks noChangeAspect="1"/>
          </p:cNvPicPr>
          <p:nvPr/>
        </p:nvPicPr>
        <p:blipFill>
          <a:blip r:embed="rId4"/>
          <a:stretch>
            <a:fillRect/>
          </a:stretch>
        </p:blipFill>
        <p:spPr>
          <a:xfrm>
            <a:off x="7072574" y="1889566"/>
            <a:ext cx="10238852" cy="11405980"/>
          </a:xfrm>
          <a:prstGeom prst="rect">
            <a:avLst/>
          </a:prstGeom>
        </p:spPr>
      </p:pic>
      <p:pic>
        <p:nvPicPr>
          <p:cNvPr id="16" name="Picture 15">
            <a:extLst>
              <a:ext uri="{FF2B5EF4-FFF2-40B4-BE49-F238E27FC236}">
                <a16:creationId xmlns:a16="http://schemas.microsoft.com/office/drawing/2014/main" id="{11E04E64-5B61-ABED-554A-99FC73B0D443}"/>
              </a:ext>
            </a:extLst>
          </p:cNvPr>
          <p:cNvPicPr>
            <a:picLocks noChangeAspect="1"/>
          </p:cNvPicPr>
          <p:nvPr/>
        </p:nvPicPr>
        <p:blipFill>
          <a:blip r:embed="rId5"/>
          <a:stretch>
            <a:fillRect/>
          </a:stretch>
        </p:blipFill>
        <p:spPr>
          <a:xfrm>
            <a:off x="7072574" y="1889566"/>
            <a:ext cx="10238852" cy="11405980"/>
          </a:xfrm>
          <a:prstGeom prst="rect">
            <a:avLst/>
          </a:prstGeom>
        </p:spPr>
      </p:pic>
      <p:pic>
        <p:nvPicPr>
          <p:cNvPr id="6" name="Picture 5">
            <a:extLst>
              <a:ext uri="{FF2B5EF4-FFF2-40B4-BE49-F238E27FC236}">
                <a16:creationId xmlns:a16="http://schemas.microsoft.com/office/drawing/2014/main" id="{FCB48589-BCC8-583A-9A6E-F85F7F34EB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410B2B91-E187-659E-8ACA-47A671BA271B}"/>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17</a:t>
            </a:fld>
            <a:endParaRPr/>
          </a:p>
        </p:txBody>
      </p:sp>
      <p:sp>
        <p:nvSpPr>
          <p:cNvPr id="70" name="5.1 Das Document Object Model…">
            <a:extLst>
              <a:ext uri="{FF2B5EF4-FFF2-40B4-BE49-F238E27FC236}">
                <a16:creationId xmlns:a16="http://schemas.microsoft.com/office/drawing/2014/main" id="{48EEE2B6-1DCC-FB3B-F199-15D06B8AB86D}"/>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Information restricted LLms</a:t>
            </a:r>
          </a:p>
        </p:txBody>
      </p:sp>
      <p:pic>
        <p:nvPicPr>
          <p:cNvPr id="4" name="Bild" descr="Bild">
            <a:extLst>
              <a:ext uri="{FF2B5EF4-FFF2-40B4-BE49-F238E27FC236}">
                <a16:creationId xmlns:a16="http://schemas.microsoft.com/office/drawing/2014/main" id="{8F6BEA1C-2DA1-070E-B569-EDA778606B97}"/>
              </a:ext>
            </a:extLst>
          </p:cNvPr>
          <p:cNvPicPr>
            <a:picLocks noChangeAspect="1"/>
          </p:cNvPicPr>
          <p:nvPr/>
        </p:nvPicPr>
        <p:blipFill>
          <a:blip r:embed="rId7"/>
          <a:stretch>
            <a:fillRect/>
          </a:stretch>
        </p:blipFill>
        <p:spPr>
          <a:xfrm>
            <a:off x="21373832" y="508000"/>
            <a:ext cx="2159389" cy="1207459"/>
          </a:xfrm>
          <a:prstGeom prst="rect">
            <a:avLst/>
          </a:prstGeom>
          <a:ln w="12700">
            <a:miter lim="400000"/>
          </a:ln>
        </p:spPr>
      </p:pic>
    </p:spTree>
    <p:extLst>
      <p:ext uri="{BB962C8B-B14F-4D97-AF65-F5344CB8AC3E}">
        <p14:creationId xmlns:p14="http://schemas.microsoft.com/office/powerpoint/2010/main" val="358136052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9F4F283-E4A5-33E4-21B4-2F24CAD0E3BB}"/>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76BF25D-1C49-A1BD-46BF-7BFCF86140AE}"/>
              </a:ext>
            </a:extLst>
          </p:cNvPr>
          <p:cNvPicPr>
            <a:picLocks noChangeAspect="1"/>
          </p:cNvPicPr>
          <p:nvPr/>
        </p:nvPicPr>
        <p:blipFill>
          <a:blip r:embed="rId3"/>
          <a:stretch>
            <a:fillRect/>
          </a:stretch>
        </p:blipFill>
        <p:spPr>
          <a:xfrm>
            <a:off x="7072574" y="1889566"/>
            <a:ext cx="10238852" cy="11405980"/>
          </a:xfrm>
          <a:prstGeom prst="rect">
            <a:avLst/>
          </a:prstGeom>
        </p:spPr>
      </p:pic>
      <p:pic>
        <p:nvPicPr>
          <p:cNvPr id="6" name="Picture 5">
            <a:extLst>
              <a:ext uri="{FF2B5EF4-FFF2-40B4-BE49-F238E27FC236}">
                <a16:creationId xmlns:a16="http://schemas.microsoft.com/office/drawing/2014/main" id="{14427702-4871-C280-5350-C670095151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5DD5D9D7-3EA8-D02D-7995-13C9596ADAE4}"/>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18</a:t>
            </a:fld>
            <a:endParaRPr/>
          </a:p>
        </p:txBody>
      </p:sp>
      <p:sp>
        <p:nvSpPr>
          <p:cNvPr id="70" name="5.1 Das Document Object Model…">
            <a:extLst>
              <a:ext uri="{FF2B5EF4-FFF2-40B4-BE49-F238E27FC236}">
                <a16:creationId xmlns:a16="http://schemas.microsoft.com/office/drawing/2014/main" id="{DF0FB7B7-89DF-6C88-78A4-C8ABCE860FED}"/>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Information restricted LLms</a:t>
            </a:r>
          </a:p>
        </p:txBody>
      </p:sp>
      <p:pic>
        <p:nvPicPr>
          <p:cNvPr id="4" name="Bild" descr="Bild">
            <a:extLst>
              <a:ext uri="{FF2B5EF4-FFF2-40B4-BE49-F238E27FC236}">
                <a16:creationId xmlns:a16="http://schemas.microsoft.com/office/drawing/2014/main" id="{A5FF8290-80C8-1BEC-7C9F-FCD470942095}"/>
              </a:ext>
            </a:extLst>
          </p:cNvPr>
          <p:cNvPicPr>
            <a:picLocks noChangeAspect="1"/>
          </p:cNvPicPr>
          <p:nvPr/>
        </p:nvPicPr>
        <p:blipFill>
          <a:blip r:embed="rId5"/>
          <a:stretch>
            <a:fillRect/>
          </a:stretch>
        </p:blipFill>
        <p:spPr>
          <a:xfrm>
            <a:off x="21373832" y="508000"/>
            <a:ext cx="2159389" cy="1207459"/>
          </a:xfrm>
          <a:prstGeom prst="rect">
            <a:avLst/>
          </a:prstGeom>
          <a:ln w="12700">
            <a:miter lim="400000"/>
          </a:ln>
        </p:spPr>
      </p:pic>
      <p:grpSp>
        <p:nvGrpSpPr>
          <p:cNvPr id="2" name="object 73">
            <a:extLst>
              <a:ext uri="{FF2B5EF4-FFF2-40B4-BE49-F238E27FC236}">
                <a16:creationId xmlns:a16="http://schemas.microsoft.com/office/drawing/2014/main" id="{BA6870D8-0DBE-A5CD-3E89-BBF34D1DB960}"/>
              </a:ext>
            </a:extLst>
          </p:cNvPr>
          <p:cNvGrpSpPr/>
          <p:nvPr/>
        </p:nvGrpSpPr>
        <p:grpSpPr>
          <a:xfrm>
            <a:off x="10751885" y="10420875"/>
            <a:ext cx="1512387" cy="401095"/>
            <a:chOff x="8895474" y="8615656"/>
            <a:chExt cx="1211580" cy="294005"/>
          </a:xfrm>
        </p:grpSpPr>
        <p:sp>
          <p:nvSpPr>
            <p:cNvPr id="3" name="object 74">
              <a:extLst>
                <a:ext uri="{FF2B5EF4-FFF2-40B4-BE49-F238E27FC236}">
                  <a16:creationId xmlns:a16="http://schemas.microsoft.com/office/drawing/2014/main" id="{F60C6F68-8055-259A-D1C6-C27D038DA1FA}"/>
                </a:ext>
              </a:extLst>
            </p:cNvPr>
            <p:cNvSpPr/>
            <p:nvPr/>
          </p:nvSpPr>
          <p:spPr>
            <a:xfrm>
              <a:off x="8906003" y="8626184"/>
              <a:ext cx="1189990" cy="273050"/>
            </a:xfrm>
            <a:custGeom>
              <a:avLst/>
              <a:gdLst/>
              <a:ahLst/>
              <a:cxnLst/>
              <a:rect l="l" t="t" r="r" b="b"/>
              <a:pathLst>
                <a:path w="1189990" h="273050">
                  <a:moveTo>
                    <a:pt x="1053465" y="0"/>
                  </a:moveTo>
                  <a:lnTo>
                    <a:pt x="1053465" y="88689"/>
                  </a:lnTo>
                  <a:lnTo>
                    <a:pt x="0" y="88689"/>
                  </a:lnTo>
                  <a:lnTo>
                    <a:pt x="0" y="184200"/>
                  </a:lnTo>
                  <a:lnTo>
                    <a:pt x="1053465" y="184200"/>
                  </a:lnTo>
                  <a:lnTo>
                    <a:pt x="1053465" y="272890"/>
                  </a:lnTo>
                  <a:lnTo>
                    <a:pt x="1189949" y="136445"/>
                  </a:lnTo>
                  <a:lnTo>
                    <a:pt x="1053465" y="0"/>
                  </a:lnTo>
                  <a:close/>
                </a:path>
              </a:pathLst>
            </a:custGeom>
            <a:solidFill>
              <a:srgbClr val="000000"/>
            </a:solidFill>
          </p:spPr>
          <p:txBody>
            <a:bodyPr wrap="square" lIns="0" tIns="0" rIns="0" bIns="0" rtlCol="0"/>
            <a:lstStyle/>
            <a:p>
              <a:endParaRPr/>
            </a:p>
          </p:txBody>
        </p:sp>
        <p:sp>
          <p:nvSpPr>
            <p:cNvPr id="5" name="object 75">
              <a:extLst>
                <a:ext uri="{FF2B5EF4-FFF2-40B4-BE49-F238E27FC236}">
                  <a16:creationId xmlns:a16="http://schemas.microsoft.com/office/drawing/2014/main" id="{EC16C173-ADB5-863E-36CD-01F32C12FFA6}"/>
                </a:ext>
              </a:extLst>
            </p:cNvPr>
            <p:cNvSpPr/>
            <p:nvPr/>
          </p:nvSpPr>
          <p:spPr>
            <a:xfrm>
              <a:off x="8906003" y="8626184"/>
              <a:ext cx="1189990" cy="273050"/>
            </a:xfrm>
            <a:custGeom>
              <a:avLst/>
              <a:gdLst/>
              <a:ahLst/>
              <a:cxnLst/>
              <a:rect l="l" t="t" r="r" b="b"/>
              <a:pathLst>
                <a:path w="1189990" h="273050">
                  <a:moveTo>
                    <a:pt x="0" y="184200"/>
                  </a:moveTo>
                  <a:lnTo>
                    <a:pt x="0" y="88689"/>
                  </a:lnTo>
                  <a:lnTo>
                    <a:pt x="1053465" y="88689"/>
                  </a:lnTo>
                  <a:lnTo>
                    <a:pt x="1053465" y="0"/>
                  </a:lnTo>
                  <a:lnTo>
                    <a:pt x="1189949" y="136445"/>
                  </a:lnTo>
                  <a:lnTo>
                    <a:pt x="1053465" y="272890"/>
                  </a:lnTo>
                  <a:lnTo>
                    <a:pt x="1053465" y="184200"/>
                  </a:lnTo>
                  <a:lnTo>
                    <a:pt x="0" y="184200"/>
                  </a:lnTo>
                  <a:close/>
                </a:path>
              </a:pathLst>
            </a:custGeom>
            <a:ln w="21056">
              <a:solidFill>
                <a:srgbClr val="000000"/>
              </a:solidFill>
            </a:ln>
          </p:spPr>
          <p:txBody>
            <a:bodyPr wrap="square" lIns="0" tIns="0" rIns="0" bIns="0" rtlCol="0"/>
            <a:lstStyle/>
            <a:p>
              <a:endParaRPr/>
            </a:p>
          </p:txBody>
        </p:sp>
      </p:grpSp>
    </p:spTree>
    <p:extLst>
      <p:ext uri="{BB962C8B-B14F-4D97-AF65-F5344CB8AC3E}">
        <p14:creationId xmlns:p14="http://schemas.microsoft.com/office/powerpoint/2010/main" val="351363690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3AD0B7B-C41F-165C-8F8F-B87DD8040993}"/>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CD7DB2B3-D180-6649-3073-A721F1009ED2}"/>
              </a:ext>
            </a:extLst>
          </p:cNvPr>
          <p:cNvPicPr>
            <a:picLocks noChangeAspect="1"/>
          </p:cNvPicPr>
          <p:nvPr/>
        </p:nvPicPr>
        <p:blipFill>
          <a:blip r:embed="rId3"/>
          <a:stretch>
            <a:fillRect/>
          </a:stretch>
        </p:blipFill>
        <p:spPr>
          <a:xfrm>
            <a:off x="7072574" y="1889566"/>
            <a:ext cx="10238852" cy="11405980"/>
          </a:xfrm>
          <a:prstGeom prst="rect">
            <a:avLst/>
          </a:prstGeom>
        </p:spPr>
      </p:pic>
      <p:pic>
        <p:nvPicPr>
          <p:cNvPr id="6" name="Picture 5">
            <a:extLst>
              <a:ext uri="{FF2B5EF4-FFF2-40B4-BE49-F238E27FC236}">
                <a16:creationId xmlns:a16="http://schemas.microsoft.com/office/drawing/2014/main" id="{EA1EAE8C-8B2F-0AFD-CB46-61C501CBC2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5D729B29-BC71-BB47-5259-63BA42EC09FB}"/>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19</a:t>
            </a:fld>
            <a:endParaRPr/>
          </a:p>
        </p:txBody>
      </p:sp>
      <p:sp>
        <p:nvSpPr>
          <p:cNvPr id="70" name="5.1 Das Document Object Model…">
            <a:extLst>
              <a:ext uri="{FF2B5EF4-FFF2-40B4-BE49-F238E27FC236}">
                <a16:creationId xmlns:a16="http://schemas.microsoft.com/office/drawing/2014/main" id="{1653B95B-C3E1-4E07-CB56-AC50153553CB}"/>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Information restricted LLms</a:t>
            </a:r>
          </a:p>
        </p:txBody>
      </p:sp>
      <p:pic>
        <p:nvPicPr>
          <p:cNvPr id="4" name="Bild" descr="Bild">
            <a:extLst>
              <a:ext uri="{FF2B5EF4-FFF2-40B4-BE49-F238E27FC236}">
                <a16:creationId xmlns:a16="http://schemas.microsoft.com/office/drawing/2014/main" id="{418F974B-FDEC-96B6-2002-79C3C644C675}"/>
              </a:ext>
            </a:extLst>
          </p:cNvPr>
          <p:cNvPicPr>
            <a:picLocks noChangeAspect="1"/>
          </p:cNvPicPr>
          <p:nvPr/>
        </p:nvPicPr>
        <p:blipFill>
          <a:blip r:embed="rId5"/>
          <a:stretch>
            <a:fillRect/>
          </a:stretch>
        </p:blipFill>
        <p:spPr>
          <a:xfrm>
            <a:off x="21373832" y="508000"/>
            <a:ext cx="2159389" cy="1207459"/>
          </a:xfrm>
          <a:prstGeom prst="rect">
            <a:avLst/>
          </a:prstGeom>
          <a:ln w="12700">
            <a:miter lim="400000"/>
          </a:ln>
        </p:spPr>
      </p:pic>
      <p:grpSp>
        <p:nvGrpSpPr>
          <p:cNvPr id="2" name="object 73">
            <a:extLst>
              <a:ext uri="{FF2B5EF4-FFF2-40B4-BE49-F238E27FC236}">
                <a16:creationId xmlns:a16="http://schemas.microsoft.com/office/drawing/2014/main" id="{6315A6C0-34F7-D8F7-3D53-13B9B62345DB}"/>
              </a:ext>
            </a:extLst>
          </p:cNvPr>
          <p:cNvGrpSpPr/>
          <p:nvPr/>
        </p:nvGrpSpPr>
        <p:grpSpPr>
          <a:xfrm>
            <a:off x="10751885" y="10420875"/>
            <a:ext cx="1512387" cy="401095"/>
            <a:chOff x="8895474" y="8615656"/>
            <a:chExt cx="1211580" cy="294005"/>
          </a:xfrm>
        </p:grpSpPr>
        <p:sp>
          <p:nvSpPr>
            <p:cNvPr id="3" name="object 74">
              <a:extLst>
                <a:ext uri="{FF2B5EF4-FFF2-40B4-BE49-F238E27FC236}">
                  <a16:creationId xmlns:a16="http://schemas.microsoft.com/office/drawing/2014/main" id="{AF240FF0-61A8-8FF8-D590-861D2C9A195B}"/>
                </a:ext>
              </a:extLst>
            </p:cNvPr>
            <p:cNvSpPr/>
            <p:nvPr/>
          </p:nvSpPr>
          <p:spPr>
            <a:xfrm>
              <a:off x="8906003" y="8626184"/>
              <a:ext cx="1189990" cy="273050"/>
            </a:xfrm>
            <a:custGeom>
              <a:avLst/>
              <a:gdLst/>
              <a:ahLst/>
              <a:cxnLst/>
              <a:rect l="l" t="t" r="r" b="b"/>
              <a:pathLst>
                <a:path w="1189990" h="273050">
                  <a:moveTo>
                    <a:pt x="1053465" y="0"/>
                  </a:moveTo>
                  <a:lnTo>
                    <a:pt x="1053465" y="88689"/>
                  </a:lnTo>
                  <a:lnTo>
                    <a:pt x="0" y="88689"/>
                  </a:lnTo>
                  <a:lnTo>
                    <a:pt x="0" y="184200"/>
                  </a:lnTo>
                  <a:lnTo>
                    <a:pt x="1053465" y="184200"/>
                  </a:lnTo>
                  <a:lnTo>
                    <a:pt x="1053465" y="272890"/>
                  </a:lnTo>
                  <a:lnTo>
                    <a:pt x="1189949" y="136445"/>
                  </a:lnTo>
                  <a:lnTo>
                    <a:pt x="1053465" y="0"/>
                  </a:lnTo>
                  <a:close/>
                </a:path>
              </a:pathLst>
            </a:custGeom>
            <a:solidFill>
              <a:srgbClr val="000000"/>
            </a:solidFill>
          </p:spPr>
          <p:txBody>
            <a:bodyPr wrap="square" lIns="0" tIns="0" rIns="0" bIns="0" rtlCol="0"/>
            <a:lstStyle/>
            <a:p>
              <a:endParaRPr/>
            </a:p>
          </p:txBody>
        </p:sp>
        <p:sp>
          <p:nvSpPr>
            <p:cNvPr id="5" name="object 75">
              <a:extLst>
                <a:ext uri="{FF2B5EF4-FFF2-40B4-BE49-F238E27FC236}">
                  <a16:creationId xmlns:a16="http://schemas.microsoft.com/office/drawing/2014/main" id="{05EBA443-D981-518E-53B0-A456C5D0F2BA}"/>
                </a:ext>
              </a:extLst>
            </p:cNvPr>
            <p:cNvSpPr/>
            <p:nvPr/>
          </p:nvSpPr>
          <p:spPr>
            <a:xfrm>
              <a:off x="8906003" y="8626184"/>
              <a:ext cx="1189990" cy="273050"/>
            </a:xfrm>
            <a:custGeom>
              <a:avLst/>
              <a:gdLst/>
              <a:ahLst/>
              <a:cxnLst/>
              <a:rect l="l" t="t" r="r" b="b"/>
              <a:pathLst>
                <a:path w="1189990" h="273050">
                  <a:moveTo>
                    <a:pt x="0" y="184200"/>
                  </a:moveTo>
                  <a:lnTo>
                    <a:pt x="0" y="88689"/>
                  </a:lnTo>
                  <a:lnTo>
                    <a:pt x="1053465" y="88689"/>
                  </a:lnTo>
                  <a:lnTo>
                    <a:pt x="1053465" y="0"/>
                  </a:lnTo>
                  <a:lnTo>
                    <a:pt x="1189949" y="136445"/>
                  </a:lnTo>
                  <a:lnTo>
                    <a:pt x="1053465" y="272890"/>
                  </a:lnTo>
                  <a:lnTo>
                    <a:pt x="1053465" y="184200"/>
                  </a:lnTo>
                  <a:lnTo>
                    <a:pt x="0" y="184200"/>
                  </a:lnTo>
                  <a:close/>
                </a:path>
              </a:pathLst>
            </a:custGeom>
            <a:ln w="21056">
              <a:solidFill>
                <a:srgbClr val="000000"/>
              </a:solidFill>
            </a:ln>
          </p:spPr>
          <p:txBody>
            <a:bodyPr wrap="square" lIns="0" tIns="0" rIns="0" bIns="0" rtlCol="0"/>
            <a:lstStyle/>
            <a:p>
              <a:endParaRPr/>
            </a:p>
          </p:txBody>
        </p:sp>
      </p:grpSp>
    </p:spTree>
    <p:extLst>
      <p:ext uri="{BB962C8B-B14F-4D97-AF65-F5344CB8AC3E}">
        <p14:creationId xmlns:p14="http://schemas.microsoft.com/office/powerpoint/2010/main" val="39762255"/>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2B70CDA-D729-E5F8-2E2C-B0F9D3AF1094}"/>
            </a:ext>
          </a:extLst>
        </p:cNvPr>
        <p:cNvGrpSpPr/>
        <p:nvPr/>
      </p:nvGrpSpPr>
      <p:grpSpPr>
        <a:xfrm>
          <a:off x="0" y="0"/>
          <a:ext cx="0" cy="0"/>
          <a:chOff x="0" y="0"/>
          <a:chExt cx="0" cy="0"/>
        </a:xfrm>
      </p:grpSpPr>
      <p:sp>
        <p:nvSpPr>
          <p:cNvPr id="70" name="5.1 Das Document Object Model…">
            <a:extLst>
              <a:ext uri="{FF2B5EF4-FFF2-40B4-BE49-F238E27FC236}">
                <a16:creationId xmlns:a16="http://schemas.microsoft.com/office/drawing/2014/main" id="{83E958BB-321C-6F1A-55A7-F2338AD8E2F9}"/>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Voxel-wise encoding</a:t>
            </a:r>
          </a:p>
        </p:txBody>
      </p:sp>
      <p:pic>
        <p:nvPicPr>
          <p:cNvPr id="4" name="Bild" descr="Bild">
            <a:extLst>
              <a:ext uri="{FF2B5EF4-FFF2-40B4-BE49-F238E27FC236}">
                <a16:creationId xmlns:a16="http://schemas.microsoft.com/office/drawing/2014/main" id="{4DFE3DDB-A991-2D4E-3BED-0E9874EE19EA}"/>
              </a:ext>
            </a:extLst>
          </p:cNvPr>
          <p:cNvPicPr>
            <a:picLocks noChangeAspect="1"/>
          </p:cNvPicPr>
          <p:nvPr/>
        </p:nvPicPr>
        <p:blipFill>
          <a:blip r:embed="rId3"/>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2936B929-3A5F-7E2B-6427-F3D05298E96A}"/>
              </a:ext>
            </a:extLst>
          </p:cNvPr>
          <p:cNvSpPr txBox="1"/>
          <p:nvPr/>
        </p:nvSpPr>
        <p:spPr>
          <a:xfrm>
            <a:off x="670356" y="2723316"/>
            <a:ext cx="15820375" cy="7815516"/>
          </a:xfrm>
          <a:prstGeom prst="rect">
            <a:avLst/>
          </a:prstGeom>
          <a:ln w="12700">
            <a:miter lim="400000"/>
          </a:ln>
          <a:extLst>
            <a:ext uri="{C572A759-6A51-4108-AA02-DFA0A04FC94B}">
              <ma14:wrappingTextBoxFlag xmlns:mc="http://schemas.openxmlformats.org/markup-compatibility/2006" xmlns:a14="http://schemas.microsoft.com/office/drawing/2010/main" xmlns:ma14="http://schemas.microsoft.com/office/mac/drawingml/2011/main" xmlns:m="http://schemas.openxmlformats.org/officeDocument/2006/math" xmlns="" val="1"/>
            </a:ext>
          </a:extLst>
        </p:spPr>
        <p:txBody>
          <a:bodyPr lIns="45719" rIns="45719" anchor="t"/>
          <a:lstStyle/>
          <a:p>
            <a:pPr algn="l" defTabSz="457200">
              <a:spcBef>
                <a:spcPts val="300"/>
              </a:spcBef>
              <a:buSzPct val="100000"/>
              <a:defRPr sz="3000"/>
            </a:pPr>
            <a:r>
              <a:rPr lang="en-US" sz="4800" b="1" dirty="0">
                <a:solidFill>
                  <a:schemeClr val="tx1"/>
                </a:solidFill>
              </a:rPr>
              <a:t>Banded Ridge Regression</a:t>
            </a:r>
          </a:p>
          <a:p>
            <a:pPr algn="l" defTabSz="457200">
              <a:spcBef>
                <a:spcPts val="300"/>
              </a:spcBef>
              <a:buSzPct val="100000"/>
              <a:defRPr sz="3000"/>
            </a:pPr>
            <a:r>
              <a:rPr lang="en-US" sz="4800" dirty="0">
                <a:solidFill>
                  <a:schemeClr val="tx1"/>
                </a:solidFill>
              </a:rPr>
              <a:t>to model BOLD as linear combination of masked embeddings and low-level features</a:t>
            </a:r>
          </a:p>
          <a:p>
            <a:pPr algn="l" defTabSz="457200">
              <a:spcBef>
                <a:spcPts val="300"/>
              </a:spcBef>
              <a:buSzPct val="100000"/>
              <a:defRPr sz="3000"/>
            </a:pPr>
            <a:endParaRPr lang="en-US" sz="4800" dirty="0">
              <a:solidFill>
                <a:schemeClr val="tx1"/>
              </a:solidFill>
            </a:endParaRPr>
          </a:p>
        </p:txBody>
      </p:sp>
    </p:spTree>
    <p:extLst>
      <p:ext uri="{BB962C8B-B14F-4D97-AF65-F5344CB8AC3E}">
        <p14:creationId xmlns:p14="http://schemas.microsoft.com/office/powerpoint/2010/main" val="4155754679"/>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0F4C62C-73A0-F4F0-1D44-42C43EA46F66}"/>
            </a:ext>
          </a:extLst>
        </p:cNvPr>
        <p:cNvGrpSpPr/>
        <p:nvPr/>
      </p:nvGrpSpPr>
      <p:grpSpPr>
        <a:xfrm>
          <a:off x="0" y="0"/>
          <a:ext cx="0" cy="0"/>
          <a:chOff x="0" y="0"/>
          <a:chExt cx="0" cy="0"/>
        </a:xfrm>
      </p:grpSpPr>
      <p:sp>
        <p:nvSpPr>
          <p:cNvPr id="70" name="5.1 Das Document Object Model…">
            <a:extLst>
              <a:ext uri="{FF2B5EF4-FFF2-40B4-BE49-F238E27FC236}">
                <a16:creationId xmlns:a16="http://schemas.microsoft.com/office/drawing/2014/main" id="{0DA26D5E-0FE6-D73F-F85B-621894E0B3E2}"/>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Voxel-wise encoding</a:t>
            </a:r>
          </a:p>
        </p:txBody>
      </p:sp>
      <p:pic>
        <p:nvPicPr>
          <p:cNvPr id="4" name="Bild" descr="Bild">
            <a:extLst>
              <a:ext uri="{FF2B5EF4-FFF2-40B4-BE49-F238E27FC236}">
                <a16:creationId xmlns:a16="http://schemas.microsoft.com/office/drawing/2014/main" id="{B15D3E52-4263-4AC7-4F61-110612306FE4}"/>
              </a:ext>
            </a:extLst>
          </p:cNvPr>
          <p:cNvPicPr>
            <a:picLocks noChangeAspect="1"/>
          </p:cNvPicPr>
          <p:nvPr/>
        </p:nvPicPr>
        <p:blipFill>
          <a:blip r:embed="rId3"/>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AC7B822B-2FF0-9F3C-23B4-24992BA5A1DB}"/>
              </a:ext>
            </a:extLst>
          </p:cNvPr>
          <p:cNvSpPr txBox="1"/>
          <p:nvPr/>
        </p:nvSpPr>
        <p:spPr>
          <a:xfrm>
            <a:off x="670356" y="2723316"/>
            <a:ext cx="15820375"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spcBef>
                <a:spcPts val="300"/>
              </a:spcBef>
              <a:buSzPct val="100000"/>
              <a:defRPr sz="3000"/>
            </a:pPr>
            <a:r>
              <a:rPr lang="en-US" sz="4800" b="1" dirty="0">
                <a:solidFill>
                  <a:schemeClr val="tx1"/>
                </a:solidFill>
              </a:rPr>
              <a:t>Banded Ridge Regression</a:t>
            </a:r>
          </a:p>
          <a:p>
            <a:pPr algn="l" defTabSz="457200">
              <a:spcBef>
                <a:spcPts val="300"/>
              </a:spcBef>
              <a:buSzPct val="100000"/>
              <a:defRPr sz="3000"/>
            </a:pPr>
            <a:r>
              <a:rPr lang="en-US" sz="4800" dirty="0">
                <a:solidFill>
                  <a:schemeClr val="tx1"/>
                </a:solidFill>
              </a:rPr>
              <a:t>to model BOLD as linear combination of masked embeddings and low-level features</a:t>
            </a:r>
          </a:p>
          <a:p>
            <a:pPr algn="l" defTabSz="457200">
              <a:spcBef>
                <a:spcPts val="300"/>
              </a:spcBef>
              <a:buSzPct val="100000"/>
              <a:defRPr sz="3000"/>
            </a:pPr>
            <a:endParaRPr lang="en-US" sz="4800" dirty="0">
              <a:solidFill>
                <a:schemeClr val="tx1"/>
              </a:solidFill>
            </a:endParaRPr>
          </a:p>
          <a:p>
            <a:pPr algn="l" defTabSz="457200">
              <a:spcBef>
                <a:spcPts val="300"/>
              </a:spcBef>
              <a:buSzPct val="100000"/>
              <a:defRPr sz="3000"/>
            </a:pPr>
            <a:r>
              <a:rPr lang="en-US" sz="4800" b="1" dirty="0">
                <a:solidFill>
                  <a:schemeClr val="tx1"/>
                </a:solidFill>
              </a:rPr>
              <a:t>POS used</a:t>
            </a:r>
          </a:p>
          <a:p>
            <a:pPr algn="l" defTabSz="457200">
              <a:spcBef>
                <a:spcPts val="300"/>
              </a:spcBef>
              <a:buSzPct val="100000"/>
              <a:defRPr sz="3000"/>
            </a:pPr>
            <a:r>
              <a:rPr lang="en-US" sz="4800" dirty="0">
                <a:solidFill>
                  <a:schemeClr val="tx1"/>
                </a:solidFill>
              </a:rPr>
              <a:t>nouns, verbs, adjectives, adverbs, pronouns, interjections</a:t>
            </a:r>
          </a:p>
          <a:p>
            <a:pPr algn="l" defTabSz="457200">
              <a:spcBef>
                <a:spcPts val="300"/>
              </a:spcBef>
              <a:buSzPct val="100000"/>
              <a:defRPr sz="3000"/>
            </a:pPr>
            <a:endParaRPr lang="en-US" sz="4800" dirty="0">
              <a:solidFill>
                <a:schemeClr val="tx1"/>
              </a:solidFill>
            </a:endParaRPr>
          </a:p>
        </p:txBody>
      </p:sp>
    </p:spTree>
    <p:extLst>
      <p:ext uri="{BB962C8B-B14F-4D97-AF65-F5344CB8AC3E}">
        <p14:creationId xmlns:p14="http://schemas.microsoft.com/office/powerpoint/2010/main" val="3896473358"/>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B5C458C-9942-C93B-B8C2-EA8C88D841A7}"/>
            </a:ext>
          </a:extLst>
        </p:cNvPr>
        <p:cNvGrpSpPr/>
        <p:nvPr/>
      </p:nvGrpSpPr>
      <p:grpSpPr>
        <a:xfrm>
          <a:off x="0" y="0"/>
          <a:ext cx="0" cy="0"/>
          <a:chOff x="0" y="0"/>
          <a:chExt cx="0" cy="0"/>
        </a:xfrm>
      </p:grpSpPr>
      <p:sp>
        <p:nvSpPr>
          <p:cNvPr id="70" name="5.1 Das Document Object Model…">
            <a:extLst>
              <a:ext uri="{FF2B5EF4-FFF2-40B4-BE49-F238E27FC236}">
                <a16:creationId xmlns:a16="http://schemas.microsoft.com/office/drawing/2014/main" id="{95924AA1-7272-E2F1-7C76-FAE28A071438}"/>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Voxel-wise encoding</a:t>
            </a:r>
          </a:p>
        </p:txBody>
      </p:sp>
      <p:pic>
        <p:nvPicPr>
          <p:cNvPr id="4" name="Bild" descr="Bild">
            <a:extLst>
              <a:ext uri="{FF2B5EF4-FFF2-40B4-BE49-F238E27FC236}">
                <a16:creationId xmlns:a16="http://schemas.microsoft.com/office/drawing/2014/main" id="{5CCDD46D-0E8F-F060-8D93-96DC28011528}"/>
              </a:ext>
            </a:extLst>
          </p:cNvPr>
          <p:cNvPicPr>
            <a:picLocks noChangeAspect="1"/>
          </p:cNvPicPr>
          <p:nvPr/>
        </p:nvPicPr>
        <p:blipFill>
          <a:blip r:embed="rId3"/>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BC4D6A6D-EB5E-F4E3-FA1E-57AF31E9E9E3}"/>
              </a:ext>
            </a:extLst>
          </p:cNvPr>
          <p:cNvSpPr txBox="1"/>
          <p:nvPr/>
        </p:nvSpPr>
        <p:spPr>
          <a:xfrm>
            <a:off x="670356" y="2723316"/>
            <a:ext cx="15820375" cy="7815516"/>
          </a:xfrm>
          <a:prstGeom prst="rect">
            <a:avLst/>
          </a:prstGeom>
          <a:ln w="12700">
            <a:miter lim="400000"/>
          </a:ln>
          <a:extLst>
            <a:ext uri="{C572A759-6A51-4108-AA02-DFA0A04FC94B}">
              <ma14:wrappingTextBoxFlag xmlns:mc="http://schemas.openxmlformats.org/markup-compatibility/2006" xmlns:a14="http://schemas.microsoft.com/office/drawing/2010/main" xmlns:ma14="http://schemas.microsoft.com/office/mac/drawingml/2011/main" xmlns:m="http://schemas.openxmlformats.org/officeDocument/2006/math" xmlns="" val="1"/>
            </a:ext>
          </a:extLst>
        </p:spPr>
        <p:txBody>
          <a:bodyPr lIns="45719" rIns="45719" anchor="t"/>
          <a:lstStyle/>
          <a:p>
            <a:pPr algn="l" defTabSz="457200">
              <a:spcBef>
                <a:spcPts val="300"/>
              </a:spcBef>
              <a:buSzPct val="100000"/>
              <a:defRPr sz="3000"/>
            </a:pPr>
            <a:r>
              <a:rPr lang="en-US" sz="4800" b="1" dirty="0">
                <a:solidFill>
                  <a:schemeClr val="tx1"/>
                </a:solidFill>
              </a:rPr>
              <a:t>Banded Ridge Regression</a:t>
            </a:r>
          </a:p>
          <a:p>
            <a:pPr algn="l" defTabSz="457200">
              <a:spcBef>
                <a:spcPts val="300"/>
              </a:spcBef>
              <a:buSzPct val="100000"/>
              <a:defRPr sz="3000"/>
            </a:pPr>
            <a:r>
              <a:rPr lang="en-US" sz="4800" dirty="0">
                <a:solidFill>
                  <a:schemeClr val="tx1"/>
                </a:solidFill>
              </a:rPr>
              <a:t>to model BOLD as linear combination of masked embeddings and low-level features</a:t>
            </a:r>
          </a:p>
          <a:p>
            <a:pPr algn="l" defTabSz="457200">
              <a:spcBef>
                <a:spcPts val="300"/>
              </a:spcBef>
              <a:buSzPct val="100000"/>
              <a:defRPr sz="3000"/>
            </a:pPr>
            <a:endParaRPr lang="en-US" sz="4800" dirty="0">
              <a:solidFill>
                <a:schemeClr val="tx1"/>
              </a:solidFill>
            </a:endParaRPr>
          </a:p>
          <a:p>
            <a:pPr algn="l" defTabSz="457200">
              <a:spcBef>
                <a:spcPts val="300"/>
              </a:spcBef>
              <a:buSzPct val="100000"/>
              <a:defRPr sz="3000"/>
            </a:pPr>
            <a:r>
              <a:rPr lang="en-US" sz="4800" b="1" dirty="0">
                <a:solidFill>
                  <a:schemeClr val="tx1"/>
                </a:solidFill>
              </a:rPr>
              <a:t>POS used</a:t>
            </a:r>
          </a:p>
          <a:p>
            <a:pPr algn="l" defTabSz="457200">
              <a:spcBef>
                <a:spcPts val="300"/>
              </a:spcBef>
              <a:buSzPct val="100000"/>
              <a:defRPr sz="3000"/>
            </a:pPr>
            <a:r>
              <a:rPr lang="en-US" sz="4800" dirty="0">
                <a:solidFill>
                  <a:schemeClr val="tx1"/>
                </a:solidFill>
              </a:rPr>
              <a:t>nouns, verbs, adjectives, adverbs, pronouns, interjections</a:t>
            </a:r>
          </a:p>
          <a:p>
            <a:pPr algn="l" defTabSz="457200">
              <a:spcBef>
                <a:spcPts val="300"/>
              </a:spcBef>
              <a:buSzPct val="100000"/>
              <a:defRPr sz="3000"/>
            </a:pPr>
            <a:endParaRPr lang="en-US" sz="4800" dirty="0">
              <a:solidFill>
                <a:schemeClr val="tx1"/>
              </a:solidFill>
            </a:endParaRPr>
          </a:p>
          <a:p>
            <a:pPr algn="l" defTabSz="457200">
              <a:spcBef>
                <a:spcPts val="300"/>
              </a:spcBef>
              <a:buSzPct val="100000"/>
              <a:defRPr sz="3000"/>
            </a:pPr>
            <a:r>
              <a:rPr lang="en-US" sz="4800" b="1" dirty="0">
                <a:solidFill>
                  <a:schemeClr val="tx1"/>
                </a:solidFill>
              </a:rPr>
              <a:t>Prediction accuracy</a:t>
            </a:r>
          </a:p>
          <a:p>
            <a:pPr algn="l" defTabSz="457200">
              <a:spcBef>
                <a:spcPts val="300"/>
              </a:spcBef>
              <a:buSzPct val="100000"/>
              <a:defRPr sz="3000"/>
            </a:pPr>
            <a:r>
              <a:rPr lang="en-US" sz="4800" dirty="0">
                <a:solidFill>
                  <a:schemeClr val="tx1"/>
                </a:solidFill>
              </a:rPr>
              <a:t>Pearson correlation between predicted and actual train data BOLD response</a:t>
            </a:r>
          </a:p>
        </p:txBody>
      </p:sp>
    </p:spTree>
    <p:extLst>
      <p:ext uri="{BB962C8B-B14F-4D97-AF65-F5344CB8AC3E}">
        <p14:creationId xmlns:p14="http://schemas.microsoft.com/office/powerpoint/2010/main" val="1601133492"/>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6DD8F0B-56D6-EA7A-AC44-5B1A5615390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CAFCB29-351E-F5C0-0C1B-64BFF02F44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8C2E5346-33D4-DE77-9DBC-8043676220CB}"/>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23</a:t>
            </a:fld>
            <a:endParaRPr/>
          </a:p>
        </p:txBody>
      </p:sp>
      <p:sp>
        <p:nvSpPr>
          <p:cNvPr id="70" name="5.1 Das Document Object Model…">
            <a:extLst>
              <a:ext uri="{FF2B5EF4-FFF2-40B4-BE49-F238E27FC236}">
                <a16:creationId xmlns:a16="http://schemas.microsoft.com/office/drawing/2014/main" id="{8F1D2B0E-FDDE-0522-5A67-19ECA59A4945}"/>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Parts of speech distribution in dataset</a:t>
            </a:r>
          </a:p>
        </p:txBody>
      </p:sp>
      <p:pic>
        <p:nvPicPr>
          <p:cNvPr id="4" name="Bild" descr="Bild">
            <a:extLst>
              <a:ext uri="{FF2B5EF4-FFF2-40B4-BE49-F238E27FC236}">
                <a16:creationId xmlns:a16="http://schemas.microsoft.com/office/drawing/2014/main" id="{359994AA-AF83-BFC0-E97E-8DFE5FBFE170}"/>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pic>
        <p:nvPicPr>
          <p:cNvPr id="3" name="Picture 2">
            <a:extLst>
              <a:ext uri="{FF2B5EF4-FFF2-40B4-BE49-F238E27FC236}">
                <a16:creationId xmlns:a16="http://schemas.microsoft.com/office/drawing/2014/main" id="{FA06291F-1513-EDE1-CD28-C38DFC8EAB47}"/>
              </a:ext>
            </a:extLst>
          </p:cNvPr>
          <p:cNvPicPr>
            <a:picLocks noChangeAspect="1"/>
          </p:cNvPicPr>
          <p:nvPr/>
        </p:nvPicPr>
        <p:blipFill>
          <a:blip r:embed="rId5"/>
          <a:stretch>
            <a:fillRect/>
          </a:stretch>
        </p:blipFill>
        <p:spPr>
          <a:xfrm>
            <a:off x="4092351" y="2492663"/>
            <a:ext cx="16199298" cy="9505373"/>
          </a:xfrm>
          <a:prstGeom prst="rect">
            <a:avLst/>
          </a:prstGeom>
        </p:spPr>
      </p:pic>
    </p:spTree>
    <p:extLst>
      <p:ext uri="{BB962C8B-B14F-4D97-AF65-F5344CB8AC3E}">
        <p14:creationId xmlns:p14="http://schemas.microsoft.com/office/powerpoint/2010/main" val="179215539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EC249B-B384-A9D7-D72C-54B6F0FCC3EE}"/>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3412767A-72BD-6D45-39A0-3CF5F4B42A3C}"/>
              </a:ext>
            </a:extLst>
          </p:cNvPr>
          <p:cNvPicPr>
            <a:picLocks noChangeAspect="1"/>
          </p:cNvPicPr>
          <p:nvPr/>
        </p:nvPicPr>
        <p:blipFill>
          <a:blip r:embed="rId3"/>
          <a:stretch>
            <a:fillRect/>
          </a:stretch>
        </p:blipFill>
        <p:spPr>
          <a:xfrm>
            <a:off x="11887200" y="3657600"/>
            <a:ext cx="12679200" cy="6578334"/>
          </a:xfrm>
          <a:prstGeom prst="rect">
            <a:avLst/>
          </a:prstGeom>
        </p:spPr>
      </p:pic>
      <p:pic>
        <p:nvPicPr>
          <p:cNvPr id="24" name="Picture 23">
            <a:extLst>
              <a:ext uri="{FF2B5EF4-FFF2-40B4-BE49-F238E27FC236}">
                <a16:creationId xmlns:a16="http://schemas.microsoft.com/office/drawing/2014/main" id="{5A5C42F6-CEDA-78F6-92F9-E90493DD372D}"/>
              </a:ext>
            </a:extLst>
          </p:cNvPr>
          <p:cNvPicPr>
            <a:picLocks noChangeAspect="1"/>
          </p:cNvPicPr>
          <p:nvPr/>
        </p:nvPicPr>
        <p:blipFill>
          <a:blip r:embed="rId4"/>
          <a:stretch>
            <a:fillRect/>
          </a:stretch>
        </p:blipFill>
        <p:spPr>
          <a:xfrm>
            <a:off x="-261910" y="3657600"/>
            <a:ext cx="12679200" cy="6578334"/>
          </a:xfrm>
          <a:prstGeom prst="rect">
            <a:avLst/>
          </a:prstGeom>
        </p:spPr>
      </p:pic>
      <p:sp>
        <p:nvSpPr>
          <p:cNvPr id="27" name="Rectangle 26">
            <a:extLst>
              <a:ext uri="{FF2B5EF4-FFF2-40B4-BE49-F238E27FC236}">
                <a16:creationId xmlns:a16="http://schemas.microsoft.com/office/drawing/2014/main" id="{F05B86C7-8849-0875-FB0C-ACAD8696CACD}"/>
              </a:ext>
            </a:extLst>
          </p:cNvPr>
          <p:cNvSpPr/>
          <p:nvPr/>
        </p:nvSpPr>
        <p:spPr>
          <a:xfrm>
            <a:off x="5163220" y="4034522"/>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28" name="Rectangle 27">
            <a:extLst>
              <a:ext uri="{FF2B5EF4-FFF2-40B4-BE49-F238E27FC236}">
                <a16:creationId xmlns:a16="http://schemas.microsoft.com/office/drawing/2014/main" id="{495D3085-BDA1-708A-6D2A-42B642589D12}"/>
              </a:ext>
            </a:extLst>
          </p:cNvPr>
          <p:cNvSpPr/>
          <p:nvPr/>
        </p:nvSpPr>
        <p:spPr>
          <a:xfrm>
            <a:off x="17529140" y="4093446"/>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
                <a:solidFill>
                  <a:srgbClr val="000000"/>
                </a:solidFill>
              </a:uFill>
              <a:latin typeface="+mn-lt"/>
              <a:ea typeface="+mn-ea"/>
              <a:cs typeface="+mn-cs"/>
              <a:sym typeface="Arial"/>
            </a:endParaRPr>
          </a:p>
        </p:txBody>
      </p:sp>
      <p:pic>
        <p:nvPicPr>
          <p:cNvPr id="22" name="Picture 21">
            <a:extLst>
              <a:ext uri="{FF2B5EF4-FFF2-40B4-BE49-F238E27FC236}">
                <a16:creationId xmlns:a16="http://schemas.microsoft.com/office/drawing/2014/main" id="{D2D9224D-4861-70FB-DF2B-F6AEDACE18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9DF24B39-BEAE-2829-87FC-5846682A2BBE}"/>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24</a:t>
            </a:fld>
            <a:endParaRPr/>
          </a:p>
        </p:txBody>
      </p:sp>
      <p:sp>
        <p:nvSpPr>
          <p:cNvPr id="70" name="5.1 Das Document Object Model…">
            <a:extLst>
              <a:ext uri="{FF2B5EF4-FFF2-40B4-BE49-F238E27FC236}">
                <a16:creationId xmlns:a16="http://schemas.microsoft.com/office/drawing/2014/main" id="{421FC30F-9EC6-CF37-65BA-5506A5792183}"/>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spc="-10" dirty="0"/>
              <a:t>POS-MASKED CONTEXTUAL EMBEDDINGS REVEAL CLUSTERS OF POS SENSITIVITY ACROSS THE BRAIN</a:t>
            </a:r>
            <a:endParaRPr lang="en-US" sz="5400" dirty="0"/>
          </a:p>
        </p:txBody>
      </p:sp>
      <p:pic>
        <p:nvPicPr>
          <p:cNvPr id="4" name="Bild" descr="Bild">
            <a:extLst>
              <a:ext uri="{FF2B5EF4-FFF2-40B4-BE49-F238E27FC236}">
                <a16:creationId xmlns:a16="http://schemas.microsoft.com/office/drawing/2014/main" id="{D2BFC276-05E9-EBFC-2004-91F45335AE81}"/>
              </a:ext>
            </a:extLst>
          </p:cNvPr>
          <p:cNvPicPr>
            <a:picLocks noChangeAspect="1"/>
          </p:cNvPicPr>
          <p:nvPr/>
        </p:nvPicPr>
        <p:blipFill>
          <a:blip r:embed="rId6"/>
          <a:stretch>
            <a:fillRect/>
          </a:stretch>
        </p:blipFill>
        <p:spPr>
          <a:xfrm>
            <a:off x="21373832" y="508000"/>
            <a:ext cx="2159389" cy="1207459"/>
          </a:xfrm>
          <a:prstGeom prst="rect">
            <a:avLst/>
          </a:prstGeom>
          <a:ln w="12700">
            <a:miter lim="400000"/>
          </a:ln>
        </p:spPr>
      </p:pic>
      <p:sp>
        <p:nvSpPr>
          <p:cNvPr id="25" name="TextBox 24">
            <a:extLst>
              <a:ext uri="{FF2B5EF4-FFF2-40B4-BE49-F238E27FC236}">
                <a16:creationId xmlns:a16="http://schemas.microsoft.com/office/drawing/2014/main" id="{42229C88-5E48-9C10-29E2-8147CEAC64FF}"/>
              </a:ext>
            </a:extLst>
          </p:cNvPr>
          <p:cNvSpPr txBox="1"/>
          <p:nvPr/>
        </p:nvSpPr>
        <p:spPr>
          <a:xfrm>
            <a:off x="994162" y="3014887"/>
            <a:ext cx="10002883" cy="1608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57200">
              <a:spcBef>
                <a:spcPts val="300"/>
              </a:spcBef>
              <a:buSzPct val="100000"/>
              <a:defRPr sz="3000"/>
            </a:pPr>
            <a:r>
              <a:rPr lang="en-US" sz="4800" b="1" dirty="0">
                <a:solidFill>
                  <a:schemeClr val="tx1"/>
                </a:solidFill>
              </a:rPr>
              <a:t>Subject 7</a:t>
            </a:r>
          </a:p>
          <a:p>
            <a:pPr defTabSz="457200">
              <a:spcBef>
                <a:spcPts val="300"/>
              </a:spcBef>
              <a:buSzPct val="100000"/>
              <a:defRPr sz="3000"/>
            </a:pPr>
            <a:r>
              <a:rPr lang="en-US" sz="4800" b="1" dirty="0">
                <a:solidFill>
                  <a:schemeClr val="tx1"/>
                </a:solidFill>
              </a:rPr>
              <a:t>Reading</a:t>
            </a:r>
          </a:p>
        </p:txBody>
      </p:sp>
      <p:sp>
        <p:nvSpPr>
          <p:cNvPr id="26" name="TextBox 25">
            <a:extLst>
              <a:ext uri="{FF2B5EF4-FFF2-40B4-BE49-F238E27FC236}">
                <a16:creationId xmlns:a16="http://schemas.microsoft.com/office/drawing/2014/main" id="{EFBE148C-5670-71DF-D4B8-349FAC68C96D}"/>
              </a:ext>
            </a:extLst>
          </p:cNvPr>
          <p:cNvSpPr txBox="1"/>
          <p:nvPr/>
        </p:nvSpPr>
        <p:spPr>
          <a:xfrm>
            <a:off x="13183754" y="3014887"/>
            <a:ext cx="10002883" cy="1608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57200">
              <a:spcBef>
                <a:spcPts val="300"/>
              </a:spcBef>
              <a:buSzPct val="100000"/>
              <a:defRPr sz="3000"/>
            </a:pPr>
            <a:r>
              <a:rPr lang="en-US" sz="4800" b="1" dirty="0">
                <a:solidFill>
                  <a:schemeClr val="tx1"/>
                </a:solidFill>
              </a:rPr>
              <a:t>Subject 7</a:t>
            </a:r>
          </a:p>
          <a:p>
            <a:pPr defTabSz="457200">
              <a:spcBef>
                <a:spcPts val="300"/>
              </a:spcBef>
              <a:buSzPct val="100000"/>
              <a:defRPr sz="3000"/>
            </a:pPr>
            <a:r>
              <a:rPr lang="en-US" sz="4800" b="1" dirty="0">
                <a:solidFill>
                  <a:schemeClr val="tx1"/>
                </a:solidFill>
              </a:rPr>
              <a:t>Listening</a:t>
            </a:r>
          </a:p>
        </p:txBody>
      </p:sp>
      <p:pic>
        <p:nvPicPr>
          <p:cNvPr id="29" name="Picture 28">
            <a:extLst>
              <a:ext uri="{FF2B5EF4-FFF2-40B4-BE49-F238E27FC236}">
                <a16:creationId xmlns:a16="http://schemas.microsoft.com/office/drawing/2014/main" id="{F80338CC-5A47-17F0-F132-824046215F8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62158" y="9287789"/>
            <a:ext cx="6769100" cy="1104900"/>
          </a:xfrm>
          <a:prstGeom prst="rect">
            <a:avLst/>
          </a:prstGeom>
        </p:spPr>
      </p:pic>
    </p:spTree>
    <p:extLst>
      <p:ext uri="{BB962C8B-B14F-4D97-AF65-F5344CB8AC3E}">
        <p14:creationId xmlns:p14="http://schemas.microsoft.com/office/powerpoint/2010/main" val="6783405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87DE04F-6DA2-73C9-FCA9-951F0D2A6221}"/>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2271CAAA-A982-3D9F-5F93-F16E1E3E6579}"/>
              </a:ext>
            </a:extLst>
          </p:cNvPr>
          <p:cNvPicPr>
            <a:picLocks noChangeAspect="1"/>
          </p:cNvPicPr>
          <p:nvPr/>
        </p:nvPicPr>
        <p:blipFill>
          <a:blip r:embed="rId3"/>
          <a:stretch>
            <a:fillRect/>
          </a:stretch>
        </p:blipFill>
        <p:spPr>
          <a:xfrm>
            <a:off x="11887200" y="3657600"/>
            <a:ext cx="12679200" cy="6578334"/>
          </a:xfrm>
          <a:prstGeom prst="rect">
            <a:avLst/>
          </a:prstGeom>
        </p:spPr>
      </p:pic>
      <p:pic>
        <p:nvPicPr>
          <p:cNvPr id="13" name="Picture 12">
            <a:extLst>
              <a:ext uri="{FF2B5EF4-FFF2-40B4-BE49-F238E27FC236}">
                <a16:creationId xmlns:a16="http://schemas.microsoft.com/office/drawing/2014/main" id="{8A2EBDEC-B540-0FF6-3B48-6A308FF7BCC5}"/>
              </a:ext>
            </a:extLst>
          </p:cNvPr>
          <p:cNvPicPr>
            <a:picLocks noChangeAspect="1"/>
          </p:cNvPicPr>
          <p:nvPr/>
        </p:nvPicPr>
        <p:blipFill>
          <a:blip r:embed="rId4"/>
          <a:stretch>
            <a:fillRect/>
          </a:stretch>
        </p:blipFill>
        <p:spPr>
          <a:xfrm>
            <a:off x="-261910" y="3657600"/>
            <a:ext cx="12679200" cy="6578334"/>
          </a:xfrm>
          <a:prstGeom prst="rect">
            <a:avLst/>
          </a:prstGeom>
        </p:spPr>
      </p:pic>
      <p:sp>
        <p:nvSpPr>
          <p:cNvPr id="22" name="Rectangle 21">
            <a:extLst>
              <a:ext uri="{FF2B5EF4-FFF2-40B4-BE49-F238E27FC236}">
                <a16:creationId xmlns:a16="http://schemas.microsoft.com/office/drawing/2014/main" id="{CCA34258-9D12-A5AB-824E-363439B29A11}"/>
              </a:ext>
            </a:extLst>
          </p:cNvPr>
          <p:cNvSpPr/>
          <p:nvPr/>
        </p:nvSpPr>
        <p:spPr>
          <a:xfrm>
            <a:off x="5149783" y="3958780"/>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23" name="Rectangle 22">
            <a:extLst>
              <a:ext uri="{FF2B5EF4-FFF2-40B4-BE49-F238E27FC236}">
                <a16:creationId xmlns:a16="http://schemas.microsoft.com/office/drawing/2014/main" id="{DFC9FD70-8D74-8524-829F-4017BB2B130F}"/>
              </a:ext>
            </a:extLst>
          </p:cNvPr>
          <p:cNvSpPr/>
          <p:nvPr/>
        </p:nvSpPr>
        <p:spPr>
          <a:xfrm>
            <a:off x="17188795" y="4113277"/>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pic>
        <p:nvPicPr>
          <p:cNvPr id="12" name="Picture 11">
            <a:extLst>
              <a:ext uri="{FF2B5EF4-FFF2-40B4-BE49-F238E27FC236}">
                <a16:creationId xmlns:a16="http://schemas.microsoft.com/office/drawing/2014/main" id="{7A688AAA-F739-F0C2-81D6-6F8AED76F1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2A93D56A-5106-373D-B939-4EEFB6BA9BEE}"/>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25</a:t>
            </a:fld>
            <a:endParaRPr/>
          </a:p>
        </p:txBody>
      </p:sp>
      <p:sp>
        <p:nvSpPr>
          <p:cNvPr id="70" name="5.1 Das Document Object Model…">
            <a:extLst>
              <a:ext uri="{FF2B5EF4-FFF2-40B4-BE49-F238E27FC236}">
                <a16:creationId xmlns:a16="http://schemas.microsoft.com/office/drawing/2014/main" id="{F8D51AEB-1D43-935F-5736-CE58915774CA}"/>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spc="-10" dirty="0"/>
              <a:t>POS-MASKED CONTEXTUAL EMBEDDINGS REVEAL CLUSTERS OF POS SENSITIVITY ACROSS THE BRAIN</a:t>
            </a:r>
            <a:endParaRPr lang="en-US" sz="5400" dirty="0"/>
          </a:p>
        </p:txBody>
      </p:sp>
      <p:pic>
        <p:nvPicPr>
          <p:cNvPr id="4" name="Bild" descr="Bild">
            <a:extLst>
              <a:ext uri="{FF2B5EF4-FFF2-40B4-BE49-F238E27FC236}">
                <a16:creationId xmlns:a16="http://schemas.microsoft.com/office/drawing/2014/main" id="{13B6A7AF-B313-446E-F88C-C9C943B16C89}"/>
              </a:ext>
            </a:extLst>
          </p:cNvPr>
          <p:cNvPicPr>
            <a:picLocks noChangeAspect="1"/>
          </p:cNvPicPr>
          <p:nvPr/>
        </p:nvPicPr>
        <p:blipFill>
          <a:blip r:embed="rId6"/>
          <a:stretch>
            <a:fillRect/>
          </a:stretch>
        </p:blipFill>
        <p:spPr>
          <a:xfrm>
            <a:off x="21373832" y="508000"/>
            <a:ext cx="2159389" cy="1207459"/>
          </a:xfrm>
          <a:prstGeom prst="rect">
            <a:avLst/>
          </a:prstGeom>
          <a:ln w="12700">
            <a:miter lim="400000"/>
          </a:ln>
        </p:spPr>
      </p:pic>
      <p:sp>
        <p:nvSpPr>
          <p:cNvPr id="15" name="Rectangle 14">
            <a:extLst>
              <a:ext uri="{FF2B5EF4-FFF2-40B4-BE49-F238E27FC236}">
                <a16:creationId xmlns:a16="http://schemas.microsoft.com/office/drawing/2014/main" id="{8F7EB04F-2446-F1EB-5098-30F0782820B1}"/>
              </a:ext>
            </a:extLst>
          </p:cNvPr>
          <p:cNvSpPr/>
          <p:nvPr/>
        </p:nvSpPr>
        <p:spPr>
          <a:xfrm>
            <a:off x="5241597" y="3041339"/>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16" name="Rectangle 15">
            <a:extLst>
              <a:ext uri="{FF2B5EF4-FFF2-40B4-BE49-F238E27FC236}">
                <a16:creationId xmlns:a16="http://schemas.microsoft.com/office/drawing/2014/main" id="{D9C219C9-5C99-71EB-9634-DFE24FFE7C8C}"/>
              </a:ext>
            </a:extLst>
          </p:cNvPr>
          <p:cNvSpPr/>
          <p:nvPr/>
        </p:nvSpPr>
        <p:spPr>
          <a:xfrm>
            <a:off x="17692197" y="3041339"/>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2" name="Oval 1">
            <a:extLst>
              <a:ext uri="{FF2B5EF4-FFF2-40B4-BE49-F238E27FC236}">
                <a16:creationId xmlns:a16="http://schemas.microsoft.com/office/drawing/2014/main" id="{0C7B7857-C58B-68C0-AEA6-BAD4387D9776}"/>
              </a:ext>
            </a:extLst>
          </p:cNvPr>
          <p:cNvSpPr/>
          <p:nvPr/>
        </p:nvSpPr>
        <p:spPr>
          <a:xfrm>
            <a:off x="5212203" y="5865700"/>
            <a:ext cx="640080" cy="640080"/>
          </a:xfrm>
          <a:prstGeom prst="ellipse">
            <a:avLst/>
          </a:prstGeom>
          <a:noFill/>
          <a:ln w="508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5" name="Oval 4">
            <a:extLst>
              <a:ext uri="{FF2B5EF4-FFF2-40B4-BE49-F238E27FC236}">
                <a16:creationId xmlns:a16="http://schemas.microsoft.com/office/drawing/2014/main" id="{03665FB3-6AA9-6EC1-FF1B-6DA0119A8255}"/>
              </a:ext>
            </a:extLst>
          </p:cNvPr>
          <p:cNvSpPr/>
          <p:nvPr/>
        </p:nvSpPr>
        <p:spPr>
          <a:xfrm>
            <a:off x="4498971" y="6926404"/>
            <a:ext cx="640080" cy="640080"/>
          </a:xfrm>
          <a:prstGeom prst="ellipse">
            <a:avLst/>
          </a:prstGeom>
          <a:noFill/>
          <a:ln w="508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6" name="Oval 5">
            <a:extLst>
              <a:ext uri="{FF2B5EF4-FFF2-40B4-BE49-F238E27FC236}">
                <a16:creationId xmlns:a16="http://schemas.microsoft.com/office/drawing/2014/main" id="{3E7BF5E7-31DD-80DB-C2D1-BAE9628D83F5}"/>
              </a:ext>
            </a:extLst>
          </p:cNvPr>
          <p:cNvSpPr/>
          <p:nvPr/>
        </p:nvSpPr>
        <p:spPr>
          <a:xfrm>
            <a:off x="6141593" y="5760768"/>
            <a:ext cx="640080" cy="640080"/>
          </a:xfrm>
          <a:prstGeom prst="ellipse">
            <a:avLst/>
          </a:prstGeom>
          <a:noFill/>
          <a:ln w="508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7" name="Oval 6">
            <a:extLst>
              <a:ext uri="{FF2B5EF4-FFF2-40B4-BE49-F238E27FC236}">
                <a16:creationId xmlns:a16="http://schemas.microsoft.com/office/drawing/2014/main" id="{3655AEC5-5842-F42D-E9FC-D1BD69207A16}"/>
              </a:ext>
            </a:extLst>
          </p:cNvPr>
          <p:cNvSpPr/>
          <p:nvPr/>
        </p:nvSpPr>
        <p:spPr>
          <a:xfrm>
            <a:off x="17394535" y="5839575"/>
            <a:ext cx="640080" cy="640080"/>
          </a:xfrm>
          <a:prstGeom prst="ellipse">
            <a:avLst/>
          </a:prstGeom>
          <a:noFill/>
          <a:ln w="508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8" name="Oval 7">
            <a:extLst>
              <a:ext uri="{FF2B5EF4-FFF2-40B4-BE49-F238E27FC236}">
                <a16:creationId xmlns:a16="http://schemas.microsoft.com/office/drawing/2014/main" id="{8BD6886F-A43F-D4F4-ADF0-C7FDAA70B293}"/>
              </a:ext>
            </a:extLst>
          </p:cNvPr>
          <p:cNvSpPr/>
          <p:nvPr/>
        </p:nvSpPr>
        <p:spPr>
          <a:xfrm>
            <a:off x="16681303" y="6900279"/>
            <a:ext cx="640080" cy="640080"/>
          </a:xfrm>
          <a:prstGeom prst="ellipse">
            <a:avLst/>
          </a:prstGeom>
          <a:noFill/>
          <a:ln w="508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10" name="Oval 9">
            <a:extLst>
              <a:ext uri="{FF2B5EF4-FFF2-40B4-BE49-F238E27FC236}">
                <a16:creationId xmlns:a16="http://schemas.microsoft.com/office/drawing/2014/main" id="{C78F61E4-D55C-DD71-BC0F-06656B992EB3}"/>
              </a:ext>
            </a:extLst>
          </p:cNvPr>
          <p:cNvSpPr/>
          <p:nvPr/>
        </p:nvSpPr>
        <p:spPr>
          <a:xfrm>
            <a:off x="18323925" y="5734643"/>
            <a:ext cx="640080" cy="640080"/>
          </a:xfrm>
          <a:prstGeom prst="ellipse">
            <a:avLst/>
          </a:prstGeom>
          <a:noFill/>
          <a:ln w="508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pic>
        <p:nvPicPr>
          <p:cNvPr id="17" name="Picture 16">
            <a:extLst>
              <a:ext uri="{FF2B5EF4-FFF2-40B4-BE49-F238E27FC236}">
                <a16:creationId xmlns:a16="http://schemas.microsoft.com/office/drawing/2014/main" id="{A9038A78-BD95-5EC3-8771-AD568A7E2EC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62158" y="9287789"/>
            <a:ext cx="6769100" cy="1104900"/>
          </a:xfrm>
          <a:prstGeom prst="rect">
            <a:avLst/>
          </a:prstGeom>
        </p:spPr>
      </p:pic>
      <p:sp>
        <p:nvSpPr>
          <p:cNvPr id="18" name="TextBox 17">
            <a:extLst>
              <a:ext uri="{FF2B5EF4-FFF2-40B4-BE49-F238E27FC236}">
                <a16:creationId xmlns:a16="http://schemas.microsoft.com/office/drawing/2014/main" id="{E90D16B4-6C47-6844-918C-3E89B4E1E582}"/>
              </a:ext>
            </a:extLst>
          </p:cNvPr>
          <p:cNvSpPr txBox="1"/>
          <p:nvPr/>
        </p:nvSpPr>
        <p:spPr>
          <a:xfrm>
            <a:off x="994162" y="3014887"/>
            <a:ext cx="10002883" cy="1608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57200">
              <a:spcBef>
                <a:spcPts val="300"/>
              </a:spcBef>
              <a:buSzPct val="100000"/>
              <a:defRPr sz="3000"/>
            </a:pPr>
            <a:r>
              <a:rPr lang="en-US" sz="4800" b="1" dirty="0">
                <a:solidFill>
                  <a:schemeClr val="tx1"/>
                </a:solidFill>
              </a:rPr>
              <a:t>Subject 7</a:t>
            </a:r>
          </a:p>
          <a:p>
            <a:pPr defTabSz="457200">
              <a:spcBef>
                <a:spcPts val="300"/>
              </a:spcBef>
              <a:buSzPct val="100000"/>
              <a:defRPr sz="3000"/>
            </a:pPr>
            <a:r>
              <a:rPr lang="en-US" sz="4800" b="1" dirty="0">
                <a:solidFill>
                  <a:schemeClr val="tx1"/>
                </a:solidFill>
              </a:rPr>
              <a:t>Reading</a:t>
            </a:r>
          </a:p>
        </p:txBody>
      </p:sp>
      <p:sp>
        <p:nvSpPr>
          <p:cNvPr id="21" name="TextBox 20">
            <a:extLst>
              <a:ext uri="{FF2B5EF4-FFF2-40B4-BE49-F238E27FC236}">
                <a16:creationId xmlns:a16="http://schemas.microsoft.com/office/drawing/2014/main" id="{54155A06-374E-4367-E1B2-6F16120B8A5F}"/>
              </a:ext>
            </a:extLst>
          </p:cNvPr>
          <p:cNvSpPr txBox="1"/>
          <p:nvPr/>
        </p:nvSpPr>
        <p:spPr>
          <a:xfrm>
            <a:off x="13183754" y="3014887"/>
            <a:ext cx="10002883" cy="1608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57200">
              <a:spcBef>
                <a:spcPts val="300"/>
              </a:spcBef>
              <a:buSzPct val="100000"/>
              <a:defRPr sz="3000"/>
            </a:pPr>
            <a:r>
              <a:rPr lang="en-US" sz="4800" b="1" dirty="0">
                <a:solidFill>
                  <a:schemeClr val="tx1"/>
                </a:solidFill>
              </a:rPr>
              <a:t>Subject 7</a:t>
            </a:r>
          </a:p>
          <a:p>
            <a:pPr defTabSz="457200">
              <a:spcBef>
                <a:spcPts val="300"/>
              </a:spcBef>
              <a:buSzPct val="100000"/>
              <a:defRPr sz="3000"/>
            </a:pPr>
            <a:r>
              <a:rPr lang="en-US" sz="4800" b="1" dirty="0">
                <a:solidFill>
                  <a:schemeClr val="tx1"/>
                </a:solidFill>
              </a:rPr>
              <a:t>Listening</a:t>
            </a:r>
          </a:p>
        </p:txBody>
      </p:sp>
    </p:spTree>
    <p:extLst>
      <p:ext uri="{BB962C8B-B14F-4D97-AF65-F5344CB8AC3E}">
        <p14:creationId xmlns:p14="http://schemas.microsoft.com/office/powerpoint/2010/main" val="4157801558"/>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2ED5CD1-8D0D-AD24-8592-950DA26718D8}"/>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717A3BE7-EE9C-0236-952D-F8A4F206C9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3FB8C03C-A551-C00F-5F2E-E4E3C52597F0}"/>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26</a:t>
            </a:fld>
            <a:endParaRPr/>
          </a:p>
        </p:txBody>
      </p:sp>
      <p:sp>
        <p:nvSpPr>
          <p:cNvPr id="70" name="5.1 Das Document Object Model…">
            <a:extLst>
              <a:ext uri="{FF2B5EF4-FFF2-40B4-BE49-F238E27FC236}">
                <a16:creationId xmlns:a16="http://schemas.microsoft.com/office/drawing/2014/main" id="{1931722F-557C-908D-51A1-F758E124769F}"/>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spc="-10" dirty="0"/>
              <a:t>POS-MASKED CONTEXTUAL EMBEDDINGS REVEAL CLUSTERS OF POS SENSITIVITY ACROSS THE BRAIN</a:t>
            </a:r>
            <a:endParaRPr lang="en-US" sz="5400" dirty="0"/>
          </a:p>
        </p:txBody>
      </p:sp>
      <p:pic>
        <p:nvPicPr>
          <p:cNvPr id="4" name="Bild" descr="Bild">
            <a:extLst>
              <a:ext uri="{FF2B5EF4-FFF2-40B4-BE49-F238E27FC236}">
                <a16:creationId xmlns:a16="http://schemas.microsoft.com/office/drawing/2014/main" id="{3AEE4CC2-BCBD-9270-F72D-39C3B7B6E62F}"/>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pic>
        <p:nvPicPr>
          <p:cNvPr id="9" name="Picture 8">
            <a:extLst>
              <a:ext uri="{FF2B5EF4-FFF2-40B4-BE49-F238E27FC236}">
                <a16:creationId xmlns:a16="http://schemas.microsoft.com/office/drawing/2014/main" id="{92504682-B7C6-729F-A631-3B3D6DA733CB}"/>
              </a:ext>
            </a:extLst>
          </p:cNvPr>
          <p:cNvPicPr>
            <a:picLocks noChangeAspect="1"/>
          </p:cNvPicPr>
          <p:nvPr/>
        </p:nvPicPr>
        <p:blipFill>
          <a:blip r:embed="rId5"/>
          <a:stretch>
            <a:fillRect/>
          </a:stretch>
        </p:blipFill>
        <p:spPr>
          <a:xfrm>
            <a:off x="-261910" y="3657600"/>
            <a:ext cx="12679200" cy="6578334"/>
          </a:xfrm>
          <a:prstGeom prst="rect">
            <a:avLst/>
          </a:prstGeom>
        </p:spPr>
      </p:pic>
      <p:pic>
        <p:nvPicPr>
          <p:cNvPr id="11" name="Picture 10">
            <a:extLst>
              <a:ext uri="{FF2B5EF4-FFF2-40B4-BE49-F238E27FC236}">
                <a16:creationId xmlns:a16="http://schemas.microsoft.com/office/drawing/2014/main" id="{4049B09F-6E51-164D-22EB-97ADAB60155D}"/>
              </a:ext>
            </a:extLst>
          </p:cNvPr>
          <p:cNvPicPr>
            <a:picLocks noChangeAspect="1"/>
          </p:cNvPicPr>
          <p:nvPr/>
        </p:nvPicPr>
        <p:blipFill>
          <a:blip r:embed="rId6"/>
          <a:stretch>
            <a:fillRect/>
          </a:stretch>
        </p:blipFill>
        <p:spPr>
          <a:xfrm>
            <a:off x="11887200" y="3657600"/>
            <a:ext cx="12679200" cy="6578334"/>
          </a:xfrm>
          <a:prstGeom prst="rect">
            <a:avLst/>
          </a:prstGeom>
        </p:spPr>
      </p:pic>
      <p:sp>
        <p:nvSpPr>
          <p:cNvPr id="15" name="Rectangle 14">
            <a:extLst>
              <a:ext uri="{FF2B5EF4-FFF2-40B4-BE49-F238E27FC236}">
                <a16:creationId xmlns:a16="http://schemas.microsoft.com/office/drawing/2014/main" id="{76D665CD-EDA5-B2DF-5A70-D272FFA9F7FA}"/>
              </a:ext>
            </a:extLst>
          </p:cNvPr>
          <p:cNvSpPr/>
          <p:nvPr/>
        </p:nvSpPr>
        <p:spPr>
          <a:xfrm>
            <a:off x="5099643" y="3822416"/>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16" name="Rectangle 15">
            <a:extLst>
              <a:ext uri="{FF2B5EF4-FFF2-40B4-BE49-F238E27FC236}">
                <a16:creationId xmlns:a16="http://schemas.microsoft.com/office/drawing/2014/main" id="{FECF96B7-7529-5F38-83CE-417A011AE49B}"/>
              </a:ext>
            </a:extLst>
          </p:cNvPr>
          <p:cNvSpPr/>
          <p:nvPr/>
        </p:nvSpPr>
        <p:spPr>
          <a:xfrm>
            <a:off x="17213039" y="3944206"/>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6" name="Oval 5">
            <a:extLst>
              <a:ext uri="{FF2B5EF4-FFF2-40B4-BE49-F238E27FC236}">
                <a16:creationId xmlns:a16="http://schemas.microsoft.com/office/drawing/2014/main" id="{8D283504-0C41-2A9C-9B39-DECD6A7EC32F}"/>
              </a:ext>
            </a:extLst>
          </p:cNvPr>
          <p:cNvSpPr/>
          <p:nvPr/>
        </p:nvSpPr>
        <p:spPr>
          <a:xfrm>
            <a:off x="7761562" y="7191695"/>
            <a:ext cx="640080" cy="640080"/>
          </a:xfrm>
          <a:prstGeom prst="ellipse">
            <a:avLst/>
          </a:prstGeom>
          <a:noFill/>
          <a:ln w="508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10" name="Oval 9">
            <a:extLst>
              <a:ext uri="{FF2B5EF4-FFF2-40B4-BE49-F238E27FC236}">
                <a16:creationId xmlns:a16="http://schemas.microsoft.com/office/drawing/2014/main" id="{A4755374-11C4-6C8C-EF94-A7BD08875B8A}"/>
              </a:ext>
            </a:extLst>
          </p:cNvPr>
          <p:cNvSpPr/>
          <p:nvPr/>
        </p:nvSpPr>
        <p:spPr>
          <a:xfrm>
            <a:off x="19875884" y="6897255"/>
            <a:ext cx="918192" cy="918192"/>
          </a:xfrm>
          <a:prstGeom prst="ellipse">
            <a:avLst/>
          </a:prstGeom>
          <a:noFill/>
          <a:ln w="508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pic>
        <p:nvPicPr>
          <p:cNvPr id="17" name="Picture 16">
            <a:extLst>
              <a:ext uri="{FF2B5EF4-FFF2-40B4-BE49-F238E27FC236}">
                <a16:creationId xmlns:a16="http://schemas.microsoft.com/office/drawing/2014/main" id="{524469E9-8772-D24F-95CE-77B17E7170B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62158" y="9287789"/>
            <a:ext cx="6769100" cy="1104900"/>
          </a:xfrm>
          <a:prstGeom prst="rect">
            <a:avLst/>
          </a:prstGeom>
        </p:spPr>
      </p:pic>
      <p:sp>
        <p:nvSpPr>
          <p:cNvPr id="18" name="Oval 17">
            <a:extLst>
              <a:ext uri="{FF2B5EF4-FFF2-40B4-BE49-F238E27FC236}">
                <a16:creationId xmlns:a16="http://schemas.microsoft.com/office/drawing/2014/main" id="{363D0016-64B4-914B-FADB-7587DD836475}"/>
              </a:ext>
            </a:extLst>
          </p:cNvPr>
          <p:cNvSpPr/>
          <p:nvPr/>
        </p:nvSpPr>
        <p:spPr>
          <a:xfrm>
            <a:off x="6931829" y="5413695"/>
            <a:ext cx="640080" cy="640080"/>
          </a:xfrm>
          <a:prstGeom prst="ellipse">
            <a:avLst/>
          </a:prstGeom>
          <a:noFill/>
          <a:ln w="508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21" name="Oval 20">
            <a:extLst>
              <a:ext uri="{FF2B5EF4-FFF2-40B4-BE49-F238E27FC236}">
                <a16:creationId xmlns:a16="http://schemas.microsoft.com/office/drawing/2014/main" id="{BAD0BBE5-805C-1A68-E5F5-6A4DAB645A62}"/>
              </a:ext>
            </a:extLst>
          </p:cNvPr>
          <p:cNvSpPr/>
          <p:nvPr/>
        </p:nvSpPr>
        <p:spPr>
          <a:xfrm>
            <a:off x="4459563" y="5295162"/>
            <a:ext cx="640080" cy="640080"/>
          </a:xfrm>
          <a:prstGeom prst="ellipse">
            <a:avLst/>
          </a:prstGeom>
          <a:noFill/>
          <a:ln w="508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24" name="Oval 23">
            <a:extLst>
              <a:ext uri="{FF2B5EF4-FFF2-40B4-BE49-F238E27FC236}">
                <a16:creationId xmlns:a16="http://schemas.microsoft.com/office/drawing/2014/main" id="{D02B10B6-4CFA-8AC9-C256-A0F89A44FA90}"/>
              </a:ext>
            </a:extLst>
          </p:cNvPr>
          <p:cNvSpPr/>
          <p:nvPr/>
        </p:nvSpPr>
        <p:spPr>
          <a:xfrm>
            <a:off x="19045225" y="5397367"/>
            <a:ext cx="640080" cy="640080"/>
          </a:xfrm>
          <a:prstGeom prst="ellipse">
            <a:avLst/>
          </a:prstGeom>
          <a:noFill/>
          <a:ln w="508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25" name="Oval 24">
            <a:extLst>
              <a:ext uri="{FF2B5EF4-FFF2-40B4-BE49-F238E27FC236}">
                <a16:creationId xmlns:a16="http://schemas.microsoft.com/office/drawing/2014/main" id="{E119658C-32A4-774C-7CF7-C30ADE6974F1}"/>
              </a:ext>
            </a:extLst>
          </p:cNvPr>
          <p:cNvSpPr/>
          <p:nvPr/>
        </p:nvSpPr>
        <p:spPr>
          <a:xfrm>
            <a:off x="16572959" y="5278834"/>
            <a:ext cx="640080" cy="640080"/>
          </a:xfrm>
          <a:prstGeom prst="ellipse">
            <a:avLst/>
          </a:prstGeom>
          <a:noFill/>
          <a:ln w="5080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27" name="TextBox 26">
            <a:extLst>
              <a:ext uri="{FF2B5EF4-FFF2-40B4-BE49-F238E27FC236}">
                <a16:creationId xmlns:a16="http://schemas.microsoft.com/office/drawing/2014/main" id="{4B1F86E0-7283-243D-3D73-FD8DE899CE34}"/>
              </a:ext>
            </a:extLst>
          </p:cNvPr>
          <p:cNvSpPr txBox="1"/>
          <p:nvPr/>
        </p:nvSpPr>
        <p:spPr>
          <a:xfrm>
            <a:off x="994162" y="3014887"/>
            <a:ext cx="10002883" cy="1608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57200">
              <a:spcBef>
                <a:spcPts val="300"/>
              </a:spcBef>
              <a:buSzPct val="100000"/>
              <a:defRPr sz="3000"/>
            </a:pPr>
            <a:r>
              <a:rPr lang="en-US" sz="4800" b="1" dirty="0">
                <a:solidFill>
                  <a:schemeClr val="tx1"/>
                </a:solidFill>
              </a:rPr>
              <a:t>Subject 7</a:t>
            </a:r>
          </a:p>
          <a:p>
            <a:pPr defTabSz="457200">
              <a:spcBef>
                <a:spcPts val="300"/>
              </a:spcBef>
              <a:buSzPct val="100000"/>
              <a:defRPr sz="3000"/>
            </a:pPr>
            <a:r>
              <a:rPr lang="en-US" sz="4800" b="1" dirty="0">
                <a:solidFill>
                  <a:schemeClr val="tx1"/>
                </a:solidFill>
              </a:rPr>
              <a:t>Reading</a:t>
            </a:r>
          </a:p>
        </p:txBody>
      </p:sp>
      <p:sp>
        <p:nvSpPr>
          <p:cNvPr id="28" name="TextBox 27">
            <a:extLst>
              <a:ext uri="{FF2B5EF4-FFF2-40B4-BE49-F238E27FC236}">
                <a16:creationId xmlns:a16="http://schemas.microsoft.com/office/drawing/2014/main" id="{8D448EAC-861B-8066-C71A-3F91B7E18FFA}"/>
              </a:ext>
            </a:extLst>
          </p:cNvPr>
          <p:cNvSpPr txBox="1"/>
          <p:nvPr/>
        </p:nvSpPr>
        <p:spPr>
          <a:xfrm>
            <a:off x="13183754" y="3014887"/>
            <a:ext cx="10002883" cy="1608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57200">
              <a:spcBef>
                <a:spcPts val="300"/>
              </a:spcBef>
              <a:buSzPct val="100000"/>
              <a:defRPr sz="3000"/>
            </a:pPr>
            <a:r>
              <a:rPr lang="en-US" sz="4800" b="1" dirty="0">
                <a:solidFill>
                  <a:schemeClr val="tx1"/>
                </a:solidFill>
              </a:rPr>
              <a:t>Subject 7</a:t>
            </a:r>
          </a:p>
          <a:p>
            <a:pPr defTabSz="457200">
              <a:spcBef>
                <a:spcPts val="300"/>
              </a:spcBef>
              <a:buSzPct val="100000"/>
              <a:defRPr sz="3000"/>
            </a:pPr>
            <a:r>
              <a:rPr lang="en-US" sz="4800" b="1" dirty="0">
                <a:solidFill>
                  <a:schemeClr val="tx1"/>
                </a:solidFill>
              </a:rPr>
              <a:t>Listening</a:t>
            </a:r>
          </a:p>
        </p:txBody>
      </p:sp>
    </p:spTree>
    <p:extLst>
      <p:ext uri="{BB962C8B-B14F-4D97-AF65-F5344CB8AC3E}">
        <p14:creationId xmlns:p14="http://schemas.microsoft.com/office/powerpoint/2010/main" val="3866724862"/>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DE4A57E-DADF-FDEF-2CA2-C03C742C8D20}"/>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BE17F989-2AD8-FAA0-F681-CD52223964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pic>
        <p:nvPicPr>
          <p:cNvPr id="7" name="Picture 6">
            <a:extLst>
              <a:ext uri="{FF2B5EF4-FFF2-40B4-BE49-F238E27FC236}">
                <a16:creationId xmlns:a16="http://schemas.microsoft.com/office/drawing/2014/main" id="{327AB97D-6862-B306-F403-ACAB3B62E374}"/>
              </a:ext>
            </a:extLst>
          </p:cNvPr>
          <p:cNvPicPr>
            <a:picLocks noChangeAspect="1"/>
          </p:cNvPicPr>
          <p:nvPr/>
        </p:nvPicPr>
        <p:blipFill>
          <a:blip r:embed="rId4"/>
          <a:stretch>
            <a:fillRect/>
          </a:stretch>
        </p:blipFill>
        <p:spPr>
          <a:xfrm>
            <a:off x="11887200" y="3657600"/>
            <a:ext cx="12679200" cy="6578334"/>
          </a:xfrm>
          <a:prstGeom prst="rect">
            <a:avLst/>
          </a:prstGeom>
        </p:spPr>
      </p:pic>
      <p:pic>
        <p:nvPicPr>
          <p:cNvPr id="2" name="Picture 1">
            <a:extLst>
              <a:ext uri="{FF2B5EF4-FFF2-40B4-BE49-F238E27FC236}">
                <a16:creationId xmlns:a16="http://schemas.microsoft.com/office/drawing/2014/main" id="{639C8525-5461-4DE7-C0F4-2F9074E81DD3}"/>
              </a:ext>
            </a:extLst>
          </p:cNvPr>
          <p:cNvPicPr>
            <a:picLocks noChangeAspect="1"/>
          </p:cNvPicPr>
          <p:nvPr/>
        </p:nvPicPr>
        <p:blipFill>
          <a:blip r:embed="rId5"/>
          <a:stretch>
            <a:fillRect/>
          </a:stretch>
        </p:blipFill>
        <p:spPr>
          <a:xfrm>
            <a:off x="-261260" y="3657600"/>
            <a:ext cx="12679200" cy="6578334"/>
          </a:xfrm>
          <a:prstGeom prst="rect">
            <a:avLst/>
          </a:prstGeom>
        </p:spPr>
      </p:pic>
      <p:sp>
        <p:nvSpPr>
          <p:cNvPr id="68" name="Foliennummer">
            <a:extLst>
              <a:ext uri="{FF2B5EF4-FFF2-40B4-BE49-F238E27FC236}">
                <a16:creationId xmlns:a16="http://schemas.microsoft.com/office/drawing/2014/main" id="{467F8353-A358-52AF-B2EB-2741D0AFB516}"/>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27</a:t>
            </a:fld>
            <a:endParaRPr/>
          </a:p>
        </p:txBody>
      </p:sp>
      <p:sp>
        <p:nvSpPr>
          <p:cNvPr id="70" name="5.1 Das Document Object Model…">
            <a:extLst>
              <a:ext uri="{FF2B5EF4-FFF2-40B4-BE49-F238E27FC236}">
                <a16:creationId xmlns:a16="http://schemas.microsoft.com/office/drawing/2014/main" id="{A1078FF0-8A98-E125-6821-3CB082FFF48C}"/>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NOUNS AND VERBS SHOW DISTINCT PATTERNS OF SENSITIVITY ACROSS THE BRAIN</a:t>
            </a:r>
          </a:p>
        </p:txBody>
      </p:sp>
      <p:pic>
        <p:nvPicPr>
          <p:cNvPr id="4" name="Bild" descr="Bild">
            <a:extLst>
              <a:ext uri="{FF2B5EF4-FFF2-40B4-BE49-F238E27FC236}">
                <a16:creationId xmlns:a16="http://schemas.microsoft.com/office/drawing/2014/main" id="{68FFDDD0-87FE-0F07-08F5-0C796F0D1A55}"/>
              </a:ext>
            </a:extLst>
          </p:cNvPr>
          <p:cNvPicPr>
            <a:picLocks noChangeAspect="1"/>
          </p:cNvPicPr>
          <p:nvPr/>
        </p:nvPicPr>
        <p:blipFill>
          <a:blip r:embed="rId6"/>
          <a:stretch>
            <a:fillRect/>
          </a:stretch>
        </p:blipFill>
        <p:spPr>
          <a:xfrm>
            <a:off x="21373832" y="508000"/>
            <a:ext cx="2159389" cy="1207459"/>
          </a:xfrm>
          <a:prstGeom prst="rect">
            <a:avLst/>
          </a:prstGeom>
          <a:ln w="12700">
            <a:miter lim="400000"/>
          </a:ln>
        </p:spPr>
      </p:pic>
      <p:sp>
        <p:nvSpPr>
          <p:cNvPr id="15" name="Rectangle 14">
            <a:extLst>
              <a:ext uri="{FF2B5EF4-FFF2-40B4-BE49-F238E27FC236}">
                <a16:creationId xmlns:a16="http://schemas.microsoft.com/office/drawing/2014/main" id="{A5A17494-E927-1E60-0002-730B24D6868D}"/>
              </a:ext>
            </a:extLst>
          </p:cNvPr>
          <p:cNvSpPr/>
          <p:nvPr/>
        </p:nvSpPr>
        <p:spPr>
          <a:xfrm>
            <a:off x="5149783" y="4034522"/>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16" name="Rectangle 15">
            <a:extLst>
              <a:ext uri="{FF2B5EF4-FFF2-40B4-BE49-F238E27FC236}">
                <a16:creationId xmlns:a16="http://schemas.microsoft.com/office/drawing/2014/main" id="{C88A66C8-7FF7-E25A-1927-6E943F0A9CEB}"/>
              </a:ext>
            </a:extLst>
          </p:cNvPr>
          <p:cNvSpPr/>
          <p:nvPr/>
        </p:nvSpPr>
        <p:spPr>
          <a:xfrm>
            <a:off x="17542577" y="4034522"/>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pic>
        <p:nvPicPr>
          <p:cNvPr id="12" name="Picture 11">
            <a:extLst>
              <a:ext uri="{FF2B5EF4-FFF2-40B4-BE49-F238E27FC236}">
                <a16:creationId xmlns:a16="http://schemas.microsoft.com/office/drawing/2014/main" id="{4CA5FE30-5EDA-7696-E170-728D90A20A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68705" y="8583246"/>
            <a:ext cx="2756982" cy="2542969"/>
          </a:xfrm>
          <a:prstGeom prst="rect">
            <a:avLst/>
          </a:prstGeom>
        </p:spPr>
      </p:pic>
      <p:sp>
        <p:nvSpPr>
          <p:cNvPr id="14" name="TextBox 13">
            <a:extLst>
              <a:ext uri="{FF2B5EF4-FFF2-40B4-BE49-F238E27FC236}">
                <a16:creationId xmlns:a16="http://schemas.microsoft.com/office/drawing/2014/main" id="{D43FDC54-A51E-390B-643E-2D11810CC03D}"/>
              </a:ext>
            </a:extLst>
          </p:cNvPr>
          <p:cNvSpPr txBox="1"/>
          <p:nvPr/>
        </p:nvSpPr>
        <p:spPr>
          <a:xfrm>
            <a:off x="994162" y="3014887"/>
            <a:ext cx="10002883" cy="1608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57200">
              <a:spcBef>
                <a:spcPts val="300"/>
              </a:spcBef>
              <a:buSzPct val="100000"/>
              <a:defRPr sz="3000"/>
            </a:pPr>
            <a:r>
              <a:rPr lang="en-US" sz="4800" b="1" dirty="0">
                <a:solidFill>
                  <a:schemeClr val="tx1"/>
                </a:solidFill>
              </a:rPr>
              <a:t>Subject 7</a:t>
            </a:r>
          </a:p>
          <a:p>
            <a:pPr defTabSz="457200">
              <a:spcBef>
                <a:spcPts val="300"/>
              </a:spcBef>
              <a:buSzPct val="100000"/>
              <a:defRPr sz="3000"/>
            </a:pPr>
            <a:r>
              <a:rPr lang="en-US" sz="4800" b="1" dirty="0">
                <a:solidFill>
                  <a:schemeClr val="tx1"/>
                </a:solidFill>
              </a:rPr>
              <a:t>Reading</a:t>
            </a:r>
          </a:p>
        </p:txBody>
      </p:sp>
      <p:sp>
        <p:nvSpPr>
          <p:cNvPr id="17" name="TextBox 16">
            <a:extLst>
              <a:ext uri="{FF2B5EF4-FFF2-40B4-BE49-F238E27FC236}">
                <a16:creationId xmlns:a16="http://schemas.microsoft.com/office/drawing/2014/main" id="{222AE430-97BA-9B73-885B-9A62A95B9635}"/>
              </a:ext>
            </a:extLst>
          </p:cNvPr>
          <p:cNvSpPr txBox="1"/>
          <p:nvPr/>
        </p:nvSpPr>
        <p:spPr>
          <a:xfrm>
            <a:off x="13183754" y="3014887"/>
            <a:ext cx="10002883" cy="1608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57200">
              <a:spcBef>
                <a:spcPts val="300"/>
              </a:spcBef>
              <a:buSzPct val="100000"/>
              <a:defRPr sz="3000"/>
            </a:pPr>
            <a:r>
              <a:rPr lang="en-US" sz="4800" b="1" dirty="0">
                <a:solidFill>
                  <a:schemeClr val="tx1"/>
                </a:solidFill>
              </a:rPr>
              <a:t>Subject 7</a:t>
            </a:r>
          </a:p>
          <a:p>
            <a:pPr defTabSz="457200">
              <a:spcBef>
                <a:spcPts val="300"/>
              </a:spcBef>
              <a:buSzPct val="100000"/>
              <a:defRPr sz="3000"/>
            </a:pPr>
            <a:r>
              <a:rPr lang="en-US" sz="4800" b="1" dirty="0">
                <a:solidFill>
                  <a:schemeClr val="tx1"/>
                </a:solidFill>
              </a:rPr>
              <a:t>Listening</a:t>
            </a:r>
          </a:p>
        </p:txBody>
      </p:sp>
    </p:spTree>
    <p:extLst>
      <p:ext uri="{BB962C8B-B14F-4D97-AF65-F5344CB8AC3E}">
        <p14:creationId xmlns:p14="http://schemas.microsoft.com/office/powerpoint/2010/main" val="2876225022"/>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7B60FF8-84B9-7684-89FE-5592FF9CD7A4}"/>
            </a:ext>
          </a:extLst>
        </p:cNvPr>
        <p:cNvGrpSpPr/>
        <p:nvPr/>
      </p:nvGrpSpPr>
      <p:grpSpPr>
        <a:xfrm>
          <a:off x="0" y="0"/>
          <a:ext cx="0" cy="0"/>
          <a:chOff x="0" y="0"/>
          <a:chExt cx="0" cy="0"/>
        </a:xfrm>
      </p:grpSpPr>
      <p:pic>
        <p:nvPicPr>
          <p:cNvPr id="42" name="Picture 41">
            <a:extLst>
              <a:ext uri="{FF2B5EF4-FFF2-40B4-BE49-F238E27FC236}">
                <a16:creationId xmlns:a16="http://schemas.microsoft.com/office/drawing/2014/main" id="{BFF082DD-C65B-3E8E-5664-F220E27FBA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21858E2E-12C3-39F6-6B69-455B3A4785F7}"/>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28</a:t>
            </a:fld>
            <a:endParaRPr/>
          </a:p>
        </p:txBody>
      </p:sp>
      <p:sp>
        <p:nvSpPr>
          <p:cNvPr id="70" name="5.1 Das Document Object Model…">
            <a:extLst>
              <a:ext uri="{FF2B5EF4-FFF2-40B4-BE49-F238E27FC236}">
                <a16:creationId xmlns:a16="http://schemas.microsoft.com/office/drawing/2014/main" id="{A99F6BCB-9F1D-1BEB-E545-759C304AE243}"/>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Noun and verb sensitivity – Reading </a:t>
            </a:r>
          </a:p>
        </p:txBody>
      </p:sp>
      <p:pic>
        <p:nvPicPr>
          <p:cNvPr id="4" name="Bild" descr="Bild">
            <a:extLst>
              <a:ext uri="{FF2B5EF4-FFF2-40B4-BE49-F238E27FC236}">
                <a16:creationId xmlns:a16="http://schemas.microsoft.com/office/drawing/2014/main" id="{6590D068-A2DA-5376-ACCC-58C9D90A0DF9}"/>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15" name="Rectangle 14">
            <a:extLst>
              <a:ext uri="{FF2B5EF4-FFF2-40B4-BE49-F238E27FC236}">
                <a16:creationId xmlns:a16="http://schemas.microsoft.com/office/drawing/2014/main" id="{E17108B1-9C1C-0DC2-AB8C-9B075FCC2069}"/>
              </a:ext>
            </a:extLst>
          </p:cNvPr>
          <p:cNvSpPr/>
          <p:nvPr/>
        </p:nvSpPr>
        <p:spPr>
          <a:xfrm>
            <a:off x="6119361" y="2963400"/>
            <a:ext cx="1691640" cy="1772470"/>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16" name="Rectangle 15">
            <a:extLst>
              <a:ext uri="{FF2B5EF4-FFF2-40B4-BE49-F238E27FC236}">
                <a16:creationId xmlns:a16="http://schemas.microsoft.com/office/drawing/2014/main" id="{9632F8AB-F207-F546-43A8-D7476A92B753}"/>
              </a:ext>
            </a:extLst>
          </p:cNvPr>
          <p:cNvSpPr/>
          <p:nvPr/>
        </p:nvSpPr>
        <p:spPr>
          <a:xfrm>
            <a:off x="12421697" y="2963400"/>
            <a:ext cx="1691640" cy="1772470"/>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pic>
        <p:nvPicPr>
          <p:cNvPr id="30" name="Picture 29">
            <a:extLst>
              <a:ext uri="{FF2B5EF4-FFF2-40B4-BE49-F238E27FC236}">
                <a16:creationId xmlns:a16="http://schemas.microsoft.com/office/drawing/2014/main" id="{232FED76-6BEC-01D7-954D-DD3D8B7F0C7D}"/>
              </a:ext>
            </a:extLst>
          </p:cNvPr>
          <p:cNvPicPr>
            <a:picLocks noChangeAspect="1"/>
          </p:cNvPicPr>
          <p:nvPr/>
        </p:nvPicPr>
        <p:blipFill>
          <a:blip r:embed="rId5"/>
          <a:stretch>
            <a:fillRect/>
          </a:stretch>
        </p:blipFill>
        <p:spPr>
          <a:xfrm>
            <a:off x="15873984" y="7315200"/>
            <a:ext cx="8967595" cy="4660319"/>
          </a:xfrm>
          <a:prstGeom prst="rect">
            <a:avLst/>
          </a:prstGeom>
        </p:spPr>
      </p:pic>
      <p:pic>
        <p:nvPicPr>
          <p:cNvPr id="32" name="Picture 31">
            <a:extLst>
              <a:ext uri="{FF2B5EF4-FFF2-40B4-BE49-F238E27FC236}">
                <a16:creationId xmlns:a16="http://schemas.microsoft.com/office/drawing/2014/main" id="{79F7AA61-DEBE-C916-26CF-4A2687FA8229}"/>
              </a:ext>
            </a:extLst>
          </p:cNvPr>
          <p:cNvPicPr>
            <a:picLocks noChangeAspect="1"/>
          </p:cNvPicPr>
          <p:nvPr/>
        </p:nvPicPr>
        <p:blipFill>
          <a:blip r:embed="rId6"/>
          <a:stretch>
            <a:fillRect/>
          </a:stretch>
        </p:blipFill>
        <p:spPr>
          <a:xfrm>
            <a:off x="7863840" y="7315200"/>
            <a:ext cx="8967595" cy="4730934"/>
          </a:xfrm>
          <a:prstGeom prst="rect">
            <a:avLst/>
          </a:prstGeom>
        </p:spPr>
      </p:pic>
      <p:pic>
        <p:nvPicPr>
          <p:cNvPr id="34" name="Picture 33">
            <a:extLst>
              <a:ext uri="{FF2B5EF4-FFF2-40B4-BE49-F238E27FC236}">
                <a16:creationId xmlns:a16="http://schemas.microsoft.com/office/drawing/2014/main" id="{B124D3C6-2513-9621-BAD9-655A2FBD1FAB}"/>
              </a:ext>
            </a:extLst>
          </p:cNvPr>
          <p:cNvPicPr>
            <a:picLocks noChangeAspect="1"/>
          </p:cNvPicPr>
          <p:nvPr/>
        </p:nvPicPr>
        <p:blipFill>
          <a:blip r:embed="rId7"/>
          <a:stretch>
            <a:fillRect/>
          </a:stretch>
        </p:blipFill>
        <p:spPr>
          <a:xfrm>
            <a:off x="0" y="7315200"/>
            <a:ext cx="8967595" cy="5154599"/>
          </a:xfrm>
          <a:prstGeom prst="rect">
            <a:avLst/>
          </a:prstGeom>
        </p:spPr>
      </p:pic>
      <p:pic>
        <p:nvPicPr>
          <p:cNvPr id="36" name="Picture 35">
            <a:extLst>
              <a:ext uri="{FF2B5EF4-FFF2-40B4-BE49-F238E27FC236}">
                <a16:creationId xmlns:a16="http://schemas.microsoft.com/office/drawing/2014/main" id="{EF61A70C-C998-F0D5-B8BA-D462799CA0B9}"/>
              </a:ext>
            </a:extLst>
          </p:cNvPr>
          <p:cNvPicPr>
            <a:picLocks noChangeAspect="1"/>
          </p:cNvPicPr>
          <p:nvPr/>
        </p:nvPicPr>
        <p:blipFill>
          <a:blip r:embed="rId8"/>
          <a:stretch>
            <a:fillRect/>
          </a:stretch>
        </p:blipFill>
        <p:spPr>
          <a:xfrm>
            <a:off x="15837408" y="1828800"/>
            <a:ext cx="8967595" cy="5013382"/>
          </a:xfrm>
          <a:prstGeom prst="rect">
            <a:avLst/>
          </a:prstGeom>
        </p:spPr>
      </p:pic>
      <p:pic>
        <p:nvPicPr>
          <p:cNvPr id="38" name="Picture 37">
            <a:extLst>
              <a:ext uri="{FF2B5EF4-FFF2-40B4-BE49-F238E27FC236}">
                <a16:creationId xmlns:a16="http://schemas.microsoft.com/office/drawing/2014/main" id="{6247F0B0-C246-6BEE-AE99-1E7DBBE405F9}"/>
              </a:ext>
            </a:extLst>
          </p:cNvPr>
          <p:cNvPicPr>
            <a:picLocks noChangeAspect="1"/>
          </p:cNvPicPr>
          <p:nvPr/>
        </p:nvPicPr>
        <p:blipFill>
          <a:blip r:embed="rId9"/>
          <a:stretch>
            <a:fillRect/>
          </a:stretch>
        </p:blipFill>
        <p:spPr>
          <a:xfrm>
            <a:off x="7863840" y="1828800"/>
            <a:ext cx="8967595" cy="4660319"/>
          </a:xfrm>
          <a:prstGeom prst="rect">
            <a:avLst/>
          </a:prstGeom>
        </p:spPr>
      </p:pic>
      <p:pic>
        <p:nvPicPr>
          <p:cNvPr id="41" name="Picture 40">
            <a:extLst>
              <a:ext uri="{FF2B5EF4-FFF2-40B4-BE49-F238E27FC236}">
                <a16:creationId xmlns:a16="http://schemas.microsoft.com/office/drawing/2014/main" id="{A8308443-2C05-7CF6-1559-35B9F1A2491C}"/>
              </a:ext>
            </a:extLst>
          </p:cNvPr>
          <p:cNvPicPr>
            <a:picLocks noChangeAspect="1"/>
          </p:cNvPicPr>
          <p:nvPr/>
        </p:nvPicPr>
        <p:blipFill>
          <a:blip r:embed="rId10"/>
          <a:stretch>
            <a:fillRect/>
          </a:stretch>
        </p:blipFill>
        <p:spPr>
          <a:xfrm>
            <a:off x="0" y="1828800"/>
            <a:ext cx="8967595" cy="5366430"/>
          </a:xfrm>
          <a:prstGeom prst="rect">
            <a:avLst/>
          </a:prstGeom>
        </p:spPr>
      </p:pic>
    </p:spTree>
    <p:extLst>
      <p:ext uri="{BB962C8B-B14F-4D97-AF65-F5344CB8AC3E}">
        <p14:creationId xmlns:p14="http://schemas.microsoft.com/office/powerpoint/2010/main" val="2536436158"/>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142708D-42CC-411D-9635-2BC96D66ECBC}"/>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09E4D6E0-5BA1-8A63-C157-D81147C667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2" name="Foliennummer">
            <a:extLst>
              <a:ext uri="{FF2B5EF4-FFF2-40B4-BE49-F238E27FC236}">
                <a16:creationId xmlns:a16="http://schemas.microsoft.com/office/drawing/2014/main" id="{33A566CD-64E0-9866-FD1F-765BB3F53404}"/>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29</a:t>
            </a:fld>
            <a:endParaRPr/>
          </a:p>
        </p:txBody>
      </p:sp>
      <p:sp>
        <p:nvSpPr>
          <p:cNvPr id="3" name="5.1 Das Document Object Model…">
            <a:extLst>
              <a:ext uri="{FF2B5EF4-FFF2-40B4-BE49-F238E27FC236}">
                <a16:creationId xmlns:a16="http://schemas.microsoft.com/office/drawing/2014/main" id="{BA51668D-A5C6-0F53-438B-4FF8E8331F56}"/>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Noun And verb sensitivity – Listening</a:t>
            </a:r>
          </a:p>
        </p:txBody>
      </p:sp>
      <p:sp>
        <p:nvSpPr>
          <p:cNvPr id="5" name="Rectangle 4">
            <a:extLst>
              <a:ext uri="{FF2B5EF4-FFF2-40B4-BE49-F238E27FC236}">
                <a16:creationId xmlns:a16="http://schemas.microsoft.com/office/drawing/2014/main" id="{A8328D6B-3B4F-31A3-10DB-01AC3DAD67AD}"/>
              </a:ext>
            </a:extLst>
          </p:cNvPr>
          <p:cNvSpPr/>
          <p:nvPr/>
        </p:nvSpPr>
        <p:spPr>
          <a:xfrm>
            <a:off x="6119361" y="2963400"/>
            <a:ext cx="1691640" cy="1772470"/>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6" name="Rectangle 5">
            <a:extLst>
              <a:ext uri="{FF2B5EF4-FFF2-40B4-BE49-F238E27FC236}">
                <a16:creationId xmlns:a16="http://schemas.microsoft.com/office/drawing/2014/main" id="{0A33B2CB-46B2-A67C-7517-92E1C99968CC}"/>
              </a:ext>
            </a:extLst>
          </p:cNvPr>
          <p:cNvSpPr/>
          <p:nvPr/>
        </p:nvSpPr>
        <p:spPr>
          <a:xfrm>
            <a:off x="12421697" y="2963400"/>
            <a:ext cx="1691640" cy="1772470"/>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pic>
        <p:nvPicPr>
          <p:cNvPr id="7" name="Picture 6">
            <a:extLst>
              <a:ext uri="{FF2B5EF4-FFF2-40B4-BE49-F238E27FC236}">
                <a16:creationId xmlns:a16="http://schemas.microsoft.com/office/drawing/2014/main" id="{F9F32269-336D-DFD8-2CDB-8C5738328DB0}"/>
              </a:ext>
            </a:extLst>
          </p:cNvPr>
          <p:cNvPicPr>
            <a:picLocks noChangeAspect="1"/>
          </p:cNvPicPr>
          <p:nvPr/>
        </p:nvPicPr>
        <p:blipFill>
          <a:blip r:embed="rId4"/>
          <a:stretch>
            <a:fillRect/>
          </a:stretch>
        </p:blipFill>
        <p:spPr>
          <a:xfrm>
            <a:off x="15873984" y="7315200"/>
            <a:ext cx="8967595" cy="4660319"/>
          </a:xfrm>
          <a:prstGeom prst="rect">
            <a:avLst/>
          </a:prstGeom>
        </p:spPr>
      </p:pic>
      <p:pic>
        <p:nvPicPr>
          <p:cNvPr id="8" name="Picture 7">
            <a:extLst>
              <a:ext uri="{FF2B5EF4-FFF2-40B4-BE49-F238E27FC236}">
                <a16:creationId xmlns:a16="http://schemas.microsoft.com/office/drawing/2014/main" id="{7B4C85E0-0EF0-111B-208C-CBD8EE25DE7A}"/>
              </a:ext>
            </a:extLst>
          </p:cNvPr>
          <p:cNvPicPr>
            <a:picLocks noChangeAspect="1"/>
          </p:cNvPicPr>
          <p:nvPr/>
        </p:nvPicPr>
        <p:blipFill>
          <a:blip r:embed="rId5"/>
          <a:stretch>
            <a:fillRect/>
          </a:stretch>
        </p:blipFill>
        <p:spPr>
          <a:xfrm>
            <a:off x="7863840" y="7315200"/>
            <a:ext cx="8967595" cy="4730934"/>
          </a:xfrm>
          <a:prstGeom prst="rect">
            <a:avLst/>
          </a:prstGeom>
        </p:spPr>
      </p:pic>
      <p:pic>
        <p:nvPicPr>
          <p:cNvPr id="9" name="Picture 8">
            <a:extLst>
              <a:ext uri="{FF2B5EF4-FFF2-40B4-BE49-F238E27FC236}">
                <a16:creationId xmlns:a16="http://schemas.microsoft.com/office/drawing/2014/main" id="{F08F59C0-18CF-FB0B-8FBF-53001EB5EADB}"/>
              </a:ext>
            </a:extLst>
          </p:cNvPr>
          <p:cNvPicPr>
            <a:picLocks noChangeAspect="1"/>
          </p:cNvPicPr>
          <p:nvPr/>
        </p:nvPicPr>
        <p:blipFill>
          <a:blip r:embed="rId6"/>
          <a:stretch>
            <a:fillRect/>
          </a:stretch>
        </p:blipFill>
        <p:spPr>
          <a:xfrm>
            <a:off x="0" y="7315200"/>
            <a:ext cx="8967595" cy="5154599"/>
          </a:xfrm>
          <a:prstGeom prst="rect">
            <a:avLst/>
          </a:prstGeom>
        </p:spPr>
      </p:pic>
      <p:pic>
        <p:nvPicPr>
          <p:cNvPr id="10" name="Picture 9">
            <a:extLst>
              <a:ext uri="{FF2B5EF4-FFF2-40B4-BE49-F238E27FC236}">
                <a16:creationId xmlns:a16="http://schemas.microsoft.com/office/drawing/2014/main" id="{5CBCE9FC-5B20-55D3-C62B-00203C634DB5}"/>
              </a:ext>
            </a:extLst>
          </p:cNvPr>
          <p:cNvPicPr>
            <a:picLocks noChangeAspect="1"/>
          </p:cNvPicPr>
          <p:nvPr/>
        </p:nvPicPr>
        <p:blipFill>
          <a:blip r:embed="rId7"/>
          <a:stretch>
            <a:fillRect/>
          </a:stretch>
        </p:blipFill>
        <p:spPr>
          <a:xfrm>
            <a:off x="15824603" y="1828800"/>
            <a:ext cx="8967595" cy="5013382"/>
          </a:xfrm>
          <a:prstGeom prst="rect">
            <a:avLst/>
          </a:prstGeom>
        </p:spPr>
      </p:pic>
      <p:pic>
        <p:nvPicPr>
          <p:cNvPr id="11" name="Picture 10">
            <a:extLst>
              <a:ext uri="{FF2B5EF4-FFF2-40B4-BE49-F238E27FC236}">
                <a16:creationId xmlns:a16="http://schemas.microsoft.com/office/drawing/2014/main" id="{91D11787-D9E5-0DE7-0097-9C9809CD8051}"/>
              </a:ext>
            </a:extLst>
          </p:cNvPr>
          <p:cNvPicPr>
            <a:picLocks noChangeAspect="1"/>
          </p:cNvPicPr>
          <p:nvPr/>
        </p:nvPicPr>
        <p:blipFill>
          <a:blip r:embed="rId8"/>
          <a:stretch>
            <a:fillRect/>
          </a:stretch>
        </p:blipFill>
        <p:spPr>
          <a:xfrm>
            <a:off x="7863840" y="1828800"/>
            <a:ext cx="8967595" cy="4660319"/>
          </a:xfrm>
          <a:prstGeom prst="rect">
            <a:avLst/>
          </a:prstGeom>
        </p:spPr>
      </p:pic>
      <p:pic>
        <p:nvPicPr>
          <p:cNvPr id="12" name="Picture 11">
            <a:extLst>
              <a:ext uri="{FF2B5EF4-FFF2-40B4-BE49-F238E27FC236}">
                <a16:creationId xmlns:a16="http://schemas.microsoft.com/office/drawing/2014/main" id="{E2571646-C1CC-B3F1-72FF-9541BF614EC4}"/>
              </a:ext>
            </a:extLst>
          </p:cNvPr>
          <p:cNvPicPr>
            <a:picLocks noChangeAspect="1"/>
          </p:cNvPicPr>
          <p:nvPr/>
        </p:nvPicPr>
        <p:blipFill>
          <a:blip r:embed="rId9"/>
          <a:stretch>
            <a:fillRect/>
          </a:stretch>
        </p:blipFill>
        <p:spPr>
          <a:xfrm>
            <a:off x="0" y="1828800"/>
            <a:ext cx="8967595" cy="5366430"/>
          </a:xfrm>
          <a:prstGeom prst="rect">
            <a:avLst/>
          </a:prstGeom>
        </p:spPr>
      </p:pic>
      <p:pic>
        <p:nvPicPr>
          <p:cNvPr id="13" name="Bild" descr="Bild">
            <a:extLst>
              <a:ext uri="{FF2B5EF4-FFF2-40B4-BE49-F238E27FC236}">
                <a16:creationId xmlns:a16="http://schemas.microsoft.com/office/drawing/2014/main" id="{EC4DEB30-2EC0-1C5E-B41D-0D8D81D27FD6}"/>
              </a:ext>
            </a:extLst>
          </p:cNvPr>
          <p:cNvPicPr>
            <a:picLocks noChangeAspect="1"/>
          </p:cNvPicPr>
          <p:nvPr/>
        </p:nvPicPr>
        <p:blipFill>
          <a:blip r:embed="rId10"/>
          <a:stretch>
            <a:fillRect/>
          </a:stretch>
        </p:blipFill>
        <p:spPr>
          <a:xfrm>
            <a:off x="21373832" y="508000"/>
            <a:ext cx="2159389" cy="1207459"/>
          </a:xfrm>
          <a:prstGeom prst="rect">
            <a:avLst/>
          </a:prstGeom>
          <a:ln w="12700">
            <a:miter lim="400000"/>
          </a:ln>
        </p:spPr>
      </p:pic>
    </p:spTree>
    <p:extLst>
      <p:ext uri="{BB962C8B-B14F-4D97-AF65-F5344CB8AC3E}">
        <p14:creationId xmlns:p14="http://schemas.microsoft.com/office/powerpoint/2010/main" val="3735371882"/>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46646D6-8C59-09D4-AC41-87085C177F59}"/>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D336EE9F-494C-BADF-26D9-031D518B72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pic>
        <p:nvPicPr>
          <p:cNvPr id="13" name="Bild" descr="Bild">
            <a:extLst>
              <a:ext uri="{FF2B5EF4-FFF2-40B4-BE49-F238E27FC236}">
                <a16:creationId xmlns:a16="http://schemas.microsoft.com/office/drawing/2014/main" id="{24A33560-2CD3-C028-FCEB-47868FEDCF3E}"/>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4" name="Foliennummer">
            <a:extLst>
              <a:ext uri="{FF2B5EF4-FFF2-40B4-BE49-F238E27FC236}">
                <a16:creationId xmlns:a16="http://schemas.microsoft.com/office/drawing/2014/main" id="{0CE5DC45-32CD-55DE-043E-FF2B754390E5}"/>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30</a:t>
            </a:fld>
            <a:endParaRPr/>
          </a:p>
        </p:txBody>
      </p:sp>
      <p:sp>
        <p:nvSpPr>
          <p:cNvPr id="14" name="5.1 Das Document Object Model…">
            <a:extLst>
              <a:ext uri="{FF2B5EF4-FFF2-40B4-BE49-F238E27FC236}">
                <a16:creationId xmlns:a16="http://schemas.microsoft.com/office/drawing/2014/main" id="{E03C107A-EAFC-FEE1-07BE-E43FB77915A8}"/>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GROUP AVERAGE</a:t>
            </a:r>
          </a:p>
        </p:txBody>
      </p:sp>
      <p:sp>
        <p:nvSpPr>
          <p:cNvPr id="15" name="Rectangle 14">
            <a:extLst>
              <a:ext uri="{FF2B5EF4-FFF2-40B4-BE49-F238E27FC236}">
                <a16:creationId xmlns:a16="http://schemas.microsoft.com/office/drawing/2014/main" id="{2D282E89-4CB9-0BC9-3CD3-24ED59C2D9D7}"/>
              </a:ext>
            </a:extLst>
          </p:cNvPr>
          <p:cNvSpPr/>
          <p:nvPr/>
        </p:nvSpPr>
        <p:spPr>
          <a:xfrm>
            <a:off x="5241597" y="3041339"/>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16" name="Rectangle 15">
            <a:extLst>
              <a:ext uri="{FF2B5EF4-FFF2-40B4-BE49-F238E27FC236}">
                <a16:creationId xmlns:a16="http://schemas.microsoft.com/office/drawing/2014/main" id="{680B85BE-F97E-E05B-277B-84248E980374}"/>
              </a:ext>
            </a:extLst>
          </p:cNvPr>
          <p:cNvSpPr/>
          <p:nvPr/>
        </p:nvSpPr>
        <p:spPr>
          <a:xfrm>
            <a:off x="17692197" y="3041339"/>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17" name="TextBox 16">
            <a:extLst>
              <a:ext uri="{FF2B5EF4-FFF2-40B4-BE49-F238E27FC236}">
                <a16:creationId xmlns:a16="http://schemas.microsoft.com/office/drawing/2014/main" id="{C324D322-08B8-F54C-4359-B1C7A28A5734}"/>
              </a:ext>
            </a:extLst>
          </p:cNvPr>
          <p:cNvSpPr txBox="1"/>
          <p:nvPr/>
        </p:nvSpPr>
        <p:spPr>
          <a:xfrm>
            <a:off x="1095763" y="10108178"/>
            <a:ext cx="10002883"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57200">
              <a:spcBef>
                <a:spcPts val="300"/>
              </a:spcBef>
              <a:buSzPct val="100000"/>
              <a:defRPr sz="3000"/>
            </a:pPr>
            <a:r>
              <a:rPr lang="en-US" sz="4800" b="1" dirty="0">
                <a:solidFill>
                  <a:schemeClr val="tx1"/>
                </a:solidFill>
              </a:rPr>
              <a:t>Reading Modality</a:t>
            </a:r>
          </a:p>
        </p:txBody>
      </p:sp>
      <p:sp>
        <p:nvSpPr>
          <p:cNvPr id="18" name="TextBox 17">
            <a:extLst>
              <a:ext uri="{FF2B5EF4-FFF2-40B4-BE49-F238E27FC236}">
                <a16:creationId xmlns:a16="http://schemas.microsoft.com/office/drawing/2014/main" id="{D3222A0C-FA33-41C8-FA20-F3DA72283102}"/>
              </a:ext>
            </a:extLst>
          </p:cNvPr>
          <p:cNvSpPr txBox="1"/>
          <p:nvPr/>
        </p:nvSpPr>
        <p:spPr>
          <a:xfrm>
            <a:off x="13285355" y="10108178"/>
            <a:ext cx="10002883"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57200">
              <a:spcBef>
                <a:spcPts val="300"/>
              </a:spcBef>
              <a:buSzPct val="100000"/>
              <a:defRPr sz="3000"/>
            </a:pPr>
            <a:r>
              <a:rPr lang="en-US" sz="4800" b="1" dirty="0">
                <a:solidFill>
                  <a:schemeClr val="tx1"/>
                </a:solidFill>
              </a:rPr>
              <a:t>Listening Modality</a:t>
            </a:r>
          </a:p>
        </p:txBody>
      </p:sp>
      <p:pic>
        <p:nvPicPr>
          <p:cNvPr id="19" name="Picture 18">
            <a:extLst>
              <a:ext uri="{FF2B5EF4-FFF2-40B4-BE49-F238E27FC236}">
                <a16:creationId xmlns:a16="http://schemas.microsoft.com/office/drawing/2014/main" id="{EB47A04B-82D3-745A-B2F8-8A4C582DE2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68705" y="8583246"/>
            <a:ext cx="2756982" cy="2542969"/>
          </a:xfrm>
          <a:prstGeom prst="rect">
            <a:avLst/>
          </a:prstGeom>
        </p:spPr>
      </p:pic>
      <p:pic>
        <p:nvPicPr>
          <p:cNvPr id="20" name="Picture 19">
            <a:extLst>
              <a:ext uri="{FF2B5EF4-FFF2-40B4-BE49-F238E27FC236}">
                <a16:creationId xmlns:a16="http://schemas.microsoft.com/office/drawing/2014/main" id="{6E776BE2-B5CC-4016-66D5-1C73D581DFDC}"/>
              </a:ext>
            </a:extLst>
          </p:cNvPr>
          <p:cNvPicPr>
            <a:picLocks noChangeAspect="1"/>
          </p:cNvPicPr>
          <p:nvPr/>
        </p:nvPicPr>
        <p:blipFill>
          <a:blip r:embed="rId6"/>
          <a:stretch>
            <a:fillRect/>
          </a:stretch>
        </p:blipFill>
        <p:spPr>
          <a:xfrm>
            <a:off x="503671" y="3404622"/>
            <a:ext cx="11379570" cy="5123239"/>
          </a:xfrm>
          <a:prstGeom prst="rect">
            <a:avLst/>
          </a:prstGeom>
        </p:spPr>
      </p:pic>
      <p:pic>
        <p:nvPicPr>
          <p:cNvPr id="21" name="Picture 20">
            <a:extLst>
              <a:ext uri="{FF2B5EF4-FFF2-40B4-BE49-F238E27FC236}">
                <a16:creationId xmlns:a16="http://schemas.microsoft.com/office/drawing/2014/main" id="{5BDA476A-FA61-9CDD-AE63-480C060FC347}"/>
              </a:ext>
            </a:extLst>
          </p:cNvPr>
          <p:cNvPicPr>
            <a:picLocks noChangeAspect="1"/>
          </p:cNvPicPr>
          <p:nvPr/>
        </p:nvPicPr>
        <p:blipFill>
          <a:blip r:embed="rId7"/>
          <a:stretch>
            <a:fillRect/>
          </a:stretch>
        </p:blipFill>
        <p:spPr>
          <a:xfrm>
            <a:off x="12597013" y="3417232"/>
            <a:ext cx="11379570" cy="5123239"/>
          </a:xfrm>
          <a:prstGeom prst="rect">
            <a:avLst/>
          </a:prstGeom>
        </p:spPr>
      </p:pic>
    </p:spTree>
    <p:extLst>
      <p:ext uri="{BB962C8B-B14F-4D97-AF65-F5344CB8AC3E}">
        <p14:creationId xmlns:p14="http://schemas.microsoft.com/office/powerpoint/2010/main" val="53288683"/>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95F5462-CA46-C335-A14C-01FFC7D2E47D}"/>
            </a:ext>
          </a:extLst>
        </p:cNvPr>
        <p:cNvGrpSpPr/>
        <p:nvPr/>
      </p:nvGrpSpPr>
      <p:grpSpPr>
        <a:xfrm>
          <a:off x="0" y="0"/>
          <a:ext cx="0" cy="0"/>
          <a:chOff x="0" y="0"/>
          <a:chExt cx="0" cy="0"/>
        </a:xfrm>
      </p:grpSpPr>
      <p:pic>
        <p:nvPicPr>
          <p:cNvPr id="28" name="Picture 27">
            <a:extLst>
              <a:ext uri="{FF2B5EF4-FFF2-40B4-BE49-F238E27FC236}">
                <a16:creationId xmlns:a16="http://schemas.microsoft.com/office/drawing/2014/main" id="{A2FA4F59-941A-794E-A94F-9A98BF3E1B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B9FFFE5E-D4F1-B415-75C5-D7A2986A34C6}"/>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31</a:t>
            </a:fld>
            <a:endParaRPr/>
          </a:p>
        </p:txBody>
      </p:sp>
      <p:sp>
        <p:nvSpPr>
          <p:cNvPr id="70" name="5.1 Das Document Object Model…">
            <a:extLst>
              <a:ext uri="{FF2B5EF4-FFF2-40B4-BE49-F238E27FC236}">
                <a16:creationId xmlns:a16="http://schemas.microsoft.com/office/drawing/2014/main" id="{47A03840-D961-ABFE-961F-711142427F95}"/>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MASKING NOUNS AND VERBS IMPROVES PREDICTION ACCURACY IN SOME AREAS</a:t>
            </a:r>
          </a:p>
        </p:txBody>
      </p:sp>
      <p:pic>
        <p:nvPicPr>
          <p:cNvPr id="4" name="Bild" descr="Bild">
            <a:extLst>
              <a:ext uri="{FF2B5EF4-FFF2-40B4-BE49-F238E27FC236}">
                <a16:creationId xmlns:a16="http://schemas.microsoft.com/office/drawing/2014/main" id="{25C2683F-BF70-2B8F-B6C9-D4CE08FB78C6}"/>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pic>
        <p:nvPicPr>
          <p:cNvPr id="2" name="Picture 1">
            <a:extLst>
              <a:ext uri="{FF2B5EF4-FFF2-40B4-BE49-F238E27FC236}">
                <a16:creationId xmlns:a16="http://schemas.microsoft.com/office/drawing/2014/main" id="{086A0430-8DF5-6EB3-66C0-ACB681C2D0CB}"/>
              </a:ext>
            </a:extLst>
          </p:cNvPr>
          <p:cNvPicPr>
            <a:picLocks noChangeAspect="1"/>
          </p:cNvPicPr>
          <p:nvPr/>
        </p:nvPicPr>
        <p:blipFill>
          <a:blip r:embed="rId5"/>
          <a:srcRect b="27083"/>
          <a:stretch>
            <a:fillRect/>
          </a:stretch>
        </p:blipFill>
        <p:spPr>
          <a:xfrm>
            <a:off x="11887200" y="3657600"/>
            <a:ext cx="12679200" cy="6382772"/>
          </a:xfrm>
          <a:prstGeom prst="rect">
            <a:avLst/>
          </a:prstGeom>
        </p:spPr>
      </p:pic>
      <p:sp>
        <p:nvSpPr>
          <p:cNvPr id="3" name="Rectangle 2">
            <a:extLst>
              <a:ext uri="{FF2B5EF4-FFF2-40B4-BE49-F238E27FC236}">
                <a16:creationId xmlns:a16="http://schemas.microsoft.com/office/drawing/2014/main" id="{016E25D3-B71F-E65B-693D-C27557C8511C}"/>
              </a:ext>
            </a:extLst>
          </p:cNvPr>
          <p:cNvSpPr/>
          <p:nvPr/>
        </p:nvSpPr>
        <p:spPr>
          <a:xfrm>
            <a:off x="17468114" y="3925000"/>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pic>
        <p:nvPicPr>
          <p:cNvPr id="6" name="Picture 5">
            <a:extLst>
              <a:ext uri="{FF2B5EF4-FFF2-40B4-BE49-F238E27FC236}">
                <a16:creationId xmlns:a16="http://schemas.microsoft.com/office/drawing/2014/main" id="{052184E1-93DE-C008-B531-20312F2ED6B2}"/>
              </a:ext>
            </a:extLst>
          </p:cNvPr>
          <p:cNvPicPr>
            <a:picLocks noChangeAspect="1"/>
          </p:cNvPicPr>
          <p:nvPr/>
        </p:nvPicPr>
        <p:blipFill>
          <a:blip r:embed="rId6"/>
          <a:srcRect b="27083"/>
          <a:stretch>
            <a:fillRect/>
          </a:stretch>
        </p:blipFill>
        <p:spPr>
          <a:xfrm>
            <a:off x="-261260" y="3657600"/>
            <a:ext cx="12679200" cy="6382772"/>
          </a:xfrm>
          <a:prstGeom prst="rect">
            <a:avLst/>
          </a:prstGeom>
        </p:spPr>
      </p:pic>
      <p:sp>
        <p:nvSpPr>
          <p:cNvPr id="7" name="Rectangle 6">
            <a:extLst>
              <a:ext uri="{FF2B5EF4-FFF2-40B4-BE49-F238E27FC236}">
                <a16:creationId xmlns:a16="http://schemas.microsoft.com/office/drawing/2014/main" id="{9E5E45CB-3C26-C1E5-DCF5-C7A8162A7711}"/>
              </a:ext>
            </a:extLst>
          </p:cNvPr>
          <p:cNvSpPr/>
          <p:nvPr/>
        </p:nvSpPr>
        <p:spPr>
          <a:xfrm>
            <a:off x="5033837" y="3795580"/>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8" name="Rectangle 7">
            <a:extLst>
              <a:ext uri="{FF2B5EF4-FFF2-40B4-BE49-F238E27FC236}">
                <a16:creationId xmlns:a16="http://schemas.microsoft.com/office/drawing/2014/main" id="{52742026-7068-51BF-144E-EAA9F94543D4}"/>
              </a:ext>
            </a:extLst>
          </p:cNvPr>
          <p:cNvSpPr/>
          <p:nvPr/>
        </p:nvSpPr>
        <p:spPr>
          <a:xfrm>
            <a:off x="5241597" y="3041339"/>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9" name="Rectangle 8">
            <a:extLst>
              <a:ext uri="{FF2B5EF4-FFF2-40B4-BE49-F238E27FC236}">
                <a16:creationId xmlns:a16="http://schemas.microsoft.com/office/drawing/2014/main" id="{4F889353-6FE6-52FD-9652-5004973CB388}"/>
              </a:ext>
            </a:extLst>
          </p:cNvPr>
          <p:cNvSpPr/>
          <p:nvPr/>
        </p:nvSpPr>
        <p:spPr>
          <a:xfrm>
            <a:off x="17692197" y="3041339"/>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10" name="TextBox 9">
            <a:extLst>
              <a:ext uri="{FF2B5EF4-FFF2-40B4-BE49-F238E27FC236}">
                <a16:creationId xmlns:a16="http://schemas.microsoft.com/office/drawing/2014/main" id="{5CE27FD1-101B-2F35-285B-9CC3A4C78A8B}"/>
              </a:ext>
            </a:extLst>
          </p:cNvPr>
          <p:cNvSpPr txBox="1"/>
          <p:nvPr/>
        </p:nvSpPr>
        <p:spPr>
          <a:xfrm>
            <a:off x="994162" y="3014887"/>
            <a:ext cx="10002883" cy="1608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57200">
              <a:spcBef>
                <a:spcPts val="300"/>
              </a:spcBef>
              <a:buSzPct val="100000"/>
              <a:defRPr sz="3000"/>
            </a:pPr>
            <a:r>
              <a:rPr lang="en-US" sz="4800" b="1" dirty="0">
                <a:solidFill>
                  <a:schemeClr val="tx1"/>
                </a:solidFill>
              </a:rPr>
              <a:t>Subject 7</a:t>
            </a:r>
          </a:p>
          <a:p>
            <a:pPr defTabSz="457200">
              <a:spcBef>
                <a:spcPts val="300"/>
              </a:spcBef>
              <a:buSzPct val="100000"/>
              <a:defRPr sz="3000"/>
            </a:pPr>
            <a:r>
              <a:rPr lang="en-US" sz="4800" b="1" dirty="0">
                <a:solidFill>
                  <a:schemeClr val="tx1"/>
                </a:solidFill>
              </a:rPr>
              <a:t>Baseline - Verb</a:t>
            </a:r>
          </a:p>
        </p:txBody>
      </p:sp>
      <p:sp>
        <p:nvSpPr>
          <p:cNvPr id="11" name="TextBox 10">
            <a:extLst>
              <a:ext uri="{FF2B5EF4-FFF2-40B4-BE49-F238E27FC236}">
                <a16:creationId xmlns:a16="http://schemas.microsoft.com/office/drawing/2014/main" id="{694F3C70-DC22-A59A-D327-FBF4CA4ADA48}"/>
              </a:ext>
            </a:extLst>
          </p:cNvPr>
          <p:cNvSpPr txBox="1"/>
          <p:nvPr/>
        </p:nvSpPr>
        <p:spPr>
          <a:xfrm>
            <a:off x="13183754" y="3014887"/>
            <a:ext cx="10002883" cy="1608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57200">
              <a:spcBef>
                <a:spcPts val="300"/>
              </a:spcBef>
              <a:buSzPct val="100000"/>
              <a:defRPr sz="3000"/>
            </a:pPr>
            <a:r>
              <a:rPr lang="en-US" sz="4800" b="1" dirty="0">
                <a:solidFill>
                  <a:schemeClr val="tx1"/>
                </a:solidFill>
              </a:rPr>
              <a:t>Subject 7</a:t>
            </a:r>
          </a:p>
          <a:p>
            <a:pPr defTabSz="457200">
              <a:spcBef>
                <a:spcPts val="300"/>
              </a:spcBef>
              <a:buSzPct val="100000"/>
              <a:defRPr sz="3000"/>
            </a:pPr>
            <a:r>
              <a:rPr lang="en-US" sz="4800" b="1" dirty="0">
                <a:solidFill>
                  <a:schemeClr val="tx1"/>
                </a:solidFill>
              </a:rPr>
              <a:t>Baseline - Noun</a:t>
            </a:r>
          </a:p>
        </p:txBody>
      </p:sp>
      <p:pic>
        <p:nvPicPr>
          <p:cNvPr id="12" name="Picture 11">
            <a:extLst>
              <a:ext uri="{FF2B5EF4-FFF2-40B4-BE49-F238E27FC236}">
                <a16:creationId xmlns:a16="http://schemas.microsoft.com/office/drawing/2014/main" id="{55213468-4FC1-EF53-E518-DC5F4D31AD08}"/>
              </a:ext>
            </a:extLst>
          </p:cNvPr>
          <p:cNvPicPr>
            <a:picLocks noChangeAspect="1"/>
          </p:cNvPicPr>
          <p:nvPr/>
        </p:nvPicPr>
        <p:blipFill>
          <a:blip r:embed="rId5"/>
          <a:srcRect l="18456" t="76833" r="18616" b="10075"/>
          <a:stretch>
            <a:fillRect/>
          </a:stretch>
        </p:blipFill>
        <p:spPr>
          <a:xfrm>
            <a:off x="8151147" y="9623371"/>
            <a:ext cx="8081705" cy="1160670"/>
          </a:xfrm>
          <a:prstGeom prst="rect">
            <a:avLst/>
          </a:prstGeom>
        </p:spPr>
      </p:pic>
      <p:sp>
        <p:nvSpPr>
          <p:cNvPr id="13" name="TextBox 12">
            <a:extLst>
              <a:ext uri="{FF2B5EF4-FFF2-40B4-BE49-F238E27FC236}">
                <a16:creationId xmlns:a16="http://schemas.microsoft.com/office/drawing/2014/main" id="{A24759ED-AD07-12DC-B3F7-9ABD2FDE41AF}"/>
              </a:ext>
            </a:extLst>
          </p:cNvPr>
          <p:cNvSpPr txBox="1"/>
          <p:nvPr/>
        </p:nvSpPr>
        <p:spPr>
          <a:xfrm>
            <a:off x="7190557" y="9249496"/>
            <a:ext cx="10002883"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57200">
              <a:spcBef>
                <a:spcPts val="300"/>
              </a:spcBef>
              <a:buSzPct val="100000"/>
              <a:defRPr sz="3000"/>
            </a:pPr>
            <a:r>
              <a:rPr lang="en-US" sz="2400" dirty="0">
                <a:solidFill>
                  <a:schemeClr val="tx1"/>
                </a:solidFill>
              </a:rPr>
              <a:t>baseline-masked</a:t>
            </a:r>
          </a:p>
        </p:txBody>
      </p:sp>
      <p:sp>
        <p:nvSpPr>
          <p:cNvPr id="14" name="TextBox 13">
            <a:extLst>
              <a:ext uri="{FF2B5EF4-FFF2-40B4-BE49-F238E27FC236}">
                <a16:creationId xmlns:a16="http://schemas.microsoft.com/office/drawing/2014/main" id="{5C25518E-095D-29DD-8A5A-A7D191A8AD0B}"/>
              </a:ext>
            </a:extLst>
          </p:cNvPr>
          <p:cNvSpPr txBox="1"/>
          <p:nvPr/>
        </p:nvSpPr>
        <p:spPr>
          <a:xfrm>
            <a:off x="6933237" y="10703954"/>
            <a:ext cx="2389667"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57200">
              <a:spcBef>
                <a:spcPts val="300"/>
              </a:spcBef>
              <a:buSzPct val="100000"/>
              <a:defRPr sz="3000"/>
            </a:pPr>
            <a:r>
              <a:rPr lang="en-US" sz="2400" dirty="0">
                <a:solidFill>
                  <a:schemeClr val="tx1"/>
                </a:solidFill>
              </a:rPr>
              <a:t>baseline worse</a:t>
            </a:r>
          </a:p>
        </p:txBody>
      </p:sp>
      <p:sp>
        <p:nvSpPr>
          <p:cNvPr id="15" name="TextBox 14">
            <a:extLst>
              <a:ext uri="{FF2B5EF4-FFF2-40B4-BE49-F238E27FC236}">
                <a16:creationId xmlns:a16="http://schemas.microsoft.com/office/drawing/2014/main" id="{301C00CF-BEEC-D322-E049-5DF8B0257A85}"/>
              </a:ext>
            </a:extLst>
          </p:cNvPr>
          <p:cNvSpPr txBox="1"/>
          <p:nvPr/>
        </p:nvSpPr>
        <p:spPr>
          <a:xfrm>
            <a:off x="14536186" y="10753829"/>
            <a:ext cx="251413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57200">
              <a:spcBef>
                <a:spcPts val="300"/>
              </a:spcBef>
              <a:buSzPct val="100000"/>
              <a:defRPr sz="3000"/>
            </a:pPr>
            <a:r>
              <a:rPr lang="en-US" sz="2400" dirty="0">
                <a:solidFill>
                  <a:schemeClr val="tx1"/>
                </a:solidFill>
              </a:rPr>
              <a:t>masked worse</a:t>
            </a:r>
          </a:p>
        </p:txBody>
      </p:sp>
    </p:spTree>
    <p:extLst>
      <p:ext uri="{BB962C8B-B14F-4D97-AF65-F5344CB8AC3E}">
        <p14:creationId xmlns:p14="http://schemas.microsoft.com/office/powerpoint/2010/main" val="1831929792"/>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8A7AB0D-4922-9567-CF3A-3D806C0BC8D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CC2AC39-9403-555C-2998-19E2A5BE8FB2}"/>
              </a:ext>
            </a:extLst>
          </p:cNvPr>
          <p:cNvPicPr>
            <a:picLocks noChangeAspect="1"/>
          </p:cNvPicPr>
          <p:nvPr/>
        </p:nvPicPr>
        <p:blipFill>
          <a:blip r:embed="rId3"/>
          <a:stretch>
            <a:fillRect/>
          </a:stretch>
        </p:blipFill>
        <p:spPr>
          <a:xfrm>
            <a:off x="-261260" y="3657600"/>
            <a:ext cx="12679200" cy="6578334"/>
          </a:xfrm>
          <a:prstGeom prst="rect">
            <a:avLst/>
          </a:prstGeom>
        </p:spPr>
      </p:pic>
      <p:pic>
        <p:nvPicPr>
          <p:cNvPr id="16" name="Picture 15">
            <a:extLst>
              <a:ext uri="{FF2B5EF4-FFF2-40B4-BE49-F238E27FC236}">
                <a16:creationId xmlns:a16="http://schemas.microsoft.com/office/drawing/2014/main" id="{697D9D8E-A8E2-8A43-3D1F-E5BFACCA9B27}"/>
              </a:ext>
            </a:extLst>
          </p:cNvPr>
          <p:cNvPicPr>
            <a:picLocks noChangeAspect="1"/>
          </p:cNvPicPr>
          <p:nvPr/>
        </p:nvPicPr>
        <p:blipFill>
          <a:blip r:embed="rId4"/>
          <a:stretch>
            <a:fillRect/>
          </a:stretch>
        </p:blipFill>
        <p:spPr>
          <a:xfrm>
            <a:off x="11887200" y="3657600"/>
            <a:ext cx="12679200" cy="6578334"/>
          </a:xfrm>
          <a:prstGeom prst="rect">
            <a:avLst/>
          </a:prstGeom>
        </p:spPr>
      </p:pic>
      <p:pic>
        <p:nvPicPr>
          <p:cNvPr id="17" name="Picture 16">
            <a:extLst>
              <a:ext uri="{FF2B5EF4-FFF2-40B4-BE49-F238E27FC236}">
                <a16:creationId xmlns:a16="http://schemas.microsoft.com/office/drawing/2014/main" id="{7DE862E1-AD61-256B-6A5A-5916B41166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18" name="Foliennummer">
            <a:extLst>
              <a:ext uri="{FF2B5EF4-FFF2-40B4-BE49-F238E27FC236}">
                <a16:creationId xmlns:a16="http://schemas.microsoft.com/office/drawing/2014/main" id="{62F8D108-A01A-705E-3122-F386F4E1819A}"/>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32</a:t>
            </a:fld>
            <a:endParaRPr/>
          </a:p>
        </p:txBody>
      </p:sp>
      <p:sp>
        <p:nvSpPr>
          <p:cNvPr id="19" name="5.1 Das Document Object Model…">
            <a:extLst>
              <a:ext uri="{FF2B5EF4-FFF2-40B4-BE49-F238E27FC236}">
                <a16:creationId xmlns:a16="http://schemas.microsoft.com/office/drawing/2014/main" id="{8D084F8D-ABB8-3701-F490-2DF19570EE49}"/>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MASKING OF LEXICAL EMBEDDINGS PRODUCES SIMILAR SENSITIVITY MAPS</a:t>
            </a:r>
          </a:p>
        </p:txBody>
      </p:sp>
      <p:pic>
        <p:nvPicPr>
          <p:cNvPr id="20" name="Bild" descr="Bild">
            <a:extLst>
              <a:ext uri="{FF2B5EF4-FFF2-40B4-BE49-F238E27FC236}">
                <a16:creationId xmlns:a16="http://schemas.microsoft.com/office/drawing/2014/main" id="{8446D2FD-7BE9-1948-B63E-054C00313D5E}"/>
              </a:ext>
            </a:extLst>
          </p:cNvPr>
          <p:cNvPicPr>
            <a:picLocks noChangeAspect="1"/>
          </p:cNvPicPr>
          <p:nvPr/>
        </p:nvPicPr>
        <p:blipFill>
          <a:blip r:embed="rId6"/>
          <a:stretch>
            <a:fillRect/>
          </a:stretch>
        </p:blipFill>
        <p:spPr>
          <a:xfrm>
            <a:off x="21373832" y="508000"/>
            <a:ext cx="2159389" cy="1207459"/>
          </a:xfrm>
          <a:prstGeom prst="rect">
            <a:avLst/>
          </a:prstGeom>
          <a:ln w="12700">
            <a:miter lim="400000"/>
          </a:ln>
        </p:spPr>
      </p:pic>
      <p:sp>
        <p:nvSpPr>
          <p:cNvPr id="21" name="Rectangle 20">
            <a:extLst>
              <a:ext uri="{FF2B5EF4-FFF2-40B4-BE49-F238E27FC236}">
                <a16:creationId xmlns:a16="http://schemas.microsoft.com/office/drawing/2014/main" id="{37ED9408-E462-0BCF-DEB9-8B3CED53FB2B}"/>
              </a:ext>
            </a:extLst>
          </p:cNvPr>
          <p:cNvSpPr/>
          <p:nvPr/>
        </p:nvSpPr>
        <p:spPr>
          <a:xfrm>
            <a:off x="17468114" y="3925000"/>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22" name="Rectangle 21">
            <a:extLst>
              <a:ext uri="{FF2B5EF4-FFF2-40B4-BE49-F238E27FC236}">
                <a16:creationId xmlns:a16="http://schemas.microsoft.com/office/drawing/2014/main" id="{1C42E8E1-ECC6-4B67-B215-E24EFCFF7045}"/>
              </a:ext>
            </a:extLst>
          </p:cNvPr>
          <p:cNvSpPr/>
          <p:nvPr/>
        </p:nvSpPr>
        <p:spPr>
          <a:xfrm>
            <a:off x="5059963" y="3795580"/>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23" name="Rectangle 22">
            <a:extLst>
              <a:ext uri="{FF2B5EF4-FFF2-40B4-BE49-F238E27FC236}">
                <a16:creationId xmlns:a16="http://schemas.microsoft.com/office/drawing/2014/main" id="{4DDC16DA-C581-9482-B024-9C641B174078}"/>
              </a:ext>
            </a:extLst>
          </p:cNvPr>
          <p:cNvSpPr/>
          <p:nvPr/>
        </p:nvSpPr>
        <p:spPr>
          <a:xfrm>
            <a:off x="5241597" y="3041339"/>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24" name="Rectangle 23">
            <a:extLst>
              <a:ext uri="{FF2B5EF4-FFF2-40B4-BE49-F238E27FC236}">
                <a16:creationId xmlns:a16="http://schemas.microsoft.com/office/drawing/2014/main" id="{2674862C-7D8E-13CC-9773-6BACF5C12706}"/>
              </a:ext>
            </a:extLst>
          </p:cNvPr>
          <p:cNvSpPr/>
          <p:nvPr/>
        </p:nvSpPr>
        <p:spPr>
          <a:xfrm>
            <a:off x="17692197" y="3041339"/>
            <a:ext cx="1691640" cy="1210621"/>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sp>
        <p:nvSpPr>
          <p:cNvPr id="25" name="TextBox 24">
            <a:extLst>
              <a:ext uri="{FF2B5EF4-FFF2-40B4-BE49-F238E27FC236}">
                <a16:creationId xmlns:a16="http://schemas.microsoft.com/office/drawing/2014/main" id="{5544B124-5712-94D2-BD9A-EE940D8D2ADC}"/>
              </a:ext>
            </a:extLst>
          </p:cNvPr>
          <p:cNvSpPr txBox="1"/>
          <p:nvPr/>
        </p:nvSpPr>
        <p:spPr>
          <a:xfrm>
            <a:off x="994162" y="3014887"/>
            <a:ext cx="10002883" cy="1608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57200">
              <a:spcBef>
                <a:spcPts val="300"/>
              </a:spcBef>
              <a:buSzPct val="100000"/>
              <a:defRPr sz="3000"/>
            </a:pPr>
            <a:r>
              <a:rPr lang="en-US" sz="4800" b="1" dirty="0">
                <a:solidFill>
                  <a:schemeClr val="tx1"/>
                </a:solidFill>
              </a:rPr>
              <a:t>Subject 7</a:t>
            </a:r>
          </a:p>
          <a:p>
            <a:pPr defTabSz="457200">
              <a:spcBef>
                <a:spcPts val="300"/>
              </a:spcBef>
              <a:buSzPct val="100000"/>
              <a:defRPr sz="3000"/>
            </a:pPr>
            <a:r>
              <a:rPr lang="en-US" sz="4800" b="1" dirty="0">
                <a:solidFill>
                  <a:schemeClr val="tx1"/>
                </a:solidFill>
              </a:rPr>
              <a:t>Reading</a:t>
            </a:r>
          </a:p>
        </p:txBody>
      </p:sp>
      <p:sp>
        <p:nvSpPr>
          <p:cNvPr id="26" name="TextBox 25">
            <a:extLst>
              <a:ext uri="{FF2B5EF4-FFF2-40B4-BE49-F238E27FC236}">
                <a16:creationId xmlns:a16="http://schemas.microsoft.com/office/drawing/2014/main" id="{91614767-B87B-4201-78EB-7D60AFCB3FC8}"/>
              </a:ext>
            </a:extLst>
          </p:cNvPr>
          <p:cNvSpPr txBox="1"/>
          <p:nvPr/>
        </p:nvSpPr>
        <p:spPr>
          <a:xfrm>
            <a:off x="13183754" y="3014887"/>
            <a:ext cx="10002883" cy="1608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57200">
              <a:spcBef>
                <a:spcPts val="300"/>
              </a:spcBef>
              <a:buSzPct val="100000"/>
              <a:defRPr sz="3000"/>
            </a:pPr>
            <a:r>
              <a:rPr lang="en-US" sz="4800" b="1" dirty="0">
                <a:solidFill>
                  <a:schemeClr val="tx1"/>
                </a:solidFill>
              </a:rPr>
              <a:t>Subject 7</a:t>
            </a:r>
          </a:p>
          <a:p>
            <a:pPr defTabSz="457200">
              <a:spcBef>
                <a:spcPts val="300"/>
              </a:spcBef>
              <a:buSzPct val="100000"/>
              <a:defRPr sz="3000"/>
            </a:pPr>
            <a:r>
              <a:rPr lang="en-US" sz="4800" b="1" dirty="0">
                <a:solidFill>
                  <a:schemeClr val="tx1"/>
                </a:solidFill>
              </a:rPr>
              <a:t>Listening</a:t>
            </a:r>
          </a:p>
        </p:txBody>
      </p:sp>
      <p:pic>
        <p:nvPicPr>
          <p:cNvPr id="27" name="Picture 26">
            <a:extLst>
              <a:ext uri="{FF2B5EF4-FFF2-40B4-BE49-F238E27FC236}">
                <a16:creationId xmlns:a16="http://schemas.microsoft.com/office/drawing/2014/main" id="{1C3144E4-84D2-9F00-C653-26D256D285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68705" y="8583246"/>
            <a:ext cx="2756982" cy="2542969"/>
          </a:xfrm>
          <a:prstGeom prst="rect">
            <a:avLst/>
          </a:prstGeom>
        </p:spPr>
      </p:pic>
    </p:spTree>
    <p:extLst>
      <p:ext uri="{BB962C8B-B14F-4D97-AF65-F5344CB8AC3E}">
        <p14:creationId xmlns:p14="http://schemas.microsoft.com/office/powerpoint/2010/main" val="1661183120"/>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2D8AF-6606-7921-82E6-00F85C169F7D}"/>
            </a:ext>
          </a:extLst>
        </p:cNvPr>
        <p:cNvGrpSpPr/>
        <p:nvPr/>
      </p:nvGrpSpPr>
      <p:grpSpPr>
        <a:xfrm>
          <a:off x="0" y="0"/>
          <a:ext cx="0" cy="0"/>
          <a:chOff x="0" y="0"/>
          <a:chExt cx="0" cy="0"/>
        </a:xfrm>
      </p:grpSpPr>
      <p:pic>
        <p:nvPicPr>
          <p:cNvPr id="28" name="Picture 27">
            <a:extLst>
              <a:ext uri="{FF2B5EF4-FFF2-40B4-BE49-F238E27FC236}">
                <a16:creationId xmlns:a16="http://schemas.microsoft.com/office/drawing/2014/main" id="{FD9CD782-C70D-7B47-DED2-BA80B56693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21E37B69-47B5-6890-0D40-D55EB2FE0EA6}"/>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33</a:t>
            </a:fld>
            <a:endParaRPr/>
          </a:p>
        </p:txBody>
      </p:sp>
      <p:sp>
        <p:nvSpPr>
          <p:cNvPr id="70" name="5.1 Das Document Object Model…">
            <a:extLst>
              <a:ext uri="{FF2B5EF4-FFF2-40B4-BE49-F238E27FC236}">
                <a16:creationId xmlns:a16="http://schemas.microsoft.com/office/drawing/2014/main" id="{9F9220BB-47D1-B91D-B6F0-6B7A1B632525}"/>
              </a:ext>
            </a:extLst>
          </p:cNvPr>
          <p:cNvSpPr txBox="1">
            <a:spLocks/>
          </p:cNvSpPr>
          <p:nvPr/>
        </p:nvSpPr>
        <p:spPr>
          <a:xfrm>
            <a:off x="779657" y="508000"/>
            <a:ext cx="15298543"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VERB SENSITIVITY IS MORE PREVALENT ACROSS LANGUAGE ROIS</a:t>
            </a:r>
          </a:p>
        </p:txBody>
      </p:sp>
      <p:pic>
        <p:nvPicPr>
          <p:cNvPr id="4" name="Bild" descr="Bild">
            <a:extLst>
              <a:ext uri="{FF2B5EF4-FFF2-40B4-BE49-F238E27FC236}">
                <a16:creationId xmlns:a16="http://schemas.microsoft.com/office/drawing/2014/main" id="{FF43E261-12AB-7E69-BC4B-F334A213C681}"/>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16" name="Rectangle 15">
            <a:extLst>
              <a:ext uri="{FF2B5EF4-FFF2-40B4-BE49-F238E27FC236}">
                <a16:creationId xmlns:a16="http://schemas.microsoft.com/office/drawing/2014/main" id="{3C071DE5-DCCE-131D-0D24-68778AC63518}"/>
              </a:ext>
            </a:extLst>
          </p:cNvPr>
          <p:cNvSpPr/>
          <p:nvPr/>
        </p:nvSpPr>
        <p:spPr>
          <a:xfrm>
            <a:off x="12421697" y="2963400"/>
            <a:ext cx="1691640" cy="1772470"/>
          </a:xfrm>
          <a:prstGeom prst="rect">
            <a:avLst/>
          </a:prstGeom>
          <a:solidFill>
            <a:schemeClr val="accent3">
              <a:lumOff val="44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
                <a:solidFill>
                  <a:srgbClr val="000000"/>
                </a:solidFill>
              </a:uFill>
              <a:latin typeface="+mn-lt"/>
              <a:ea typeface="+mn-ea"/>
              <a:cs typeface="+mn-cs"/>
              <a:sym typeface="Arial"/>
            </a:endParaRPr>
          </a:p>
        </p:txBody>
      </p:sp>
      <p:pic>
        <p:nvPicPr>
          <p:cNvPr id="5" name="Picture 4">
            <a:extLst>
              <a:ext uri="{FF2B5EF4-FFF2-40B4-BE49-F238E27FC236}">
                <a16:creationId xmlns:a16="http://schemas.microsoft.com/office/drawing/2014/main" id="{B54B9AE6-FA52-2FA3-FBAB-BCEBE407D4AE}"/>
              </a:ext>
            </a:extLst>
          </p:cNvPr>
          <p:cNvPicPr>
            <a:picLocks noChangeAspect="1"/>
          </p:cNvPicPr>
          <p:nvPr/>
        </p:nvPicPr>
        <p:blipFill>
          <a:blip r:embed="rId5"/>
          <a:stretch>
            <a:fillRect/>
          </a:stretch>
        </p:blipFill>
        <p:spPr>
          <a:xfrm>
            <a:off x="2122644" y="2100965"/>
            <a:ext cx="11630891" cy="11323195"/>
          </a:xfrm>
          <a:prstGeom prst="rect">
            <a:avLst/>
          </a:prstGeom>
        </p:spPr>
      </p:pic>
      <p:sp>
        <p:nvSpPr>
          <p:cNvPr id="21" name="TextBox 20">
            <a:extLst>
              <a:ext uri="{FF2B5EF4-FFF2-40B4-BE49-F238E27FC236}">
                <a16:creationId xmlns:a16="http://schemas.microsoft.com/office/drawing/2014/main" id="{5E3DE271-E300-24C8-EEB7-AA320EC076F3}"/>
              </a:ext>
            </a:extLst>
          </p:cNvPr>
          <p:cNvSpPr txBox="1"/>
          <p:nvPr/>
        </p:nvSpPr>
        <p:spPr>
          <a:xfrm>
            <a:off x="14556821" y="2159333"/>
            <a:ext cx="12207240" cy="1608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defTabSz="457200">
              <a:spcBef>
                <a:spcPts val="300"/>
              </a:spcBef>
              <a:buSzPct val="100000"/>
              <a:defRPr sz="3000"/>
            </a:pPr>
            <a:r>
              <a:rPr lang="en-US" sz="4800" b="1" dirty="0">
                <a:solidFill>
                  <a:schemeClr val="tx1"/>
                </a:solidFill>
              </a:rPr>
              <a:t>Language ROIs</a:t>
            </a:r>
          </a:p>
          <a:p>
            <a:pPr algn="l" defTabSz="457200">
              <a:spcBef>
                <a:spcPts val="300"/>
              </a:spcBef>
              <a:buSzPct val="100000"/>
              <a:defRPr sz="3000"/>
            </a:pPr>
            <a:r>
              <a:rPr lang="en-US" sz="4800" dirty="0">
                <a:solidFill>
                  <a:schemeClr val="tx1"/>
                </a:solidFill>
              </a:rPr>
              <a:t>Fedorenko et al. (2010)</a:t>
            </a:r>
          </a:p>
        </p:txBody>
      </p:sp>
      <p:sp>
        <p:nvSpPr>
          <p:cNvPr id="22" name="TextBox 21">
            <a:extLst>
              <a:ext uri="{FF2B5EF4-FFF2-40B4-BE49-F238E27FC236}">
                <a16:creationId xmlns:a16="http://schemas.microsoft.com/office/drawing/2014/main" id="{9E9294F0-3EED-F569-9E68-A835BCB82F1C}"/>
              </a:ext>
            </a:extLst>
          </p:cNvPr>
          <p:cNvSpPr txBox="1"/>
          <p:nvPr/>
        </p:nvSpPr>
        <p:spPr>
          <a:xfrm>
            <a:off x="14556821" y="4244165"/>
            <a:ext cx="12207240" cy="1608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defTabSz="457200">
              <a:spcBef>
                <a:spcPts val="300"/>
              </a:spcBef>
              <a:buSzPct val="100000"/>
              <a:defRPr sz="3000"/>
            </a:pPr>
            <a:r>
              <a:rPr lang="en-US" sz="4800" b="1" dirty="0">
                <a:solidFill>
                  <a:schemeClr val="tx1"/>
                </a:solidFill>
              </a:rPr>
              <a:t>Mean Drop</a:t>
            </a:r>
          </a:p>
          <a:p>
            <a:pPr algn="l" defTabSz="457200">
              <a:spcBef>
                <a:spcPts val="300"/>
              </a:spcBef>
              <a:buSzPct val="100000"/>
              <a:defRPr sz="3000"/>
            </a:pPr>
            <a:r>
              <a:rPr lang="en-US" sz="4800" dirty="0">
                <a:solidFill>
                  <a:schemeClr val="tx1"/>
                </a:solidFill>
              </a:rPr>
              <a:t>0.03 – 0.06</a:t>
            </a:r>
          </a:p>
        </p:txBody>
      </p:sp>
      <p:sp>
        <p:nvSpPr>
          <p:cNvPr id="24" name="TextBox 23">
            <a:extLst>
              <a:ext uri="{FF2B5EF4-FFF2-40B4-BE49-F238E27FC236}">
                <a16:creationId xmlns:a16="http://schemas.microsoft.com/office/drawing/2014/main" id="{5109A49D-738F-C233-E95C-007D426F9B80}"/>
              </a:ext>
            </a:extLst>
          </p:cNvPr>
          <p:cNvSpPr txBox="1"/>
          <p:nvPr/>
        </p:nvSpPr>
        <p:spPr>
          <a:xfrm>
            <a:off x="14556821" y="6475301"/>
            <a:ext cx="12207240" cy="1608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defTabSz="457200">
              <a:spcBef>
                <a:spcPts val="300"/>
              </a:spcBef>
              <a:buSzPct val="100000"/>
              <a:defRPr sz="3000"/>
            </a:pPr>
            <a:r>
              <a:rPr lang="en-US" sz="4800" b="1" dirty="0">
                <a:solidFill>
                  <a:schemeClr val="tx1"/>
                </a:solidFill>
              </a:rPr>
              <a:t>Verb &gt; Noun</a:t>
            </a:r>
          </a:p>
          <a:p>
            <a:pPr algn="l" defTabSz="457200">
              <a:spcBef>
                <a:spcPts val="300"/>
              </a:spcBef>
              <a:buSzPct val="100000"/>
              <a:defRPr sz="3000"/>
            </a:pPr>
            <a:r>
              <a:rPr lang="en-US" sz="4800" dirty="0">
                <a:solidFill>
                  <a:schemeClr val="tx1"/>
                </a:solidFill>
              </a:rPr>
              <a:t>MFG, PTL, AG, ATL</a:t>
            </a:r>
          </a:p>
        </p:txBody>
      </p:sp>
      <p:sp>
        <p:nvSpPr>
          <p:cNvPr id="26" name="TextBox 25">
            <a:extLst>
              <a:ext uri="{FF2B5EF4-FFF2-40B4-BE49-F238E27FC236}">
                <a16:creationId xmlns:a16="http://schemas.microsoft.com/office/drawing/2014/main" id="{086DD920-E0AB-CC99-AA38-CB9BDC82B082}"/>
              </a:ext>
            </a:extLst>
          </p:cNvPr>
          <p:cNvSpPr txBox="1"/>
          <p:nvPr/>
        </p:nvSpPr>
        <p:spPr>
          <a:xfrm>
            <a:off x="14556821" y="8779589"/>
            <a:ext cx="12207240" cy="1608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defTabSz="457200">
              <a:spcBef>
                <a:spcPts val="300"/>
              </a:spcBef>
              <a:buSzPct val="100000"/>
              <a:defRPr sz="3000"/>
            </a:pPr>
            <a:r>
              <a:rPr lang="en-US" sz="4800" b="1" dirty="0">
                <a:solidFill>
                  <a:schemeClr val="tx1"/>
                </a:solidFill>
              </a:rPr>
              <a:t>Reading vs Listening</a:t>
            </a:r>
          </a:p>
          <a:p>
            <a:pPr algn="l" defTabSz="457200">
              <a:spcBef>
                <a:spcPts val="300"/>
              </a:spcBef>
              <a:buSzPct val="100000"/>
              <a:defRPr sz="3000"/>
            </a:pPr>
            <a:r>
              <a:rPr lang="en-US" sz="4800" dirty="0">
                <a:solidFill>
                  <a:schemeClr val="tx1"/>
                </a:solidFill>
              </a:rPr>
              <a:t>Similar across ROIs</a:t>
            </a:r>
          </a:p>
        </p:txBody>
      </p:sp>
    </p:spTree>
    <p:extLst>
      <p:ext uri="{BB962C8B-B14F-4D97-AF65-F5344CB8AC3E}">
        <p14:creationId xmlns:p14="http://schemas.microsoft.com/office/powerpoint/2010/main" val="1036642406"/>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12DFCC1-E51D-29C6-3324-59D64F04208B}"/>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AD786C1-72E1-3E6D-556B-E54FA927E7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26C1DB85-4961-76CB-8BD0-F737640E084A}"/>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34</a:t>
            </a:fld>
            <a:endParaRPr/>
          </a:p>
        </p:txBody>
      </p:sp>
      <p:sp>
        <p:nvSpPr>
          <p:cNvPr id="70" name="5.1 Das Document Object Model…">
            <a:extLst>
              <a:ext uri="{FF2B5EF4-FFF2-40B4-BE49-F238E27FC236}">
                <a16:creationId xmlns:a16="http://schemas.microsoft.com/office/drawing/2014/main" id="{120A9C51-29C8-0E6A-6A1D-598F549DD6A8}"/>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Comparison with literature</a:t>
            </a:r>
          </a:p>
        </p:txBody>
      </p:sp>
      <p:pic>
        <p:nvPicPr>
          <p:cNvPr id="4" name="Bild" descr="Bild">
            <a:extLst>
              <a:ext uri="{FF2B5EF4-FFF2-40B4-BE49-F238E27FC236}">
                <a16:creationId xmlns:a16="http://schemas.microsoft.com/office/drawing/2014/main" id="{9B67242B-41B2-0B15-4FBA-F51B47CA2294}"/>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DF9A2B7A-0A2C-F805-3CAE-A11C13FF97E1}"/>
              </a:ext>
            </a:extLst>
          </p:cNvPr>
          <p:cNvSpPr txBox="1"/>
          <p:nvPr/>
        </p:nvSpPr>
        <p:spPr>
          <a:xfrm>
            <a:off x="670356" y="2723316"/>
            <a:ext cx="20471047" cy="7815516"/>
          </a:xfrm>
          <a:prstGeom prst="rect">
            <a:avLst/>
          </a:prstGeom>
          <a:ln w="12700">
            <a:miter lim="400000"/>
          </a:ln>
          <a:extLst>
            <a:ext uri="{C572A759-6A51-4108-AA02-DFA0A04FC94B}">
              <ma14:wrappingTextBoxFlag xmlns:mc="http://schemas.openxmlformats.org/markup-compatibility/2006" xmlns:a14="http://schemas.microsoft.com/office/drawing/2010/main" xmlns:ma14="http://schemas.microsoft.com/office/mac/drawingml/2011/main" xmlns:m="http://schemas.openxmlformats.org/officeDocument/2006/math" xmlns="" val="1"/>
            </a:ext>
          </a:extLst>
        </p:spPr>
        <p:txBody>
          <a:bodyPr lIns="45719" rIns="45719" anchor="t"/>
          <a:lstStyle/>
          <a:p>
            <a:pPr algn="l" defTabSz="457200">
              <a:spcBef>
                <a:spcPts val="300"/>
              </a:spcBef>
              <a:buSzPct val="100000"/>
              <a:defRPr sz="3000"/>
            </a:pPr>
            <a:endParaRPr lang="en-US" sz="4800" b="1" dirty="0">
              <a:solidFill>
                <a:schemeClr val="tx1"/>
              </a:solidFill>
            </a:endParaRPr>
          </a:p>
        </p:txBody>
      </p:sp>
      <p:pic>
        <p:nvPicPr>
          <p:cNvPr id="8" name="Picture 7">
            <a:extLst>
              <a:ext uri="{FF2B5EF4-FFF2-40B4-BE49-F238E27FC236}">
                <a16:creationId xmlns:a16="http://schemas.microsoft.com/office/drawing/2014/main" id="{03B31704-818E-B002-4D53-1B63F9DCF6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83306" y="2304256"/>
            <a:ext cx="14417387" cy="9107487"/>
          </a:xfrm>
          <a:prstGeom prst="rect">
            <a:avLst/>
          </a:prstGeom>
        </p:spPr>
      </p:pic>
    </p:spTree>
    <p:extLst>
      <p:ext uri="{BB962C8B-B14F-4D97-AF65-F5344CB8AC3E}">
        <p14:creationId xmlns:p14="http://schemas.microsoft.com/office/powerpoint/2010/main" val="2640595390"/>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61CBE78-D43A-B194-7ABA-E835CF888A3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8A1612B-EA9C-1C32-EAA1-C86D94AF25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EB018267-379D-C542-FE6D-83C4D3EBAD1D}"/>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35</a:t>
            </a:fld>
            <a:endParaRPr/>
          </a:p>
        </p:txBody>
      </p:sp>
      <p:sp>
        <p:nvSpPr>
          <p:cNvPr id="70" name="5.1 Das Document Object Model…">
            <a:extLst>
              <a:ext uri="{FF2B5EF4-FFF2-40B4-BE49-F238E27FC236}">
                <a16:creationId xmlns:a16="http://schemas.microsoft.com/office/drawing/2014/main" id="{EF8912E5-639A-4EE3-D3A6-70DE0A0F48A8}"/>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Conclusions</a:t>
            </a:r>
          </a:p>
        </p:txBody>
      </p:sp>
      <p:pic>
        <p:nvPicPr>
          <p:cNvPr id="4" name="Bild" descr="Bild">
            <a:extLst>
              <a:ext uri="{FF2B5EF4-FFF2-40B4-BE49-F238E27FC236}">
                <a16:creationId xmlns:a16="http://schemas.microsoft.com/office/drawing/2014/main" id="{2A1E3800-ABFA-4599-CC2E-264C3EE4CC7E}"/>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DE87D68E-F6B5-C5B3-C4AE-60A5350A7499}"/>
              </a:ext>
            </a:extLst>
          </p:cNvPr>
          <p:cNvSpPr txBox="1"/>
          <p:nvPr/>
        </p:nvSpPr>
        <p:spPr>
          <a:xfrm>
            <a:off x="670356" y="2723316"/>
            <a:ext cx="204710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spcBef>
                <a:spcPts val="300"/>
              </a:spcBef>
              <a:buSzPct val="100000"/>
              <a:defRPr sz="3000"/>
            </a:pPr>
            <a:endParaRPr lang="en-US" sz="4800" b="1" dirty="0">
              <a:solidFill>
                <a:schemeClr val="tx1"/>
              </a:solidFill>
            </a:endParaRPr>
          </a:p>
        </p:txBody>
      </p:sp>
      <p:sp>
        <p:nvSpPr>
          <p:cNvPr id="9" name="Arten von Knoten…">
            <a:extLst>
              <a:ext uri="{FF2B5EF4-FFF2-40B4-BE49-F238E27FC236}">
                <a16:creationId xmlns:a16="http://schemas.microsoft.com/office/drawing/2014/main" id="{A2C1AB80-578D-B54F-9986-2441815E9641}"/>
              </a:ext>
            </a:extLst>
          </p:cNvPr>
          <p:cNvSpPr txBox="1"/>
          <p:nvPr/>
        </p:nvSpPr>
        <p:spPr>
          <a:xfrm>
            <a:off x="822756" y="2875716"/>
            <a:ext cx="203186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marL="15403" algn="l">
              <a:spcBef>
                <a:spcPts val="127"/>
              </a:spcBef>
            </a:pPr>
            <a:r>
              <a:rPr lang="en-US" sz="4800" dirty="0">
                <a:latin typeface="Arial"/>
                <a:cs typeface="Arial"/>
              </a:rPr>
              <a:t>Noun and verb sensitivity forms </a:t>
            </a:r>
            <a:r>
              <a:rPr lang="en-US" sz="4800" b="1" dirty="0">
                <a:latin typeface="Arial"/>
                <a:cs typeface="Arial"/>
              </a:rPr>
              <a:t>distinct</a:t>
            </a:r>
            <a:r>
              <a:rPr lang="en-US" sz="4800" dirty="0">
                <a:latin typeface="Arial"/>
                <a:cs typeface="Arial"/>
              </a:rPr>
              <a:t> but </a:t>
            </a:r>
            <a:r>
              <a:rPr lang="en-US" sz="4800" b="1" dirty="0">
                <a:latin typeface="Arial"/>
                <a:cs typeface="Arial"/>
              </a:rPr>
              <a:t>distributed</a:t>
            </a:r>
            <a:r>
              <a:rPr lang="en-US" sz="4800" dirty="0">
                <a:latin typeface="Arial"/>
                <a:cs typeface="Arial"/>
              </a:rPr>
              <a:t> </a:t>
            </a:r>
            <a:r>
              <a:rPr lang="en-US" sz="4800" b="1" dirty="0">
                <a:latin typeface="Arial"/>
                <a:cs typeface="Arial"/>
              </a:rPr>
              <a:t>clusters</a:t>
            </a:r>
            <a:r>
              <a:rPr lang="en-US" sz="4800" dirty="0">
                <a:latin typeface="Arial"/>
                <a:cs typeface="Arial"/>
              </a:rPr>
              <a:t> across frontal, parietal and temporal cortex</a:t>
            </a:r>
          </a:p>
          <a:p>
            <a:pPr algn="l">
              <a:spcBef>
                <a:spcPts val="679"/>
              </a:spcBef>
            </a:pPr>
            <a:endParaRPr lang="en-US" sz="4800" dirty="0">
              <a:latin typeface="Arial"/>
              <a:cs typeface="Arial"/>
            </a:endParaRPr>
          </a:p>
        </p:txBody>
      </p:sp>
    </p:spTree>
    <p:extLst>
      <p:ext uri="{BB962C8B-B14F-4D97-AF65-F5344CB8AC3E}">
        <p14:creationId xmlns:p14="http://schemas.microsoft.com/office/powerpoint/2010/main" val="2995309557"/>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D454036-EE3B-1844-BB82-8F822EE8C96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550E975-AD51-A8A4-AF71-9DBEA92075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8A879EEA-F506-CDBF-3908-441E36086FEE}"/>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36</a:t>
            </a:fld>
            <a:endParaRPr/>
          </a:p>
        </p:txBody>
      </p:sp>
      <p:sp>
        <p:nvSpPr>
          <p:cNvPr id="70" name="5.1 Das Document Object Model…">
            <a:extLst>
              <a:ext uri="{FF2B5EF4-FFF2-40B4-BE49-F238E27FC236}">
                <a16:creationId xmlns:a16="http://schemas.microsoft.com/office/drawing/2014/main" id="{A9280DBA-A3B2-7B56-61D1-EEC7D9E8D56D}"/>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Conclusions</a:t>
            </a:r>
          </a:p>
        </p:txBody>
      </p:sp>
      <p:pic>
        <p:nvPicPr>
          <p:cNvPr id="4" name="Bild" descr="Bild">
            <a:extLst>
              <a:ext uri="{FF2B5EF4-FFF2-40B4-BE49-F238E27FC236}">
                <a16:creationId xmlns:a16="http://schemas.microsoft.com/office/drawing/2014/main" id="{AD220DAF-4398-F0B1-618C-A36EF574CD18}"/>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C0EF382A-32C4-E858-836F-A98015AEB701}"/>
              </a:ext>
            </a:extLst>
          </p:cNvPr>
          <p:cNvSpPr txBox="1"/>
          <p:nvPr/>
        </p:nvSpPr>
        <p:spPr>
          <a:xfrm>
            <a:off x="670356" y="2723316"/>
            <a:ext cx="20471047" cy="7815516"/>
          </a:xfrm>
          <a:prstGeom prst="rect">
            <a:avLst/>
          </a:prstGeom>
          <a:ln w="12700">
            <a:miter lim="400000"/>
          </a:ln>
          <a:extLst>
            <a:ext uri="{C572A759-6A51-4108-AA02-DFA0A04FC94B}">
              <ma14:wrappingTextBoxFlag xmlns:mc="http://schemas.openxmlformats.org/markup-compatibility/2006" xmlns:a14="http://schemas.microsoft.com/office/drawing/2010/main" xmlns:ma14="http://schemas.microsoft.com/office/mac/drawingml/2011/main" xmlns:m="http://schemas.openxmlformats.org/officeDocument/2006/math" xmlns="" val="1"/>
            </a:ext>
          </a:extLst>
        </p:spPr>
        <p:txBody>
          <a:bodyPr lIns="45719" rIns="45719" anchor="t"/>
          <a:lstStyle/>
          <a:p>
            <a:pPr algn="l" defTabSz="457200">
              <a:spcBef>
                <a:spcPts val="300"/>
              </a:spcBef>
              <a:buSzPct val="100000"/>
              <a:defRPr sz="3000"/>
            </a:pPr>
            <a:endParaRPr lang="en-US" sz="4800" b="1" dirty="0">
              <a:solidFill>
                <a:schemeClr val="tx1"/>
              </a:solidFill>
            </a:endParaRPr>
          </a:p>
        </p:txBody>
      </p:sp>
      <p:sp>
        <p:nvSpPr>
          <p:cNvPr id="9" name="Arten von Knoten…">
            <a:extLst>
              <a:ext uri="{FF2B5EF4-FFF2-40B4-BE49-F238E27FC236}">
                <a16:creationId xmlns:a16="http://schemas.microsoft.com/office/drawing/2014/main" id="{90E9348E-11C4-6E30-D455-5F3E4CF29AE4}"/>
              </a:ext>
            </a:extLst>
          </p:cNvPr>
          <p:cNvSpPr txBox="1"/>
          <p:nvPr/>
        </p:nvSpPr>
        <p:spPr>
          <a:xfrm>
            <a:off x="822756" y="2875716"/>
            <a:ext cx="20318647" cy="7815516"/>
          </a:xfrm>
          <a:prstGeom prst="rect">
            <a:avLst/>
          </a:prstGeom>
          <a:ln w="12700">
            <a:miter lim="400000"/>
          </a:ln>
          <a:extLst>
            <a:ext uri="{C572A759-6A51-4108-AA02-DFA0A04FC94B}">
              <ma14:wrappingTextBoxFlag xmlns:mc="http://schemas.openxmlformats.org/markup-compatibility/2006" xmlns:a14="http://schemas.microsoft.com/office/drawing/2010/main" xmlns:ma14="http://schemas.microsoft.com/office/mac/drawingml/2011/main" xmlns:m="http://schemas.openxmlformats.org/officeDocument/2006/math" xmlns="" val="1"/>
            </a:ext>
          </a:extLst>
        </p:spPr>
        <p:txBody>
          <a:bodyPr lIns="45719" rIns="45719" anchor="t"/>
          <a:lstStyle/>
          <a:p>
            <a:pPr marL="15403" algn="l">
              <a:spcBef>
                <a:spcPts val="127"/>
              </a:spcBef>
            </a:pPr>
            <a:r>
              <a:rPr lang="en-US" sz="4800" dirty="0">
                <a:latin typeface="Arial"/>
                <a:cs typeface="Arial"/>
              </a:rPr>
              <a:t>Noun and verb sensitivity forms </a:t>
            </a:r>
            <a:r>
              <a:rPr lang="en-US" sz="4800" b="1" dirty="0">
                <a:latin typeface="Arial"/>
                <a:cs typeface="Arial"/>
              </a:rPr>
              <a:t>distinct</a:t>
            </a:r>
            <a:r>
              <a:rPr lang="en-US" sz="4800" dirty="0">
                <a:latin typeface="Arial"/>
                <a:cs typeface="Arial"/>
              </a:rPr>
              <a:t> but </a:t>
            </a:r>
            <a:r>
              <a:rPr lang="en-US" sz="4800" b="1" dirty="0">
                <a:latin typeface="Arial"/>
                <a:cs typeface="Arial"/>
              </a:rPr>
              <a:t>distributed</a:t>
            </a:r>
            <a:r>
              <a:rPr lang="en-US" sz="4800" dirty="0">
                <a:latin typeface="Arial"/>
                <a:cs typeface="Arial"/>
              </a:rPr>
              <a:t> </a:t>
            </a:r>
            <a:r>
              <a:rPr lang="en-US" sz="4800" b="1" dirty="0">
                <a:latin typeface="Arial"/>
                <a:cs typeface="Arial"/>
              </a:rPr>
              <a:t>clusters</a:t>
            </a:r>
            <a:r>
              <a:rPr lang="en-US" sz="4800" dirty="0">
                <a:latin typeface="Arial"/>
                <a:cs typeface="Arial"/>
              </a:rPr>
              <a:t> across frontal, parietal and temporal cortex</a:t>
            </a:r>
          </a:p>
          <a:p>
            <a:pPr algn="l">
              <a:spcBef>
                <a:spcPts val="679"/>
              </a:spcBef>
            </a:pPr>
            <a:endParaRPr lang="en-US" sz="4800" dirty="0">
              <a:latin typeface="Arial"/>
              <a:cs typeface="Arial"/>
            </a:endParaRPr>
          </a:p>
          <a:p>
            <a:pPr marL="15403" marR="1131318" algn="l">
              <a:lnSpc>
                <a:spcPct val="104400"/>
              </a:lnSpc>
            </a:pPr>
            <a:r>
              <a:rPr lang="en-US" sz="4800" dirty="0">
                <a:latin typeface="Arial"/>
                <a:cs typeface="Arial"/>
              </a:rPr>
              <a:t>Noun and verb processing is </a:t>
            </a:r>
            <a:r>
              <a:rPr lang="en-US" sz="4800" b="1" dirty="0">
                <a:latin typeface="Arial"/>
                <a:cs typeface="Arial"/>
              </a:rPr>
              <a:t>consistent across stimulus modality</a:t>
            </a:r>
          </a:p>
          <a:p>
            <a:pPr algn="l">
              <a:spcBef>
                <a:spcPts val="837"/>
              </a:spcBef>
            </a:pPr>
            <a:endParaRPr lang="en-US" sz="4800" dirty="0">
              <a:latin typeface="Arial"/>
              <a:cs typeface="Arial"/>
            </a:endParaRPr>
          </a:p>
        </p:txBody>
      </p:sp>
    </p:spTree>
    <p:extLst>
      <p:ext uri="{BB962C8B-B14F-4D97-AF65-F5344CB8AC3E}">
        <p14:creationId xmlns:p14="http://schemas.microsoft.com/office/powerpoint/2010/main" val="3197537230"/>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83A8C0F-ED3C-D430-5B05-50D3182E7E6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CF263A7-97A9-7664-E708-EB75FC23BB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E3984928-CCF3-42AF-DF46-B34055344845}"/>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37</a:t>
            </a:fld>
            <a:endParaRPr/>
          </a:p>
        </p:txBody>
      </p:sp>
      <p:sp>
        <p:nvSpPr>
          <p:cNvPr id="70" name="5.1 Das Document Object Model…">
            <a:extLst>
              <a:ext uri="{FF2B5EF4-FFF2-40B4-BE49-F238E27FC236}">
                <a16:creationId xmlns:a16="http://schemas.microsoft.com/office/drawing/2014/main" id="{F566E7B2-A71A-E6EC-2052-D9DE837148B7}"/>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Conclusions</a:t>
            </a:r>
          </a:p>
        </p:txBody>
      </p:sp>
      <p:pic>
        <p:nvPicPr>
          <p:cNvPr id="4" name="Bild" descr="Bild">
            <a:extLst>
              <a:ext uri="{FF2B5EF4-FFF2-40B4-BE49-F238E27FC236}">
                <a16:creationId xmlns:a16="http://schemas.microsoft.com/office/drawing/2014/main" id="{52AFD7D5-A275-67FC-CACF-06D253AB3AA8}"/>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95D639DD-3B59-C1F7-724F-20762ED5AC07}"/>
              </a:ext>
            </a:extLst>
          </p:cNvPr>
          <p:cNvSpPr txBox="1"/>
          <p:nvPr/>
        </p:nvSpPr>
        <p:spPr>
          <a:xfrm>
            <a:off x="670356" y="2723316"/>
            <a:ext cx="204710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spcBef>
                <a:spcPts val="300"/>
              </a:spcBef>
              <a:buSzPct val="100000"/>
              <a:defRPr sz="3000"/>
            </a:pPr>
            <a:endParaRPr lang="en-US" sz="4800" b="1" dirty="0">
              <a:solidFill>
                <a:schemeClr val="tx1"/>
              </a:solidFill>
            </a:endParaRPr>
          </a:p>
        </p:txBody>
      </p:sp>
      <p:sp>
        <p:nvSpPr>
          <p:cNvPr id="9" name="Arten von Knoten…">
            <a:extLst>
              <a:ext uri="{FF2B5EF4-FFF2-40B4-BE49-F238E27FC236}">
                <a16:creationId xmlns:a16="http://schemas.microsoft.com/office/drawing/2014/main" id="{82CA6D9F-D32B-50CE-E613-3E8AAE0DD739}"/>
              </a:ext>
            </a:extLst>
          </p:cNvPr>
          <p:cNvSpPr txBox="1"/>
          <p:nvPr/>
        </p:nvSpPr>
        <p:spPr>
          <a:xfrm>
            <a:off x="822756" y="2875716"/>
            <a:ext cx="203186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marL="15403" algn="l">
              <a:spcBef>
                <a:spcPts val="127"/>
              </a:spcBef>
            </a:pPr>
            <a:r>
              <a:rPr lang="en-US" sz="4800" dirty="0">
                <a:latin typeface="Arial"/>
                <a:cs typeface="Arial"/>
              </a:rPr>
              <a:t>Noun and verb sensitivity forms </a:t>
            </a:r>
            <a:r>
              <a:rPr lang="en-US" sz="4800" b="1" dirty="0">
                <a:latin typeface="Arial"/>
                <a:cs typeface="Arial"/>
              </a:rPr>
              <a:t>distinct</a:t>
            </a:r>
            <a:r>
              <a:rPr lang="en-US" sz="4800" dirty="0">
                <a:latin typeface="Arial"/>
                <a:cs typeface="Arial"/>
              </a:rPr>
              <a:t> but </a:t>
            </a:r>
            <a:r>
              <a:rPr lang="en-US" sz="4800" b="1" dirty="0">
                <a:latin typeface="Arial"/>
                <a:cs typeface="Arial"/>
              </a:rPr>
              <a:t>distributed</a:t>
            </a:r>
            <a:r>
              <a:rPr lang="en-US" sz="4800" dirty="0">
                <a:latin typeface="Arial"/>
                <a:cs typeface="Arial"/>
              </a:rPr>
              <a:t> </a:t>
            </a:r>
            <a:r>
              <a:rPr lang="en-US" sz="4800" b="1" dirty="0">
                <a:latin typeface="Arial"/>
                <a:cs typeface="Arial"/>
              </a:rPr>
              <a:t>clusters</a:t>
            </a:r>
            <a:r>
              <a:rPr lang="en-US" sz="4800" dirty="0">
                <a:latin typeface="Arial"/>
                <a:cs typeface="Arial"/>
              </a:rPr>
              <a:t> across frontal, parietal and temporal cortex</a:t>
            </a:r>
          </a:p>
          <a:p>
            <a:pPr algn="l">
              <a:spcBef>
                <a:spcPts val="679"/>
              </a:spcBef>
            </a:pPr>
            <a:endParaRPr lang="en-US" sz="4800" dirty="0">
              <a:latin typeface="Arial"/>
              <a:cs typeface="Arial"/>
            </a:endParaRPr>
          </a:p>
          <a:p>
            <a:pPr marL="15403" marR="1131318" algn="l">
              <a:lnSpc>
                <a:spcPct val="104400"/>
              </a:lnSpc>
            </a:pPr>
            <a:r>
              <a:rPr lang="en-US" sz="4800" dirty="0">
                <a:latin typeface="Arial"/>
                <a:cs typeface="Arial"/>
              </a:rPr>
              <a:t>Noun and verb processing is </a:t>
            </a:r>
            <a:r>
              <a:rPr lang="en-US" sz="4800" b="1" dirty="0">
                <a:latin typeface="Arial"/>
                <a:cs typeface="Arial"/>
              </a:rPr>
              <a:t>consistent across stimulus modality</a:t>
            </a:r>
          </a:p>
          <a:p>
            <a:pPr algn="l">
              <a:spcBef>
                <a:spcPts val="837"/>
              </a:spcBef>
            </a:pPr>
            <a:endParaRPr lang="en-US" sz="4800" dirty="0">
              <a:latin typeface="Arial"/>
              <a:cs typeface="Arial"/>
            </a:endParaRPr>
          </a:p>
          <a:p>
            <a:pPr marL="15403" algn="l">
              <a:spcBef>
                <a:spcPts val="6"/>
              </a:spcBef>
            </a:pPr>
            <a:r>
              <a:rPr lang="en-US" sz="4800" spc="-12" dirty="0">
                <a:latin typeface="Arial"/>
                <a:cs typeface="Arial"/>
              </a:rPr>
              <a:t>Verb sensitivity dominates across most language ROIs</a:t>
            </a:r>
          </a:p>
          <a:p>
            <a:pPr marL="15403" algn="l">
              <a:spcBef>
                <a:spcPts val="6"/>
              </a:spcBef>
            </a:pPr>
            <a:endParaRPr lang="en-US" sz="4800" spc="-12" dirty="0">
              <a:latin typeface="Arial"/>
              <a:cs typeface="Arial"/>
            </a:endParaRPr>
          </a:p>
        </p:txBody>
      </p:sp>
    </p:spTree>
    <p:extLst>
      <p:ext uri="{BB962C8B-B14F-4D97-AF65-F5344CB8AC3E}">
        <p14:creationId xmlns:p14="http://schemas.microsoft.com/office/powerpoint/2010/main" val="3633164052"/>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C2A73FF-F763-F808-2267-AF779944C7E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21F5CCC-212C-C019-4954-5D22CE9606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DB92E800-15E1-8F6B-07B2-2C6C6E5CDC06}"/>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38</a:t>
            </a:fld>
            <a:endParaRPr/>
          </a:p>
        </p:txBody>
      </p:sp>
      <p:sp>
        <p:nvSpPr>
          <p:cNvPr id="70" name="5.1 Das Document Object Model…">
            <a:extLst>
              <a:ext uri="{FF2B5EF4-FFF2-40B4-BE49-F238E27FC236}">
                <a16:creationId xmlns:a16="http://schemas.microsoft.com/office/drawing/2014/main" id="{8D2415D4-4B08-1D82-1E4B-258633A0EDA2}"/>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Conclusions</a:t>
            </a:r>
          </a:p>
        </p:txBody>
      </p:sp>
      <p:pic>
        <p:nvPicPr>
          <p:cNvPr id="4" name="Bild" descr="Bild">
            <a:extLst>
              <a:ext uri="{FF2B5EF4-FFF2-40B4-BE49-F238E27FC236}">
                <a16:creationId xmlns:a16="http://schemas.microsoft.com/office/drawing/2014/main" id="{9319FB20-4685-77F4-95DF-455B8AA98A12}"/>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143BFA43-0975-573A-52F9-875CC505C65C}"/>
              </a:ext>
            </a:extLst>
          </p:cNvPr>
          <p:cNvSpPr txBox="1"/>
          <p:nvPr/>
        </p:nvSpPr>
        <p:spPr>
          <a:xfrm>
            <a:off x="670356" y="2723316"/>
            <a:ext cx="20471047" cy="7815516"/>
          </a:xfrm>
          <a:prstGeom prst="rect">
            <a:avLst/>
          </a:prstGeom>
          <a:ln w="12700">
            <a:miter lim="400000"/>
          </a:ln>
          <a:extLst>
            <a:ext uri="{C572A759-6A51-4108-AA02-DFA0A04FC94B}">
              <ma14:wrappingTextBoxFlag xmlns:mc="http://schemas.openxmlformats.org/markup-compatibility/2006" xmlns:a14="http://schemas.microsoft.com/office/drawing/2010/main" xmlns:ma14="http://schemas.microsoft.com/office/mac/drawingml/2011/main" xmlns:m="http://schemas.openxmlformats.org/officeDocument/2006/math" xmlns="" val="1"/>
            </a:ext>
          </a:extLst>
        </p:spPr>
        <p:txBody>
          <a:bodyPr lIns="45719" rIns="45719" anchor="t"/>
          <a:lstStyle/>
          <a:p>
            <a:pPr algn="l" defTabSz="457200">
              <a:spcBef>
                <a:spcPts val="300"/>
              </a:spcBef>
              <a:buSzPct val="100000"/>
              <a:defRPr sz="3000"/>
            </a:pPr>
            <a:endParaRPr lang="en-US" sz="4800" b="1" dirty="0">
              <a:solidFill>
                <a:schemeClr val="tx1"/>
              </a:solidFill>
            </a:endParaRPr>
          </a:p>
        </p:txBody>
      </p:sp>
      <p:sp>
        <p:nvSpPr>
          <p:cNvPr id="9" name="Arten von Knoten…">
            <a:extLst>
              <a:ext uri="{FF2B5EF4-FFF2-40B4-BE49-F238E27FC236}">
                <a16:creationId xmlns:a16="http://schemas.microsoft.com/office/drawing/2014/main" id="{86002EEA-A062-54F8-5128-20503623D444}"/>
              </a:ext>
            </a:extLst>
          </p:cNvPr>
          <p:cNvSpPr txBox="1"/>
          <p:nvPr/>
        </p:nvSpPr>
        <p:spPr>
          <a:xfrm>
            <a:off x="822756" y="2875716"/>
            <a:ext cx="20318647" cy="7815516"/>
          </a:xfrm>
          <a:prstGeom prst="rect">
            <a:avLst/>
          </a:prstGeom>
          <a:ln w="12700">
            <a:miter lim="400000"/>
          </a:ln>
          <a:extLst>
            <a:ext uri="{C572A759-6A51-4108-AA02-DFA0A04FC94B}">
              <ma14:wrappingTextBoxFlag xmlns:mc="http://schemas.openxmlformats.org/markup-compatibility/2006" xmlns:a14="http://schemas.microsoft.com/office/drawing/2010/main" xmlns:ma14="http://schemas.microsoft.com/office/mac/drawingml/2011/main" xmlns:m="http://schemas.openxmlformats.org/officeDocument/2006/math" xmlns="" val="1"/>
            </a:ext>
          </a:extLst>
        </p:spPr>
        <p:txBody>
          <a:bodyPr lIns="45719" rIns="45719" anchor="t"/>
          <a:lstStyle/>
          <a:p>
            <a:pPr marL="15403" algn="l">
              <a:spcBef>
                <a:spcPts val="127"/>
              </a:spcBef>
            </a:pPr>
            <a:r>
              <a:rPr lang="en-US" sz="4800" dirty="0">
                <a:latin typeface="Arial"/>
                <a:cs typeface="Arial"/>
              </a:rPr>
              <a:t>Noun and verb sensitivity forms </a:t>
            </a:r>
            <a:r>
              <a:rPr lang="en-US" sz="4800" b="1" dirty="0">
                <a:latin typeface="Arial"/>
                <a:cs typeface="Arial"/>
              </a:rPr>
              <a:t>distinct</a:t>
            </a:r>
            <a:r>
              <a:rPr lang="en-US" sz="4800" dirty="0">
                <a:latin typeface="Arial"/>
                <a:cs typeface="Arial"/>
              </a:rPr>
              <a:t> but </a:t>
            </a:r>
            <a:r>
              <a:rPr lang="en-US" sz="4800" b="1" dirty="0">
                <a:latin typeface="Arial"/>
                <a:cs typeface="Arial"/>
              </a:rPr>
              <a:t>distributed</a:t>
            </a:r>
            <a:r>
              <a:rPr lang="en-US" sz="4800" dirty="0">
                <a:latin typeface="Arial"/>
                <a:cs typeface="Arial"/>
              </a:rPr>
              <a:t> </a:t>
            </a:r>
            <a:r>
              <a:rPr lang="en-US" sz="4800" b="1" dirty="0">
                <a:latin typeface="Arial"/>
                <a:cs typeface="Arial"/>
              </a:rPr>
              <a:t>clusters</a:t>
            </a:r>
            <a:r>
              <a:rPr lang="en-US" sz="4800" dirty="0">
                <a:latin typeface="Arial"/>
                <a:cs typeface="Arial"/>
              </a:rPr>
              <a:t> across frontal, parietal and temporal cortex</a:t>
            </a:r>
          </a:p>
          <a:p>
            <a:pPr algn="l">
              <a:spcBef>
                <a:spcPts val="679"/>
              </a:spcBef>
            </a:pPr>
            <a:endParaRPr lang="en-US" sz="4800" dirty="0">
              <a:latin typeface="Arial"/>
              <a:cs typeface="Arial"/>
            </a:endParaRPr>
          </a:p>
          <a:p>
            <a:pPr marL="15403" marR="1131318" algn="l">
              <a:lnSpc>
                <a:spcPct val="104400"/>
              </a:lnSpc>
            </a:pPr>
            <a:r>
              <a:rPr lang="en-US" sz="4800" dirty="0">
                <a:latin typeface="Arial"/>
                <a:cs typeface="Arial"/>
              </a:rPr>
              <a:t>Noun and verb processing is </a:t>
            </a:r>
            <a:r>
              <a:rPr lang="en-US" sz="4800" b="1" dirty="0">
                <a:latin typeface="Arial"/>
                <a:cs typeface="Arial"/>
              </a:rPr>
              <a:t>consistent across stimulus modality</a:t>
            </a:r>
          </a:p>
          <a:p>
            <a:pPr algn="l">
              <a:spcBef>
                <a:spcPts val="837"/>
              </a:spcBef>
            </a:pPr>
            <a:endParaRPr lang="en-US" sz="4800" dirty="0">
              <a:latin typeface="Arial"/>
              <a:cs typeface="Arial"/>
            </a:endParaRPr>
          </a:p>
          <a:p>
            <a:pPr marL="15403" algn="l">
              <a:spcBef>
                <a:spcPts val="6"/>
              </a:spcBef>
            </a:pPr>
            <a:r>
              <a:rPr lang="en-US" sz="4800" spc="-12" dirty="0">
                <a:latin typeface="Arial"/>
                <a:cs typeface="Arial"/>
              </a:rPr>
              <a:t>Verb sensitivity dominates across most language ROIs</a:t>
            </a:r>
          </a:p>
          <a:p>
            <a:pPr marL="15403" algn="l">
              <a:spcBef>
                <a:spcPts val="6"/>
              </a:spcBef>
            </a:pPr>
            <a:endParaRPr lang="en-US" sz="4800" spc="-12" dirty="0">
              <a:latin typeface="Arial"/>
              <a:cs typeface="Arial"/>
            </a:endParaRPr>
          </a:p>
          <a:p>
            <a:pPr marL="15403" algn="l">
              <a:spcBef>
                <a:spcPts val="6"/>
              </a:spcBef>
            </a:pPr>
            <a:r>
              <a:rPr lang="en-US" sz="4800" spc="-12" dirty="0">
                <a:latin typeface="Arial"/>
                <a:cs typeface="Arial"/>
              </a:rPr>
              <a:t>Results support a </a:t>
            </a:r>
            <a:r>
              <a:rPr lang="en-US" sz="4800" b="1" spc="-12" dirty="0">
                <a:latin typeface="Arial"/>
                <a:cs typeface="Arial"/>
              </a:rPr>
              <a:t>distributed account</a:t>
            </a:r>
            <a:endParaRPr lang="en-US" sz="4800" b="1" dirty="0">
              <a:latin typeface="Arial"/>
              <a:cs typeface="Arial"/>
            </a:endParaRPr>
          </a:p>
        </p:txBody>
      </p:sp>
    </p:spTree>
    <p:extLst>
      <p:ext uri="{BB962C8B-B14F-4D97-AF65-F5344CB8AC3E}">
        <p14:creationId xmlns:p14="http://schemas.microsoft.com/office/powerpoint/2010/main" val="4136353471"/>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5CAA16-3B99-0EC1-97BF-8C2E3A2362A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83C1E51-CCE2-4A35-E254-F15C5A6A7A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1B09E4D8-0D83-C681-4060-EE8630BD7ACE}"/>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39</a:t>
            </a:fld>
            <a:endParaRPr/>
          </a:p>
        </p:txBody>
      </p:sp>
      <p:sp>
        <p:nvSpPr>
          <p:cNvPr id="70" name="5.1 Das Document Object Model…">
            <a:extLst>
              <a:ext uri="{FF2B5EF4-FFF2-40B4-BE49-F238E27FC236}">
                <a16:creationId xmlns:a16="http://schemas.microsoft.com/office/drawing/2014/main" id="{2A8E78F1-4CED-8895-9E0F-109639C66979}"/>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Limitations</a:t>
            </a:r>
          </a:p>
        </p:txBody>
      </p:sp>
      <p:pic>
        <p:nvPicPr>
          <p:cNvPr id="4" name="Bild" descr="Bild">
            <a:extLst>
              <a:ext uri="{FF2B5EF4-FFF2-40B4-BE49-F238E27FC236}">
                <a16:creationId xmlns:a16="http://schemas.microsoft.com/office/drawing/2014/main" id="{E3ECEE1F-0153-64BD-C999-10A7F2D46E91}"/>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4E821087-BFC2-7F9F-5D2B-044785273C08}"/>
              </a:ext>
            </a:extLst>
          </p:cNvPr>
          <p:cNvSpPr txBox="1"/>
          <p:nvPr/>
        </p:nvSpPr>
        <p:spPr>
          <a:xfrm>
            <a:off x="670356" y="2723316"/>
            <a:ext cx="204710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spcBef>
                <a:spcPts val="300"/>
              </a:spcBef>
              <a:buSzPct val="100000"/>
              <a:defRPr sz="3000"/>
            </a:pPr>
            <a:endParaRPr lang="en-US" sz="4800" b="1" dirty="0">
              <a:solidFill>
                <a:schemeClr val="tx1"/>
              </a:solidFill>
            </a:endParaRPr>
          </a:p>
        </p:txBody>
      </p:sp>
      <p:sp>
        <p:nvSpPr>
          <p:cNvPr id="9" name="Arten von Knoten…">
            <a:extLst>
              <a:ext uri="{FF2B5EF4-FFF2-40B4-BE49-F238E27FC236}">
                <a16:creationId xmlns:a16="http://schemas.microsoft.com/office/drawing/2014/main" id="{72C558E8-0F46-5947-B87D-E64AB5FA98FD}"/>
              </a:ext>
            </a:extLst>
          </p:cNvPr>
          <p:cNvSpPr txBox="1"/>
          <p:nvPr/>
        </p:nvSpPr>
        <p:spPr>
          <a:xfrm>
            <a:off x="822756" y="2875716"/>
            <a:ext cx="204710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spcBef>
                <a:spcPts val="300"/>
              </a:spcBef>
              <a:buSzPct val="100000"/>
              <a:defRPr sz="3000"/>
            </a:pPr>
            <a:r>
              <a:rPr lang="en-US" sz="4800" dirty="0">
                <a:solidFill>
                  <a:schemeClr val="tx1"/>
                </a:solidFill>
              </a:rPr>
              <a:t>Only the </a:t>
            </a:r>
            <a:r>
              <a:rPr lang="en-US" sz="4800" b="1" dirty="0">
                <a:solidFill>
                  <a:schemeClr val="tx1"/>
                </a:solidFill>
              </a:rPr>
              <a:t>absence</a:t>
            </a:r>
            <a:r>
              <a:rPr lang="en-US" sz="4800" b="1" i="1" dirty="0">
                <a:solidFill>
                  <a:schemeClr val="tx1"/>
                </a:solidFill>
              </a:rPr>
              <a:t> </a:t>
            </a:r>
            <a:r>
              <a:rPr lang="en-US" sz="4800" dirty="0">
                <a:solidFill>
                  <a:schemeClr val="tx1"/>
                </a:solidFill>
              </a:rPr>
              <a:t>of nouns / verbs is being investigated</a:t>
            </a:r>
          </a:p>
          <a:p>
            <a:pPr algn="l" defTabSz="457200">
              <a:spcBef>
                <a:spcPts val="300"/>
              </a:spcBef>
              <a:buSzPct val="100000"/>
              <a:defRPr sz="3000"/>
            </a:pPr>
            <a:endParaRPr lang="en-US" sz="4800" b="1" dirty="0">
              <a:solidFill>
                <a:schemeClr val="tx1"/>
              </a:solidFill>
            </a:endParaRPr>
          </a:p>
        </p:txBody>
      </p:sp>
    </p:spTree>
    <p:extLst>
      <p:ext uri="{BB962C8B-B14F-4D97-AF65-F5344CB8AC3E}">
        <p14:creationId xmlns:p14="http://schemas.microsoft.com/office/powerpoint/2010/main" val="473523344"/>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0C80D0A-7548-C0B0-E076-0AF482832F9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7A41012-8151-27A6-B83E-E89D80930A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6C0DAD4A-185F-751D-37F4-2527C183986D}"/>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40</a:t>
            </a:fld>
            <a:endParaRPr/>
          </a:p>
        </p:txBody>
      </p:sp>
      <p:sp>
        <p:nvSpPr>
          <p:cNvPr id="70" name="5.1 Das Document Object Model…">
            <a:extLst>
              <a:ext uri="{FF2B5EF4-FFF2-40B4-BE49-F238E27FC236}">
                <a16:creationId xmlns:a16="http://schemas.microsoft.com/office/drawing/2014/main" id="{58A8B2F8-6D3F-0E92-4B2B-CD0B90DA61B1}"/>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Limitations</a:t>
            </a:r>
          </a:p>
        </p:txBody>
      </p:sp>
      <p:pic>
        <p:nvPicPr>
          <p:cNvPr id="4" name="Bild" descr="Bild">
            <a:extLst>
              <a:ext uri="{FF2B5EF4-FFF2-40B4-BE49-F238E27FC236}">
                <a16:creationId xmlns:a16="http://schemas.microsoft.com/office/drawing/2014/main" id="{CF5CB39A-B263-6184-98A8-F114F002ACC7}"/>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3862D3F0-8CFF-ADAA-04B9-9D541382993F}"/>
              </a:ext>
            </a:extLst>
          </p:cNvPr>
          <p:cNvSpPr txBox="1"/>
          <p:nvPr/>
        </p:nvSpPr>
        <p:spPr>
          <a:xfrm>
            <a:off x="670356" y="2723316"/>
            <a:ext cx="20471047" cy="7815516"/>
          </a:xfrm>
          <a:prstGeom prst="rect">
            <a:avLst/>
          </a:prstGeom>
          <a:ln w="12700">
            <a:miter lim="400000"/>
          </a:ln>
          <a:extLst>
            <a:ext uri="{C572A759-6A51-4108-AA02-DFA0A04FC94B}">
              <ma14:wrappingTextBoxFlag xmlns:mc="http://schemas.openxmlformats.org/markup-compatibility/2006" xmlns:a14="http://schemas.microsoft.com/office/drawing/2010/main" xmlns:ma14="http://schemas.microsoft.com/office/mac/drawingml/2011/main" xmlns:m="http://schemas.openxmlformats.org/officeDocument/2006/math" xmlns="" val="1"/>
            </a:ext>
          </a:extLst>
        </p:spPr>
        <p:txBody>
          <a:bodyPr lIns="45719" rIns="45719" anchor="t"/>
          <a:lstStyle/>
          <a:p>
            <a:pPr algn="l" defTabSz="457200">
              <a:spcBef>
                <a:spcPts val="300"/>
              </a:spcBef>
              <a:buSzPct val="100000"/>
              <a:defRPr sz="3000"/>
            </a:pPr>
            <a:endParaRPr lang="en-US" sz="4800" b="1" dirty="0">
              <a:solidFill>
                <a:schemeClr val="tx1"/>
              </a:solidFill>
            </a:endParaRPr>
          </a:p>
        </p:txBody>
      </p:sp>
      <p:sp>
        <p:nvSpPr>
          <p:cNvPr id="9" name="Arten von Knoten…">
            <a:extLst>
              <a:ext uri="{FF2B5EF4-FFF2-40B4-BE49-F238E27FC236}">
                <a16:creationId xmlns:a16="http://schemas.microsoft.com/office/drawing/2014/main" id="{7EF27ACF-9F69-90EE-07C3-56216F4F83DF}"/>
              </a:ext>
            </a:extLst>
          </p:cNvPr>
          <p:cNvSpPr txBox="1"/>
          <p:nvPr/>
        </p:nvSpPr>
        <p:spPr>
          <a:xfrm>
            <a:off x="822756" y="2875716"/>
            <a:ext cx="20471047" cy="7815516"/>
          </a:xfrm>
          <a:prstGeom prst="rect">
            <a:avLst/>
          </a:prstGeom>
          <a:ln w="12700">
            <a:miter lim="400000"/>
          </a:ln>
          <a:extLst>
            <a:ext uri="{C572A759-6A51-4108-AA02-DFA0A04FC94B}">
              <ma14:wrappingTextBoxFlag xmlns:mc="http://schemas.openxmlformats.org/markup-compatibility/2006" xmlns:a14="http://schemas.microsoft.com/office/drawing/2010/main" xmlns:ma14="http://schemas.microsoft.com/office/mac/drawingml/2011/main" xmlns:m="http://schemas.openxmlformats.org/officeDocument/2006/math" xmlns="" val="1"/>
            </a:ext>
          </a:extLst>
        </p:spPr>
        <p:txBody>
          <a:bodyPr lIns="45719" rIns="45719" anchor="t"/>
          <a:lstStyle/>
          <a:p>
            <a:pPr algn="l" defTabSz="457200">
              <a:spcBef>
                <a:spcPts val="300"/>
              </a:spcBef>
              <a:buSzPct val="100000"/>
              <a:defRPr sz="3000"/>
            </a:pPr>
            <a:r>
              <a:rPr lang="en-US" sz="4800" dirty="0">
                <a:solidFill>
                  <a:schemeClr val="tx1"/>
                </a:solidFill>
              </a:rPr>
              <a:t>Only the </a:t>
            </a:r>
            <a:r>
              <a:rPr lang="en-US" sz="4800" b="1" dirty="0">
                <a:solidFill>
                  <a:schemeClr val="tx1"/>
                </a:solidFill>
              </a:rPr>
              <a:t>absence</a:t>
            </a:r>
            <a:r>
              <a:rPr lang="en-US" sz="4800" b="1" i="1" dirty="0">
                <a:solidFill>
                  <a:schemeClr val="tx1"/>
                </a:solidFill>
              </a:rPr>
              <a:t> </a:t>
            </a:r>
            <a:r>
              <a:rPr lang="en-US" sz="4800" dirty="0">
                <a:solidFill>
                  <a:schemeClr val="tx1"/>
                </a:solidFill>
              </a:rPr>
              <a:t>of nouns / verbs is being investigated</a:t>
            </a:r>
          </a:p>
          <a:p>
            <a:pPr algn="l" defTabSz="457200">
              <a:spcBef>
                <a:spcPts val="300"/>
              </a:spcBef>
              <a:buSzPct val="100000"/>
              <a:defRPr sz="3000"/>
            </a:pPr>
            <a:endParaRPr lang="en-US" sz="4800" b="1" dirty="0">
              <a:solidFill>
                <a:schemeClr val="tx1"/>
              </a:solidFill>
            </a:endParaRPr>
          </a:p>
          <a:p>
            <a:pPr algn="l" defTabSz="457200">
              <a:spcBef>
                <a:spcPts val="300"/>
              </a:spcBef>
              <a:buSzPct val="100000"/>
              <a:defRPr sz="3000"/>
            </a:pPr>
            <a:r>
              <a:rPr lang="en-US" sz="4800" dirty="0">
                <a:solidFill>
                  <a:schemeClr val="tx1"/>
                </a:solidFill>
              </a:rPr>
              <a:t>ROIs used in quantification don’t cover all clusters /</a:t>
            </a:r>
          </a:p>
          <a:p>
            <a:pPr algn="l" defTabSz="457200">
              <a:spcBef>
                <a:spcPts val="300"/>
              </a:spcBef>
              <a:buSzPct val="100000"/>
              <a:defRPr sz="3000"/>
            </a:pPr>
            <a:r>
              <a:rPr lang="en-US" sz="4800" dirty="0">
                <a:solidFill>
                  <a:schemeClr val="tx1"/>
                </a:solidFill>
              </a:rPr>
              <a:t>Clusters split across multiple ROIs</a:t>
            </a:r>
          </a:p>
          <a:p>
            <a:pPr algn="l" defTabSz="457200">
              <a:spcBef>
                <a:spcPts val="300"/>
              </a:spcBef>
              <a:buSzPct val="100000"/>
              <a:defRPr sz="3000"/>
            </a:pPr>
            <a:endParaRPr lang="en-US" sz="4800" dirty="0">
              <a:solidFill>
                <a:schemeClr val="tx1"/>
              </a:solidFill>
            </a:endParaRPr>
          </a:p>
        </p:txBody>
      </p:sp>
    </p:spTree>
    <p:extLst>
      <p:ext uri="{BB962C8B-B14F-4D97-AF65-F5344CB8AC3E}">
        <p14:creationId xmlns:p14="http://schemas.microsoft.com/office/powerpoint/2010/main" val="716656778"/>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4A092C3-C832-58AB-918C-EBEE81BC599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64D81A7-9191-6E51-5D8A-86CE7286DB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FBB3EFC4-A7ED-A853-6BDB-968C1BB17CDB}"/>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41</a:t>
            </a:fld>
            <a:endParaRPr/>
          </a:p>
        </p:txBody>
      </p:sp>
      <p:sp>
        <p:nvSpPr>
          <p:cNvPr id="70" name="5.1 Das Document Object Model…">
            <a:extLst>
              <a:ext uri="{FF2B5EF4-FFF2-40B4-BE49-F238E27FC236}">
                <a16:creationId xmlns:a16="http://schemas.microsoft.com/office/drawing/2014/main" id="{21E7772A-09D9-87BB-3C51-30F54B66FA9F}"/>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Limitations</a:t>
            </a:r>
          </a:p>
        </p:txBody>
      </p:sp>
      <p:pic>
        <p:nvPicPr>
          <p:cNvPr id="4" name="Bild" descr="Bild">
            <a:extLst>
              <a:ext uri="{FF2B5EF4-FFF2-40B4-BE49-F238E27FC236}">
                <a16:creationId xmlns:a16="http://schemas.microsoft.com/office/drawing/2014/main" id="{6FFEC537-8E35-DD76-BC6C-E83E9B78B4D8}"/>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392294AB-DADA-DF84-FF21-82E76D1E224A}"/>
              </a:ext>
            </a:extLst>
          </p:cNvPr>
          <p:cNvSpPr txBox="1"/>
          <p:nvPr/>
        </p:nvSpPr>
        <p:spPr>
          <a:xfrm>
            <a:off x="670356" y="2723316"/>
            <a:ext cx="204710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spcBef>
                <a:spcPts val="300"/>
              </a:spcBef>
              <a:buSzPct val="100000"/>
              <a:defRPr sz="3000"/>
            </a:pPr>
            <a:endParaRPr lang="en-US" sz="4800" b="1" dirty="0">
              <a:solidFill>
                <a:schemeClr val="tx1"/>
              </a:solidFill>
            </a:endParaRPr>
          </a:p>
        </p:txBody>
      </p:sp>
      <p:sp>
        <p:nvSpPr>
          <p:cNvPr id="9" name="Arten von Knoten…">
            <a:extLst>
              <a:ext uri="{FF2B5EF4-FFF2-40B4-BE49-F238E27FC236}">
                <a16:creationId xmlns:a16="http://schemas.microsoft.com/office/drawing/2014/main" id="{719A4FC4-7258-8C14-E546-F880E7DB306B}"/>
              </a:ext>
            </a:extLst>
          </p:cNvPr>
          <p:cNvSpPr txBox="1"/>
          <p:nvPr/>
        </p:nvSpPr>
        <p:spPr>
          <a:xfrm>
            <a:off x="822756" y="2875716"/>
            <a:ext cx="204710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spcBef>
                <a:spcPts val="300"/>
              </a:spcBef>
              <a:buSzPct val="100000"/>
              <a:defRPr sz="3000"/>
            </a:pPr>
            <a:r>
              <a:rPr lang="en-US" sz="4800" dirty="0">
                <a:solidFill>
                  <a:schemeClr val="tx1"/>
                </a:solidFill>
              </a:rPr>
              <a:t>Only the </a:t>
            </a:r>
            <a:r>
              <a:rPr lang="en-US" sz="4800" b="1" dirty="0">
                <a:solidFill>
                  <a:schemeClr val="tx1"/>
                </a:solidFill>
              </a:rPr>
              <a:t>absence</a:t>
            </a:r>
            <a:r>
              <a:rPr lang="en-US" sz="4800" b="1" i="1" dirty="0">
                <a:solidFill>
                  <a:schemeClr val="tx1"/>
                </a:solidFill>
              </a:rPr>
              <a:t> </a:t>
            </a:r>
            <a:r>
              <a:rPr lang="en-US" sz="4800" dirty="0">
                <a:solidFill>
                  <a:schemeClr val="tx1"/>
                </a:solidFill>
              </a:rPr>
              <a:t>of nouns / verbs is being investigated</a:t>
            </a:r>
          </a:p>
          <a:p>
            <a:pPr algn="l" defTabSz="457200">
              <a:spcBef>
                <a:spcPts val="300"/>
              </a:spcBef>
              <a:buSzPct val="100000"/>
              <a:defRPr sz="3000"/>
            </a:pPr>
            <a:endParaRPr lang="en-US" sz="4800" b="1" dirty="0">
              <a:solidFill>
                <a:schemeClr val="tx1"/>
              </a:solidFill>
            </a:endParaRPr>
          </a:p>
          <a:p>
            <a:pPr algn="l" defTabSz="457200">
              <a:spcBef>
                <a:spcPts val="300"/>
              </a:spcBef>
              <a:buSzPct val="100000"/>
              <a:defRPr sz="3000"/>
            </a:pPr>
            <a:r>
              <a:rPr lang="en-US" sz="4800" dirty="0">
                <a:solidFill>
                  <a:schemeClr val="tx1"/>
                </a:solidFill>
              </a:rPr>
              <a:t>ROIs used in quantification don’t cover all clusters /</a:t>
            </a:r>
          </a:p>
          <a:p>
            <a:pPr algn="l" defTabSz="457200">
              <a:spcBef>
                <a:spcPts val="300"/>
              </a:spcBef>
              <a:buSzPct val="100000"/>
              <a:defRPr sz="3000"/>
            </a:pPr>
            <a:r>
              <a:rPr lang="en-US" sz="4800" dirty="0">
                <a:solidFill>
                  <a:schemeClr val="tx1"/>
                </a:solidFill>
              </a:rPr>
              <a:t>Clusters split across multiple ROIs</a:t>
            </a:r>
          </a:p>
          <a:p>
            <a:pPr algn="l" defTabSz="457200">
              <a:spcBef>
                <a:spcPts val="300"/>
              </a:spcBef>
              <a:buSzPct val="100000"/>
              <a:defRPr sz="3000"/>
            </a:pPr>
            <a:endParaRPr lang="en-US" sz="4800" b="1" dirty="0">
              <a:solidFill>
                <a:schemeClr val="tx1"/>
              </a:solidFill>
            </a:endParaRPr>
          </a:p>
          <a:p>
            <a:pPr algn="l" defTabSz="457200">
              <a:spcBef>
                <a:spcPts val="300"/>
              </a:spcBef>
              <a:buSzPct val="100000"/>
              <a:defRPr sz="3000"/>
            </a:pPr>
            <a:r>
              <a:rPr lang="en-US" sz="4800" dirty="0">
                <a:solidFill>
                  <a:schemeClr val="tx1"/>
                </a:solidFill>
              </a:rPr>
              <a:t>Cross-Modality </a:t>
            </a:r>
            <a:r>
              <a:rPr lang="en-US" sz="4800" b="1" dirty="0">
                <a:solidFill>
                  <a:schemeClr val="tx1"/>
                </a:solidFill>
              </a:rPr>
              <a:t>not confirmed</a:t>
            </a:r>
          </a:p>
          <a:p>
            <a:pPr algn="l" defTabSz="457200">
              <a:spcBef>
                <a:spcPts val="300"/>
              </a:spcBef>
              <a:buSzPct val="100000"/>
              <a:defRPr sz="3000"/>
            </a:pPr>
            <a:endParaRPr lang="en-US" sz="4800" dirty="0">
              <a:solidFill>
                <a:schemeClr val="tx1"/>
              </a:solidFill>
            </a:endParaRPr>
          </a:p>
        </p:txBody>
      </p:sp>
    </p:spTree>
    <p:extLst>
      <p:ext uri="{BB962C8B-B14F-4D97-AF65-F5344CB8AC3E}">
        <p14:creationId xmlns:p14="http://schemas.microsoft.com/office/powerpoint/2010/main" val="3523127278"/>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ECA8B53-5806-3E49-4E48-E22E0EE89AF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4E341AB-D881-2ABE-9107-3801C96FE7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310A3AE2-488D-C54E-57C4-1B55CAE142F6}"/>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lang="en-US" smtClean="0"/>
              <a:t>42</a:t>
            </a:fld>
            <a:endParaRPr dirty="0"/>
          </a:p>
        </p:txBody>
      </p:sp>
      <p:sp>
        <p:nvSpPr>
          <p:cNvPr id="70" name="5.1 Das Document Object Model…">
            <a:extLst>
              <a:ext uri="{FF2B5EF4-FFF2-40B4-BE49-F238E27FC236}">
                <a16:creationId xmlns:a16="http://schemas.microsoft.com/office/drawing/2014/main" id="{169137A1-C1C2-8236-7938-B3163F8AF719}"/>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Future Research</a:t>
            </a:r>
          </a:p>
        </p:txBody>
      </p:sp>
      <p:pic>
        <p:nvPicPr>
          <p:cNvPr id="4" name="Bild" descr="Bild">
            <a:extLst>
              <a:ext uri="{FF2B5EF4-FFF2-40B4-BE49-F238E27FC236}">
                <a16:creationId xmlns:a16="http://schemas.microsoft.com/office/drawing/2014/main" id="{A2DF5D5C-BB34-D6F1-108E-9CE7AF5D31DA}"/>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32C5CFD9-8D36-F7AB-FCC6-37AF2A77E773}"/>
              </a:ext>
            </a:extLst>
          </p:cNvPr>
          <p:cNvSpPr txBox="1"/>
          <p:nvPr/>
        </p:nvSpPr>
        <p:spPr>
          <a:xfrm>
            <a:off x="670356" y="2723316"/>
            <a:ext cx="20471047" cy="7815516"/>
          </a:xfrm>
          <a:prstGeom prst="rect">
            <a:avLst/>
          </a:prstGeom>
          <a:ln w="12700">
            <a:miter lim="400000"/>
          </a:ln>
          <a:extLst>
            <a:ext uri="{C572A759-6A51-4108-AA02-DFA0A04FC94B}">
              <ma14:wrappingTextBoxFlag xmlns:mc="http://schemas.openxmlformats.org/markup-compatibility/2006" xmlns:a14="http://schemas.microsoft.com/office/drawing/2010/main" xmlns:ma14="http://schemas.microsoft.com/office/mac/drawingml/2011/main" xmlns:m="http://schemas.openxmlformats.org/officeDocument/2006/math" xmlns="" val="1"/>
            </a:ext>
          </a:extLst>
        </p:spPr>
        <p:txBody>
          <a:bodyPr lIns="45719" rIns="45719" anchor="t"/>
          <a:lstStyle/>
          <a:p>
            <a:pPr algn="l" defTabSz="457200">
              <a:spcBef>
                <a:spcPts val="300"/>
              </a:spcBef>
              <a:buSzPct val="100000"/>
              <a:defRPr sz="3000"/>
            </a:pPr>
            <a:endParaRPr lang="en-US" sz="4800" b="1" dirty="0">
              <a:solidFill>
                <a:schemeClr val="tx1"/>
              </a:solidFill>
            </a:endParaRPr>
          </a:p>
        </p:txBody>
      </p:sp>
      <p:sp>
        <p:nvSpPr>
          <p:cNvPr id="8" name="Arten von Knoten…">
            <a:extLst>
              <a:ext uri="{FF2B5EF4-FFF2-40B4-BE49-F238E27FC236}">
                <a16:creationId xmlns:a16="http://schemas.microsoft.com/office/drawing/2014/main" id="{07ED22CC-7190-B414-A804-405A21B05DDD}"/>
              </a:ext>
            </a:extLst>
          </p:cNvPr>
          <p:cNvSpPr txBox="1"/>
          <p:nvPr/>
        </p:nvSpPr>
        <p:spPr>
          <a:xfrm>
            <a:off x="822756" y="2875716"/>
            <a:ext cx="204710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spcBef>
                <a:spcPts val="300"/>
              </a:spcBef>
              <a:buSzPct val="100000"/>
              <a:defRPr sz="3000"/>
            </a:pPr>
            <a:r>
              <a:rPr lang="en-US" sz="4800" b="1" dirty="0">
                <a:solidFill>
                  <a:schemeClr val="tx1"/>
                </a:solidFill>
              </a:rPr>
              <a:t>Investigating </a:t>
            </a:r>
            <a:r>
              <a:rPr lang="en-US" sz="4800" b="1" i="1" dirty="0">
                <a:solidFill>
                  <a:schemeClr val="tx1"/>
                </a:solidFill>
              </a:rPr>
              <a:t>presence </a:t>
            </a:r>
            <a:r>
              <a:rPr lang="en-US" sz="4800" b="1" dirty="0">
                <a:solidFill>
                  <a:schemeClr val="tx1"/>
                </a:solidFill>
              </a:rPr>
              <a:t>of nouns and verbs </a:t>
            </a:r>
            <a:r>
              <a:rPr lang="en-US" sz="4800" b="1" i="1" dirty="0">
                <a:solidFill>
                  <a:schemeClr val="tx1"/>
                </a:solidFill>
              </a:rPr>
              <a:t> </a:t>
            </a:r>
            <a:endParaRPr lang="en-US" sz="4800" b="1" dirty="0">
              <a:solidFill>
                <a:schemeClr val="tx1"/>
              </a:solidFill>
            </a:endParaRPr>
          </a:p>
          <a:p>
            <a:pPr algn="l" defTabSz="457200">
              <a:spcBef>
                <a:spcPts val="300"/>
              </a:spcBef>
              <a:buSzPct val="100000"/>
              <a:defRPr sz="3000"/>
            </a:pPr>
            <a:r>
              <a:rPr lang="en-US" sz="4800" dirty="0">
                <a:solidFill>
                  <a:schemeClr val="tx1"/>
                </a:solidFill>
              </a:rPr>
              <a:t>Using one-hot encodings</a:t>
            </a:r>
          </a:p>
        </p:txBody>
      </p:sp>
    </p:spTree>
    <p:extLst>
      <p:ext uri="{BB962C8B-B14F-4D97-AF65-F5344CB8AC3E}">
        <p14:creationId xmlns:p14="http://schemas.microsoft.com/office/powerpoint/2010/main" val="4156184017"/>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D931CE8-6330-5548-1B71-6D99942FA99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F554812-2841-D7E2-E528-D2A98F0FD2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49325097-E1DC-DFAC-6EBB-C57998E4AD27}"/>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43</a:t>
            </a:fld>
            <a:endParaRPr/>
          </a:p>
        </p:txBody>
      </p:sp>
      <p:sp>
        <p:nvSpPr>
          <p:cNvPr id="70" name="5.1 Das Document Object Model…">
            <a:extLst>
              <a:ext uri="{FF2B5EF4-FFF2-40B4-BE49-F238E27FC236}">
                <a16:creationId xmlns:a16="http://schemas.microsoft.com/office/drawing/2014/main" id="{466F3504-D1B1-8D50-1255-0E594D2EDE81}"/>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Future Research</a:t>
            </a:r>
          </a:p>
        </p:txBody>
      </p:sp>
      <p:pic>
        <p:nvPicPr>
          <p:cNvPr id="4" name="Bild" descr="Bild">
            <a:extLst>
              <a:ext uri="{FF2B5EF4-FFF2-40B4-BE49-F238E27FC236}">
                <a16:creationId xmlns:a16="http://schemas.microsoft.com/office/drawing/2014/main" id="{15B6B682-89A6-4533-E1A6-2FE39F4A20DF}"/>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18C1D738-ED15-B8B1-F109-28CE723298C4}"/>
              </a:ext>
            </a:extLst>
          </p:cNvPr>
          <p:cNvSpPr txBox="1"/>
          <p:nvPr/>
        </p:nvSpPr>
        <p:spPr>
          <a:xfrm>
            <a:off x="670356" y="2723316"/>
            <a:ext cx="204710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spcBef>
                <a:spcPts val="300"/>
              </a:spcBef>
              <a:buSzPct val="100000"/>
              <a:defRPr sz="3000"/>
            </a:pPr>
            <a:endParaRPr lang="en-US" sz="4800" b="1" dirty="0">
              <a:solidFill>
                <a:schemeClr val="tx1"/>
              </a:solidFill>
            </a:endParaRPr>
          </a:p>
        </p:txBody>
      </p:sp>
      <p:sp>
        <p:nvSpPr>
          <p:cNvPr id="8" name="Arten von Knoten…">
            <a:extLst>
              <a:ext uri="{FF2B5EF4-FFF2-40B4-BE49-F238E27FC236}">
                <a16:creationId xmlns:a16="http://schemas.microsoft.com/office/drawing/2014/main" id="{67717598-E0D3-A974-7749-15C830DF69D9}"/>
              </a:ext>
            </a:extLst>
          </p:cNvPr>
          <p:cNvSpPr txBox="1"/>
          <p:nvPr/>
        </p:nvSpPr>
        <p:spPr>
          <a:xfrm>
            <a:off x="822756" y="2875716"/>
            <a:ext cx="20471047" cy="7815516"/>
          </a:xfrm>
          <a:prstGeom prst="rect">
            <a:avLst/>
          </a:prstGeom>
          <a:ln w="12700">
            <a:miter lim="400000"/>
          </a:ln>
          <a:extLst>
            <a:ext uri="{C572A759-6A51-4108-AA02-DFA0A04FC94B}">
              <ma14:wrappingTextBoxFlag xmlns:mc="http://schemas.openxmlformats.org/markup-compatibility/2006" xmlns:a14="http://schemas.microsoft.com/office/drawing/2010/main" xmlns:ma14="http://schemas.microsoft.com/office/mac/drawingml/2011/main" xmlns:m="http://schemas.openxmlformats.org/officeDocument/2006/math" xmlns="" val="1"/>
            </a:ext>
          </a:extLst>
        </p:spPr>
        <p:txBody>
          <a:bodyPr lIns="45719" rIns="45719" anchor="t"/>
          <a:lstStyle/>
          <a:p>
            <a:pPr algn="l" defTabSz="457200">
              <a:spcBef>
                <a:spcPts val="300"/>
              </a:spcBef>
              <a:buSzPct val="100000"/>
              <a:defRPr sz="3000"/>
            </a:pPr>
            <a:r>
              <a:rPr lang="en-US" sz="4800" b="1" dirty="0">
                <a:solidFill>
                  <a:schemeClr val="tx1"/>
                </a:solidFill>
              </a:rPr>
              <a:t>Investigating </a:t>
            </a:r>
            <a:r>
              <a:rPr lang="en-US" sz="4800" b="1" i="1" dirty="0">
                <a:solidFill>
                  <a:schemeClr val="tx1"/>
                </a:solidFill>
              </a:rPr>
              <a:t>presence </a:t>
            </a:r>
            <a:r>
              <a:rPr lang="en-US" sz="4800" b="1" dirty="0">
                <a:solidFill>
                  <a:schemeClr val="tx1"/>
                </a:solidFill>
              </a:rPr>
              <a:t>of nouns and verbs </a:t>
            </a:r>
            <a:r>
              <a:rPr lang="en-US" sz="4800" b="1" i="1" dirty="0">
                <a:solidFill>
                  <a:schemeClr val="tx1"/>
                </a:solidFill>
              </a:rPr>
              <a:t> </a:t>
            </a:r>
            <a:endParaRPr lang="en-US" sz="4800" b="1" dirty="0">
              <a:solidFill>
                <a:schemeClr val="tx1"/>
              </a:solidFill>
            </a:endParaRPr>
          </a:p>
          <a:p>
            <a:pPr algn="l" defTabSz="457200">
              <a:spcBef>
                <a:spcPts val="300"/>
              </a:spcBef>
              <a:buSzPct val="100000"/>
              <a:defRPr sz="3000"/>
            </a:pPr>
            <a:r>
              <a:rPr lang="en-US" sz="4800" dirty="0">
                <a:solidFill>
                  <a:schemeClr val="tx1"/>
                </a:solidFill>
              </a:rPr>
              <a:t>Using one-hot encodings</a:t>
            </a:r>
          </a:p>
          <a:p>
            <a:pPr algn="l" defTabSz="457200">
              <a:spcBef>
                <a:spcPts val="300"/>
              </a:spcBef>
              <a:buSzPct val="100000"/>
              <a:defRPr sz="3000"/>
            </a:pPr>
            <a:endParaRPr lang="en-US" sz="4800" b="1" dirty="0">
              <a:solidFill>
                <a:schemeClr val="tx1"/>
              </a:solidFill>
            </a:endParaRPr>
          </a:p>
          <a:p>
            <a:pPr algn="l" defTabSz="457200">
              <a:spcBef>
                <a:spcPts val="300"/>
              </a:spcBef>
              <a:buSzPct val="100000"/>
              <a:defRPr sz="3000"/>
            </a:pPr>
            <a:r>
              <a:rPr lang="en-US" sz="4800" b="1" dirty="0">
                <a:solidFill>
                  <a:schemeClr val="tx1"/>
                </a:solidFill>
              </a:rPr>
              <a:t>Using a different dataset</a:t>
            </a:r>
          </a:p>
          <a:p>
            <a:pPr algn="l" defTabSz="457200">
              <a:spcBef>
                <a:spcPts val="300"/>
              </a:spcBef>
              <a:buSzPct val="100000"/>
              <a:defRPr sz="3000"/>
            </a:pPr>
            <a:r>
              <a:rPr lang="en-US" sz="4800" dirty="0">
                <a:solidFill>
                  <a:schemeClr val="tx1"/>
                </a:solidFill>
              </a:rPr>
              <a:t>Other than Moth</a:t>
            </a:r>
          </a:p>
          <a:p>
            <a:pPr algn="l" defTabSz="457200">
              <a:spcBef>
                <a:spcPts val="300"/>
              </a:spcBef>
              <a:buSzPct val="100000"/>
              <a:defRPr sz="3000"/>
            </a:pPr>
            <a:endParaRPr lang="en-US" sz="4800" dirty="0">
              <a:solidFill>
                <a:schemeClr val="tx1"/>
              </a:solidFill>
            </a:endParaRPr>
          </a:p>
        </p:txBody>
      </p:sp>
    </p:spTree>
    <p:extLst>
      <p:ext uri="{BB962C8B-B14F-4D97-AF65-F5344CB8AC3E}">
        <p14:creationId xmlns:p14="http://schemas.microsoft.com/office/powerpoint/2010/main" val="4164490806"/>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2DA59AA-D3FB-EE07-5DF0-1F2C2D08975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2F89062-E867-BC96-CE9A-296E4A49D8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D3E3C2A7-0D35-A9CE-8E91-37143DE7D2F6}"/>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44</a:t>
            </a:fld>
            <a:endParaRPr/>
          </a:p>
        </p:txBody>
      </p:sp>
      <p:sp>
        <p:nvSpPr>
          <p:cNvPr id="70" name="5.1 Das Document Object Model…">
            <a:extLst>
              <a:ext uri="{FF2B5EF4-FFF2-40B4-BE49-F238E27FC236}">
                <a16:creationId xmlns:a16="http://schemas.microsoft.com/office/drawing/2014/main" id="{A1C20CF6-6E74-8EE9-4E4C-1983042CA18E}"/>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gn="l" defTabSz="1016000">
              <a:defRPr sz="4500" b="1" cap="all">
                <a:solidFill>
                  <a:srgbClr val="C50E1F"/>
                </a:solidFill>
                <a:uFill>
                  <a:solidFill>
                    <a:srgbClr val="C50E1F"/>
                  </a:solidFill>
                </a:uFill>
              </a:defRPr>
            </a:pPr>
            <a:r>
              <a:rPr lang="en-US" sz="5400" dirty="0"/>
              <a:t>Future Research</a:t>
            </a:r>
          </a:p>
        </p:txBody>
      </p:sp>
      <p:pic>
        <p:nvPicPr>
          <p:cNvPr id="4" name="Bild" descr="Bild">
            <a:extLst>
              <a:ext uri="{FF2B5EF4-FFF2-40B4-BE49-F238E27FC236}">
                <a16:creationId xmlns:a16="http://schemas.microsoft.com/office/drawing/2014/main" id="{6061D81A-2A58-7D96-F9C2-B24429DE17F7}"/>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8BA8310D-A45A-9FC8-9423-12990E7CDC32}"/>
              </a:ext>
            </a:extLst>
          </p:cNvPr>
          <p:cNvSpPr txBox="1"/>
          <p:nvPr/>
        </p:nvSpPr>
        <p:spPr>
          <a:xfrm>
            <a:off x="670356" y="2723316"/>
            <a:ext cx="20471047" cy="7815516"/>
          </a:xfrm>
          <a:prstGeom prst="rect">
            <a:avLst/>
          </a:prstGeom>
          <a:ln w="12700">
            <a:miter lim="400000"/>
          </a:ln>
          <a:extLst>
            <a:ext uri="{C572A759-6A51-4108-AA02-DFA0A04FC94B}">
              <ma14:wrappingTextBoxFlag xmlns:mc="http://schemas.openxmlformats.org/markup-compatibility/2006" xmlns:a14="http://schemas.microsoft.com/office/drawing/2010/main" xmlns:ma14="http://schemas.microsoft.com/office/mac/drawingml/2011/main" xmlns:m="http://schemas.openxmlformats.org/officeDocument/2006/math" xmlns="" val="1"/>
            </a:ext>
          </a:extLst>
        </p:spPr>
        <p:txBody>
          <a:bodyPr lIns="45719" rIns="45719" anchor="t"/>
          <a:lstStyle/>
          <a:p>
            <a:pPr algn="l" defTabSz="457200">
              <a:spcBef>
                <a:spcPts val="300"/>
              </a:spcBef>
              <a:buSzPct val="100000"/>
              <a:defRPr sz="3000"/>
            </a:pPr>
            <a:endParaRPr lang="en-US" sz="4800" b="1" dirty="0">
              <a:solidFill>
                <a:schemeClr val="tx1"/>
              </a:solidFill>
            </a:endParaRPr>
          </a:p>
        </p:txBody>
      </p:sp>
      <p:sp>
        <p:nvSpPr>
          <p:cNvPr id="8" name="Arten von Knoten…">
            <a:extLst>
              <a:ext uri="{FF2B5EF4-FFF2-40B4-BE49-F238E27FC236}">
                <a16:creationId xmlns:a16="http://schemas.microsoft.com/office/drawing/2014/main" id="{9B0D7B41-E393-1D98-4D79-A628C47DA6BC}"/>
              </a:ext>
            </a:extLst>
          </p:cNvPr>
          <p:cNvSpPr txBox="1"/>
          <p:nvPr/>
        </p:nvSpPr>
        <p:spPr>
          <a:xfrm>
            <a:off x="822756" y="2875716"/>
            <a:ext cx="204710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spcBef>
                <a:spcPts val="300"/>
              </a:spcBef>
              <a:buSzPct val="100000"/>
              <a:defRPr sz="3000"/>
            </a:pPr>
            <a:r>
              <a:rPr lang="en-US" sz="4800" b="1" dirty="0">
                <a:solidFill>
                  <a:schemeClr val="tx1"/>
                </a:solidFill>
              </a:rPr>
              <a:t>Investigating </a:t>
            </a:r>
            <a:r>
              <a:rPr lang="en-US" sz="4800" b="1" i="1" dirty="0">
                <a:solidFill>
                  <a:schemeClr val="tx1"/>
                </a:solidFill>
              </a:rPr>
              <a:t>presence </a:t>
            </a:r>
            <a:r>
              <a:rPr lang="en-US" sz="4800" b="1" dirty="0">
                <a:solidFill>
                  <a:schemeClr val="tx1"/>
                </a:solidFill>
              </a:rPr>
              <a:t>of nouns and verbs </a:t>
            </a:r>
            <a:r>
              <a:rPr lang="en-US" sz="4800" b="1" i="1" dirty="0">
                <a:solidFill>
                  <a:schemeClr val="tx1"/>
                </a:solidFill>
              </a:rPr>
              <a:t> </a:t>
            </a:r>
            <a:endParaRPr lang="en-US" sz="4800" b="1" dirty="0">
              <a:solidFill>
                <a:schemeClr val="tx1"/>
              </a:solidFill>
            </a:endParaRPr>
          </a:p>
          <a:p>
            <a:pPr algn="l" defTabSz="457200">
              <a:spcBef>
                <a:spcPts val="300"/>
              </a:spcBef>
              <a:buSzPct val="100000"/>
              <a:defRPr sz="3000"/>
            </a:pPr>
            <a:r>
              <a:rPr lang="en-US" sz="4800" dirty="0">
                <a:solidFill>
                  <a:schemeClr val="tx1"/>
                </a:solidFill>
              </a:rPr>
              <a:t>Using one-hot encodings</a:t>
            </a:r>
          </a:p>
          <a:p>
            <a:pPr algn="l" defTabSz="457200">
              <a:spcBef>
                <a:spcPts val="300"/>
              </a:spcBef>
              <a:buSzPct val="100000"/>
              <a:defRPr sz="3000"/>
            </a:pPr>
            <a:endParaRPr lang="en-US" sz="4800" b="1" dirty="0">
              <a:solidFill>
                <a:schemeClr val="tx1"/>
              </a:solidFill>
            </a:endParaRPr>
          </a:p>
          <a:p>
            <a:pPr algn="l" defTabSz="457200">
              <a:spcBef>
                <a:spcPts val="300"/>
              </a:spcBef>
              <a:buSzPct val="100000"/>
              <a:defRPr sz="3000"/>
            </a:pPr>
            <a:r>
              <a:rPr lang="en-US" sz="4800" b="1" dirty="0">
                <a:solidFill>
                  <a:schemeClr val="tx1"/>
                </a:solidFill>
              </a:rPr>
              <a:t>Using a different dataset</a:t>
            </a:r>
          </a:p>
          <a:p>
            <a:pPr algn="l" defTabSz="457200">
              <a:spcBef>
                <a:spcPts val="300"/>
              </a:spcBef>
              <a:buSzPct val="100000"/>
              <a:defRPr sz="3000"/>
            </a:pPr>
            <a:r>
              <a:rPr lang="en-US" sz="4800" dirty="0">
                <a:solidFill>
                  <a:schemeClr val="tx1"/>
                </a:solidFill>
              </a:rPr>
              <a:t>Other than Moth</a:t>
            </a:r>
          </a:p>
          <a:p>
            <a:pPr algn="l" defTabSz="457200">
              <a:spcBef>
                <a:spcPts val="300"/>
              </a:spcBef>
              <a:buSzPct val="100000"/>
              <a:defRPr sz="3000"/>
            </a:pPr>
            <a:endParaRPr lang="en-US" sz="4800" dirty="0">
              <a:solidFill>
                <a:schemeClr val="tx1"/>
              </a:solidFill>
            </a:endParaRPr>
          </a:p>
          <a:p>
            <a:pPr algn="l" defTabSz="457200">
              <a:spcBef>
                <a:spcPts val="300"/>
              </a:spcBef>
              <a:buSzPct val="100000"/>
              <a:defRPr sz="3000"/>
            </a:pPr>
            <a:r>
              <a:rPr lang="en-US" sz="4800" b="1" dirty="0">
                <a:solidFill>
                  <a:schemeClr val="tx1"/>
                </a:solidFill>
              </a:rPr>
              <a:t>Looking at a different Language</a:t>
            </a:r>
          </a:p>
          <a:p>
            <a:pPr algn="l" defTabSz="457200">
              <a:spcBef>
                <a:spcPts val="300"/>
              </a:spcBef>
              <a:buSzPct val="100000"/>
              <a:defRPr sz="3000"/>
            </a:pPr>
            <a:r>
              <a:rPr lang="en-US" sz="4800" dirty="0">
                <a:solidFill>
                  <a:schemeClr val="tx1"/>
                </a:solidFill>
              </a:rPr>
              <a:t>Other than English, e.g. Chinese</a:t>
            </a:r>
          </a:p>
          <a:p>
            <a:pPr algn="l" defTabSz="457200">
              <a:spcBef>
                <a:spcPts val="300"/>
              </a:spcBef>
              <a:buSzPct val="100000"/>
              <a:defRPr sz="3000"/>
            </a:pPr>
            <a:endParaRPr lang="en-US" sz="4800" dirty="0">
              <a:solidFill>
                <a:schemeClr val="tx1"/>
              </a:solidFill>
            </a:endParaRPr>
          </a:p>
        </p:txBody>
      </p:sp>
    </p:spTree>
    <p:extLst>
      <p:ext uri="{BB962C8B-B14F-4D97-AF65-F5344CB8AC3E}">
        <p14:creationId xmlns:p14="http://schemas.microsoft.com/office/powerpoint/2010/main" val="3436014686"/>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17950E-FE75-829C-7244-96E35735F68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9354F60-1012-2FA9-A46D-DCC9922105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63" y="12690801"/>
            <a:ext cx="699895" cy="638653"/>
          </a:xfrm>
          <a:prstGeom prst="rect">
            <a:avLst/>
          </a:prstGeom>
        </p:spPr>
      </p:pic>
      <p:sp>
        <p:nvSpPr>
          <p:cNvPr id="68" name="Foliennummer">
            <a:extLst>
              <a:ext uri="{FF2B5EF4-FFF2-40B4-BE49-F238E27FC236}">
                <a16:creationId xmlns:a16="http://schemas.microsoft.com/office/drawing/2014/main" id="{D4948962-D2EE-31DF-3039-F660F7E2CFDB}"/>
              </a:ext>
            </a:extLst>
          </p:cNvPr>
          <p:cNvSpPr txBox="1">
            <a:spLocks noGrp="1"/>
          </p:cNvSpPr>
          <p:nvPr>
            <p:ph type="sldNum" sz="quarter" idx="2"/>
          </p:nvPr>
        </p:nvSpPr>
        <p:spPr>
          <a:xfrm>
            <a:off x="107643" y="12748651"/>
            <a:ext cx="589607" cy="54689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45</a:t>
            </a:fld>
            <a:endParaRPr/>
          </a:p>
        </p:txBody>
      </p:sp>
      <p:sp>
        <p:nvSpPr>
          <p:cNvPr id="70" name="5.1 Das Document Object Model…">
            <a:extLst>
              <a:ext uri="{FF2B5EF4-FFF2-40B4-BE49-F238E27FC236}">
                <a16:creationId xmlns:a16="http://schemas.microsoft.com/office/drawing/2014/main" id="{4C8C4845-FB56-FC56-B06C-AE41BABF68CB}"/>
              </a:ext>
            </a:extLst>
          </p:cNvPr>
          <p:cNvSpPr txBox="1">
            <a:spLocks/>
          </p:cNvSpPr>
          <p:nvPr/>
        </p:nvSpPr>
        <p:spPr>
          <a:xfrm>
            <a:off x="779657" y="508000"/>
            <a:ext cx="20471048" cy="1384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pPr algn="l" defTabSz="1016000">
              <a:defRPr sz="4500" b="1" cap="all">
                <a:solidFill>
                  <a:srgbClr val="C50E1F"/>
                </a:solidFill>
                <a:uFill>
                  <a:solidFill>
                    <a:srgbClr val="C50E1F"/>
                  </a:solidFill>
                </a:uFill>
              </a:defRPr>
            </a:pPr>
            <a:r>
              <a:rPr lang="en-US" sz="5400" dirty="0"/>
              <a:t>Future Research</a:t>
            </a:r>
          </a:p>
        </p:txBody>
      </p:sp>
      <p:pic>
        <p:nvPicPr>
          <p:cNvPr id="4" name="Bild" descr="Bild">
            <a:extLst>
              <a:ext uri="{FF2B5EF4-FFF2-40B4-BE49-F238E27FC236}">
                <a16:creationId xmlns:a16="http://schemas.microsoft.com/office/drawing/2014/main" id="{552DAA4D-B8AC-69EC-201A-B6B873242676}"/>
              </a:ext>
            </a:extLst>
          </p:cNvPr>
          <p:cNvPicPr>
            <a:picLocks noChangeAspect="1"/>
          </p:cNvPicPr>
          <p:nvPr/>
        </p:nvPicPr>
        <p:blipFill>
          <a:blip r:embed="rId4"/>
          <a:stretch>
            <a:fillRect/>
          </a:stretch>
        </p:blipFill>
        <p:spPr>
          <a:xfrm>
            <a:off x="21373832" y="508000"/>
            <a:ext cx="2159389" cy="1207459"/>
          </a:xfrm>
          <a:prstGeom prst="rect">
            <a:avLst/>
          </a:prstGeom>
          <a:ln w="12700">
            <a:miter lim="400000"/>
          </a:ln>
        </p:spPr>
      </p:pic>
      <p:sp>
        <p:nvSpPr>
          <p:cNvPr id="2" name="Arten von Knoten…">
            <a:extLst>
              <a:ext uri="{FF2B5EF4-FFF2-40B4-BE49-F238E27FC236}">
                <a16:creationId xmlns:a16="http://schemas.microsoft.com/office/drawing/2014/main" id="{D9EF7337-A168-F89A-4B57-C687CE2B6205}"/>
              </a:ext>
            </a:extLst>
          </p:cNvPr>
          <p:cNvSpPr txBox="1"/>
          <p:nvPr/>
        </p:nvSpPr>
        <p:spPr>
          <a:xfrm>
            <a:off x="670356" y="2723316"/>
            <a:ext cx="20471047" cy="7815516"/>
          </a:xfrm>
          <a:prstGeom prst="rect">
            <a:avLst/>
          </a:prstGeom>
          <a:ln w="12700">
            <a:miter lim="400000"/>
          </a:ln>
          <a:extLst>
            <a:ext uri="{C572A759-6A51-4108-AA02-DFA0A04FC94B}">
              <ma14:wrappingTextBoxFlag xmlns="" xmlns:m="http://schemas.openxmlformats.org/officeDocument/2006/math" xmlns:ma14="http://schemas.microsoft.com/office/mac/drawingml/2011/main" xmlns:a14="http://schemas.microsoft.com/office/drawing/2010/main" xmlns:mc="http://schemas.openxmlformats.org/markup-compatibility/2006" val="1"/>
            </a:ext>
          </a:extLst>
        </p:spPr>
        <p:txBody>
          <a:bodyPr lIns="45719" rIns="45719" anchor="t"/>
          <a:lstStyle/>
          <a:p>
            <a:pPr algn="l" defTabSz="457200">
              <a:spcBef>
                <a:spcPts val="300"/>
              </a:spcBef>
              <a:buSzPct val="100000"/>
              <a:defRPr sz="3000"/>
            </a:pPr>
            <a:endParaRPr lang="en-US" sz="4800" b="1" dirty="0">
              <a:solidFill>
                <a:schemeClr val="tx1"/>
              </a:solidFill>
            </a:endParaRPr>
          </a:p>
        </p:txBody>
      </p:sp>
      <p:sp>
        <p:nvSpPr>
          <p:cNvPr id="8" name="Arten von Knoten…">
            <a:extLst>
              <a:ext uri="{FF2B5EF4-FFF2-40B4-BE49-F238E27FC236}">
                <a16:creationId xmlns:a16="http://schemas.microsoft.com/office/drawing/2014/main" id="{75D99EBC-D1FB-0B64-1BCB-2CEC524EF2F0}"/>
              </a:ext>
            </a:extLst>
          </p:cNvPr>
          <p:cNvSpPr txBox="1"/>
          <p:nvPr/>
        </p:nvSpPr>
        <p:spPr>
          <a:xfrm>
            <a:off x="822756" y="2875716"/>
            <a:ext cx="20471047" cy="7815516"/>
          </a:xfrm>
          <a:prstGeom prst="rect">
            <a:avLst/>
          </a:prstGeom>
          <a:ln w="12700">
            <a:miter lim="400000"/>
          </a:ln>
          <a:extLst>
            <a:ext uri="{C572A759-6A51-4108-AA02-DFA0A04FC94B}">
              <ma14:wrappingTextBoxFlag xmlns:mc="http://schemas.openxmlformats.org/markup-compatibility/2006" xmlns:a14="http://schemas.microsoft.com/office/drawing/2010/main" xmlns:ma14="http://schemas.microsoft.com/office/mac/drawingml/2011/main" xmlns:m="http://schemas.openxmlformats.org/officeDocument/2006/math" xmlns="" val="1"/>
            </a:ext>
          </a:extLst>
        </p:spPr>
        <p:txBody>
          <a:bodyPr lIns="45719" rIns="45719" anchor="t"/>
          <a:lstStyle/>
          <a:p>
            <a:pPr algn="l" defTabSz="457200">
              <a:spcBef>
                <a:spcPts val="300"/>
              </a:spcBef>
              <a:buSzPct val="100000"/>
              <a:defRPr sz="3000"/>
            </a:pPr>
            <a:r>
              <a:rPr lang="en-US" sz="4800" b="1" dirty="0">
                <a:solidFill>
                  <a:schemeClr val="tx1"/>
                </a:solidFill>
              </a:rPr>
              <a:t>Investigating </a:t>
            </a:r>
            <a:r>
              <a:rPr lang="en-US" sz="4800" b="1" i="1" dirty="0">
                <a:solidFill>
                  <a:schemeClr val="tx1"/>
                </a:solidFill>
              </a:rPr>
              <a:t>presence </a:t>
            </a:r>
            <a:r>
              <a:rPr lang="en-US" sz="4800" b="1" dirty="0">
                <a:solidFill>
                  <a:schemeClr val="tx1"/>
                </a:solidFill>
              </a:rPr>
              <a:t>of nouns and verbs </a:t>
            </a:r>
            <a:r>
              <a:rPr lang="en-US" sz="4800" b="1" i="1" dirty="0">
                <a:solidFill>
                  <a:schemeClr val="tx1"/>
                </a:solidFill>
              </a:rPr>
              <a:t> </a:t>
            </a:r>
            <a:endParaRPr lang="en-US" sz="4800" b="1" dirty="0">
              <a:solidFill>
                <a:schemeClr val="tx1"/>
              </a:solidFill>
            </a:endParaRPr>
          </a:p>
          <a:p>
            <a:pPr algn="l" defTabSz="457200">
              <a:spcBef>
                <a:spcPts val="300"/>
              </a:spcBef>
              <a:buSzPct val="100000"/>
              <a:defRPr sz="3000"/>
            </a:pPr>
            <a:r>
              <a:rPr lang="en-US" sz="4800" dirty="0">
                <a:solidFill>
                  <a:schemeClr val="tx1"/>
                </a:solidFill>
              </a:rPr>
              <a:t>Using one-hot encodings</a:t>
            </a:r>
          </a:p>
          <a:p>
            <a:pPr algn="l" defTabSz="457200">
              <a:spcBef>
                <a:spcPts val="300"/>
              </a:spcBef>
              <a:buSzPct val="100000"/>
              <a:defRPr sz="3000"/>
            </a:pPr>
            <a:endParaRPr lang="en-US" sz="4800" b="1" dirty="0">
              <a:solidFill>
                <a:schemeClr val="tx1"/>
              </a:solidFill>
            </a:endParaRPr>
          </a:p>
          <a:p>
            <a:pPr algn="l" defTabSz="457200">
              <a:spcBef>
                <a:spcPts val="300"/>
              </a:spcBef>
              <a:buSzPct val="100000"/>
              <a:defRPr sz="3000"/>
            </a:pPr>
            <a:r>
              <a:rPr lang="en-US" sz="4800" b="1" dirty="0">
                <a:solidFill>
                  <a:schemeClr val="tx1"/>
                </a:solidFill>
              </a:rPr>
              <a:t>Using a different dataset</a:t>
            </a:r>
          </a:p>
          <a:p>
            <a:pPr algn="l" defTabSz="457200">
              <a:spcBef>
                <a:spcPts val="300"/>
              </a:spcBef>
              <a:buSzPct val="100000"/>
              <a:defRPr sz="3000"/>
            </a:pPr>
            <a:r>
              <a:rPr lang="en-US" sz="4800" dirty="0">
                <a:solidFill>
                  <a:schemeClr val="tx1"/>
                </a:solidFill>
              </a:rPr>
              <a:t>Other than Moth</a:t>
            </a:r>
          </a:p>
          <a:p>
            <a:pPr algn="l" defTabSz="457200">
              <a:spcBef>
                <a:spcPts val="300"/>
              </a:spcBef>
              <a:buSzPct val="100000"/>
              <a:defRPr sz="3000"/>
            </a:pPr>
            <a:endParaRPr lang="en-US" sz="4800" dirty="0">
              <a:solidFill>
                <a:schemeClr val="tx1"/>
              </a:solidFill>
            </a:endParaRPr>
          </a:p>
          <a:p>
            <a:pPr algn="l" defTabSz="457200">
              <a:spcBef>
                <a:spcPts val="300"/>
              </a:spcBef>
              <a:buSzPct val="100000"/>
              <a:defRPr sz="3000"/>
            </a:pPr>
            <a:r>
              <a:rPr lang="en-US" sz="4800" b="1" dirty="0">
                <a:solidFill>
                  <a:schemeClr val="tx1"/>
                </a:solidFill>
              </a:rPr>
              <a:t>Looking at a different Language</a:t>
            </a:r>
          </a:p>
          <a:p>
            <a:pPr algn="l" defTabSz="457200">
              <a:spcBef>
                <a:spcPts val="300"/>
              </a:spcBef>
              <a:buSzPct val="100000"/>
              <a:defRPr sz="3000"/>
            </a:pPr>
            <a:r>
              <a:rPr lang="en-US" sz="4800" dirty="0">
                <a:solidFill>
                  <a:schemeClr val="tx1"/>
                </a:solidFill>
              </a:rPr>
              <a:t>Other than English, e.g. Chinese</a:t>
            </a:r>
          </a:p>
          <a:p>
            <a:pPr algn="l" defTabSz="457200">
              <a:spcBef>
                <a:spcPts val="300"/>
              </a:spcBef>
              <a:buSzPct val="100000"/>
              <a:defRPr sz="3000"/>
            </a:pPr>
            <a:endParaRPr lang="en-US" sz="4800" dirty="0">
              <a:solidFill>
                <a:schemeClr val="tx1"/>
              </a:solidFill>
            </a:endParaRPr>
          </a:p>
          <a:p>
            <a:pPr algn="l" defTabSz="457200">
              <a:spcBef>
                <a:spcPts val="300"/>
              </a:spcBef>
              <a:buSzPct val="100000"/>
              <a:defRPr sz="3000"/>
            </a:pPr>
            <a:r>
              <a:rPr lang="en-US" sz="4800" b="1" dirty="0">
                <a:solidFill>
                  <a:schemeClr val="tx1"/>
                </a:solidFill>
              </a:rPr>
              <a:t>Cluster Categorization</a:t>
            </a:r>
          </a:p>
          <a:p>
            <a:pPr algn="l" defTabSz="457200">
              <a:spcBef>
                <a:spcPts val="300"/>
              </a:spcBef>
              <a:buSzPct val="100000"/>
              <a:defRPr sz="3000"/>
            </a:pPr>
            <a:r>
              <a:rPr lang="en-US" sz="4800" dirty="0">
                <a:solidFill>
                  <a:schemeClr val="tx1"/>
                </a:solidFill>
              </a:rPr>
              <a:t>Which kind of nouns / verbs in the clusters?</a:t>
            </a:r>
          </a:p>
        </p:txBody>
      </p:sp>
    </p:spTree>
    <p:extLst>
      <p:ext uri="{BB962C8B-B14F-4D97-AF65-F5344CB8AC3E}">
        <p14:creationId xmlns:p14="http://schemas.microsoft.com/office/powerpoint/2010/main" val="2381817981"/>
      </p:ext>
    </p:extLst>
  </p:cSld>
  <p:clrMapOvr>
    <a:masterClrMapping/>
  </p:clrMapOvr>
  <p:transition spd="med"/>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717171"/>
      </a:accent1>
      <a:accent2>
        <a:srgbClr val="177191"/>
      </a:accent2>
      <a:accent3>
        <a:srgbClr val="8F8F8F"/>
      </a:accent3>
      <a:accent4>
        <a:srgbClr val="707070"/>
      </a:accent4>
      <a:accent5>
        <a:srgbClr val="BBBBBB"/>
      </a:accent5>
      <a:accent6>
        <a:srgbClr val="156683"/>
      </a:accent6>
      <a:hlink>
        <a:srgbClr val="0000FF"/>
      </a:hlink>
      <a:folHlink>
        <a:srgbClr val="FF00FF"/>
      </a:folHlink>
    </a:clrScheme>
    <a:fontScheme name="Default">
      <a:majorFont>
        <a:latin typeface="Helvetica"/>
        <a:ea typeface="Helvetica"/>
        <a:cs typeface="Helvetica"/>
      </a:majorFont>
      <a:minorFont>
        <a:latin typeface="Arial"/>
        <a:ea typeface="Arial"/>
        <a:cs typeface="Arial"/>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63500" dist="254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effectLst/>
        <a:sp3d/>
      </a:spPr>
      <a:bodyPr rot="0" spcFirstLastPara="1" vertOverflow="overflow" horzOverflow="overflow" vert="horz" wrap="square" lIns="91439" tIns="91439" rIns="91439" bIns="91439" numCol="1" spcCol="38100" rtlCol="0" anchor="ctr">
        <a:spAutoFit/>
      </a:bodyPr>
      <a:lstStyle>
        <a:defPPr marL="0" marR="0" indent="0" algn="ctr"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63500" dist="254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717171"/>
      </a:accent1>
      <a:accent2>
        <a:srgbClr val="177191"/>
      </a:accent2>
      <a:accent3>
        <a:srgbClr val="8F8F8F"/>
      </a:accent3>
      <a:accent4>
        <a:srgbClr val="707070"/>
      </a:accent4>
      <a:accent5>
        <a:srgbClr val="BBBBBB"/>
      </a:accent5>
      <a:accent6>
        <a:srgbClr val="156683"/>
      </a:accent6>
      <a:hlink>
        <a:srgbClr val="0000FF"/>
      </a:hlink>
      <a:folHlink>
        <a:srgbClr val="FF00FF"/>
      </a:folHlink>
    </a:clrScheme>
    <a:fontScheme name="Default">
      <a:majorFont>
        <a:latin typeface="Helvetica"/>
        <a:ea typeface="Helvetica"/>
        <a:cs typeface="Helvetica"/>
      </a:majorFont>
      <a:minorFont>
        <a:latin typeface="Arial"/>
        <a:ea typeface="Arial"/>
        <a:cs typeface="Arial"/>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63500" dist="254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effectLst/>
        <a:sp3d/>
      </a:spPr>
      <a:bodyPr rot="0" spcFirstLastPara="1" vertOverflow="overflow" horzOverflow="overflow" vert="horz" wrap="square" lIns="91439" tIns="91439" rIns="91439" bIns="91439" numCol="1" spcCol="38100" rtlCol="0" anchor="ctr">
        <a:spAutoFit/>
      </a:bodyPr>
      <a:lstStyle>
        <a:defPPr marL="0" marR="0" indent="0" algn="ctr"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63500" dist="254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17809</TotalTime>
  <Words>8064</Words>
  <Application>Microsoft Macintosh PowerPoint</Application>
  <PresentationFormat>Custom</PresentationFormat>
  <Paragraphs>682</Paragraphs>
  <Slides>45</Slides>
  <Notes>45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Avenir</vt:lpstr>
      <vt:lpstr>Helvetica</vt:lpstr>
      <vt:lpstr>Default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tandeu89</dc:creator>
  <cp:lastModifiedBy>TU-Pseudonym 17669500387007778853472715708</cp:lastModifiedBy>
  <cp:revision>6</cp:revision>
  <cp:lastPrinted>2026-04-24T19:06:12Z</cp:lastPrinted>
  <dcterms:modified xsi:type="dcterms:W3CDTF">2026-04-30T12:37:24Z</dcterms:modified>
</cp:coreProperties>
</file>